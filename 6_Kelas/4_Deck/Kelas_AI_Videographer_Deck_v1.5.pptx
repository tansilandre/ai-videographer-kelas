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Peluang</c:v>
                </c:pt>
              </c:strCache>
            </c:strRef>
          </c:tx>
          <c:spPr>
            <a:solidFill>
              <a:srgbClr val="FF5A1F"/>
            </a:solidFill>
          </c:spPr>
          <c:cat>
            <c:strRef>
              <c:f>Sheet1!$A$2:$A$5</c:f>
              <c:strCache>
                <c:ptCount val="4"/>
                <c:pt idx="0">
                  <c:v>lebih luas</c:v>
                </c:pt>
                <c:pt idx="1">
                  <c:v>lebih murah</c:v>
                </c:pt>
                <c:pt idx="2">
                  <c:v>jauh dari kantor</c:v>
                </c:pt>
                <c:pt idx="3">
                  <c:v>sepi</c:v>
                </c:pt>
              </c:strCache>
            </c:strRef>
          </c:cat>
          <c:val>
            <c:numRef>
              <c:f>Sheet1!$B$2:$B$5</c:f>
              <c:numCache>
                <c:formatCode>General</c:formatCode>
                <c:ptCount val="4"/>
                <c:pt idx="0">
                  <c:v>0.46</c:v>
                </c:pt>
                <c:pt idx="1">
                  <c:v>0.31</c:v>
                </c:pt>
                <c:pt idx="2">
                  <c:v>0.15</c:v>
                </c:pt>
                <c:pt idx="3">
                  <c:v>0.08</c:v>
                </c:pt>
              </c:numCache>
            </c:numRef>
          </c:val>
        </c:ser>
        <c:dLbls>
          <c:numFmt formatCode="0%" sourceLinked="0"/>
          <c:txPr>
            <a:bodyPr/>
            <a:lstStyle/>
            <a:p>
              <a:pPr>
                <a:defRPr sz="2000" b="1">
                  <a:solidFill>
                    <a:srgbClr val="16181D"/>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2000">
                <a:solidFill>
                  <a:srgbClr val="16181D"/>
                </a:solidFill>
              </a:defRPr>
            </a:pPr>
          </a:p>
        </c:txPr>
        <c:crossAx val="-2113994440"/>
        <c:crosses val="autoZero"/>
        <c:auto val="1"/>
        <c:lblAlgn val="ctr"/>
        <c:lblOffset val="100"/>
        <c:noMultiLvlLbl val="0"/>
      </c:catAx>
      <c:valAx>
        <c:axId val="-2113994440"/>
        <c:scaling>
          <c:max val="0.6"/>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Selamat datang. Hari ini kita belajar dua hal: dasar AI, supaya kamu paham alat yang kamu pakai, lalu praktik membuat satu reel properti dari brief sampai video 9:16. Contohnya reel 'Tebak Harga'. Semua gambar di kelas ini dibuat AI dan semua nama fiktif.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Kenalan dulu. Saya Andre Tansil. Delapan tahun lebih saya bekerja di software, business analysis dan product: mulai sebagai developer, lalu memimpin tim engineering, lalu product manager. Sekarang saya Senior Business Analyst di ROOTCLOUD dan memimpin komunitas AICLUB.ID Tangerang Selatan. Alat yang kita pakai hari ini, AI Videographer, saya bangun sendiri untuk membuat reel properti dengan AI.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tiga frame dari reel contoh: hook di detik pertama, petunjuk tentang rumahnya, dan jawaban harga. Di akhir kelas kamu tahu cara membuat semua bagian ini, dan kapan harus berhenti untuk memeriksa.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Kelas ini punya dua bagian. Bagian pertama teori: apa itu AI dan bagaimana cara berpikirnya. Bagian kedua praktik: tujuh tahap membuat reel, dengan contoh nyata.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Sebelum menyentuh alatnya, kita pahami dulu cara kerja AI. Orang yang paham cara berpikir AI menulis prompt yang lebih baik dan tahu kapan harus curiga pada hasilnya.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Program biasa: manusia menulis semua aturannya. AI berbeda: kita tidak menulis aturannya, kita memberi contoh sangat banyak, lalu komputer menemukan polanya sendiri. Karena itu AI bisa membuat hal yang belum pernah ada, tapi juga bisa keliru.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Empat langkah ini berlaku untuk semua model yang kita pakai: teks, gambar, video, suara dan musik. Poin pentingnya: model menyimpan pola, bukan salinan contoh. Itu sebabnya ia bisa kreatif dan juga bisa salah.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bahasa seperti Claude menulis satu kata demi satu kata. Setiap kali, ia memilih lanjutan yang paling mungkin. Angka di grafik hanya ilustrasi. Akibatnya: jawabannya selalu terdengar lancar, bahkan saat salah. Itulah halusinasi. Maka fakta seperti harga, jarak dan nama selalu kita cek.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Kita tidak memakai satu AI, tapi satu tim model. Masing-masing dilatih untuk satu jenis hasil. Agent yang mengatur semuanya adalah model teks. Video paling mahal, jadi selalu paling akhir.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ilustrasi, bukan tangkapan layar model. Model gambar mulai dari bintik acak, lalu dalam banyak langkah membuang noise sampai gambarnya cocok dengan prompt. Ia menggambar yang paling masuk akal. Karena itu detail kecil seperti teks, logo dan jari sering salah: kita tambahkan teks di edit, bukan di gambar.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video membuat urutan gambar, sekitar 30 per detik, yang harus konsisten satu sama lain. Frame pertama dan terakhir yang kita berikan menjadi pegangan. Yang paling sulit: gerakan tubuh, bibir, tangan, dan klip panjang. Maka aturan kita: klip pendek, satu gerakan kamera, frame pertama dari gambar yang sudah disetujui.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adalah model bahasa yang diberi alat: ia bisa membaca file, menjalankan perintah, dan melihat hasilnya. Ia bekerja dalam putaran: rencanakan, kerjakan, periksa, perbaiki. Di kelas ini agent-nya WorkBuddy dengan Expert AI Videographer; ia membaca skill, yaitu file instruksi cara kerja kita. Agent juga bisa salah, jadi gerbang persetujuan tetap di tangan kamu.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Enam prinsip ini dipakai di setiap tahap praktik nanti. Yang paling sering dilupakan pemula: nomor lima. Kalau kamu mengubah tiga hal sekaligus dan hasilnya membaik, kamu tidak tahu mana yang berhasil.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yang baik menjawab pertanyaan yang biasanya dijawab juru kamera: untuk apa, apa yang terlihat, dari mana kita melihat, cahayanya dari mana, dan apa yang tidak boleh ada. Prompt ditulis dalam bahasa Inggris karena model paling paham bahasa itu; teks dan dialog di video tetap bahasa Indonesia.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kelemahan AI di tabel ini kami alami sendiri saat membuat reel contoh. Kolom kanan adalah cara alur kerja kita menghindarinya. Kamu akan melihat semuanya lagi di bagian praktik.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Etika bukan tambahan, tapi bagian dari pekerjaan. Presenter kita, Rani, dibuat AI dari nol, bukan dari foto orang asli. Untuk produk yang dijual, kita tidak boleh membuat penonton salah paham tentang apa yang mereka beli.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Kalau hanya tiga kalimat yang kamu ingat dari bagian teori, ini dia. Setelah ini kita praktik.</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Sekarang praktik. Kita ikuti reel 'Tebak Harga' dari brief sampai video: tujuh tahap, tiga gerbang.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Kalimat ini yang paling penting di seluruh kelas. Memperbaiki gambar itu murah dan cepat. Memperbaiki video itu mahal dan lambat. Harga dari kie.ai: gambar gpt-image-2 10 kredit, klip Veo 3.1 Lite 8 detik 1080p 35 kredit.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Kamu bicara ke agent dengan bahasa biasa, misalnya: buat reel dari brief ini. Agent menjalankan alat bernama vg. Alat itu yang menjaga uangmu: ia menolak membuat video sebelum kamu setuju.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Otak Expert adalah model yang cepat dan murah. Supaya tidak tersesat, ia tidak menghafal urutan kerja: setiap kali ia menjalankan vg next, yang menulis satu langkah berikutnya. Di gerbang, vg next menyuruhnya berhenti dan bertanya ke kamu.</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Tujuh tahap, selalu urut. Tiga di antaranya gerbang, tempat manusia wajib menyetujui: look, seluruh reel sebagai gambar, dan biaya video. Audio dibuat sebelum animatic, dan video baru di tahap enam.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gerbang adalah klik manusia di halaman review (VG_APPROVAL_MODE=page). Perintah approve dari agent selalu ditolak alat. Ini rem terhadap persetujuan tanpa sengaja. Batas keras tetap di kunci kie.ai dengan batas kredit.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Panduan WorkBuddy memandu pemasangan dalam tiga langkah: AI di WorkBuddy yang memasang sisanya. Laptop Windows atau Mac sama-sama bisa. Angka biaya adalah hitungan nyata reel contoh ini.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Brief klien diubah menjadi urutan beat, lalu satu shot per beat. Reel ini memakai format tebak-harga: janji di detik pertama, tiga petunjuk, penundaan, lalu jawaban. Agent menulisnya ke Shotlist.json dan mengeceknya dengan vg validate.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Reel pertama kami gagal karena setiap shot punya cahaya dan warna sendiri. Sekarang look ditulis sekali: dunia, cahaya, grade, gaya grafis. Lalu dua sampai tiga style frame dibuat dan disetujui. Gambar rencana MRT selalu diberi label ilustrasi rencana.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Untuk presenter, agent membuat potret referensi dan lembar putar dulu. Setiap panel storyboard memakai keduanya sebagai acuan, jadi wajahnya tetap sama. Untuk rumah yang dijual, di proyek nyata kita pakai foto asli klien dan hanya kameranya yang bergerak.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peta waktu reel contoh. Garis putih adalah potongan gambar, biru adalah frasa narasi, abu dan oranye adalah musik: tenang di bawah suara, lalu drop tepat saat harga disebut. vg audio curve mencari titik drop musik supaya bisa diselaraskan. Pilih suara narasi dengan telinga, bukan dengan skor.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Animatic adalah reel lengkap dari gambar diam, dengan caption, grafis, transisi, narasi, musik dan efek. Gratis, dibuat lokal. Kamu menilai reel sebagai penonton. Setiap perbaikan berarti render animatic baru.</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Transisi bukan hiasan. Potong keras hampir di semua tempat. Whip hanya saat lokasi berganti. Flash hanya sekali, di momen paling penting. Kalau semua shot memakai efek, tidak ada yang terasa istimewa.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Prompt video hanya menjelaskan gerakan: satu gerakan kamera, cahaya, suara sekitar, dan apa yang tidak boleh berubah. Orang di klip tidak bicara; suaranya dari narasi. Setiap persetujuan membayar tepat satu take, jadi mulai dari satu klip pilot.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vg edit final menyatukan klip, narasi, musik, efek, caption dan grafis, lalu menyimpan hasilnya di 99_Output. Sebelum dikirim, cek daftar ini. Poin kedua lahir dari bug nyata: animatic kami pernah membeku dua setengah detik tanpa ketahuan.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Setiap aturan di kelas ini lahir dari kesalahan nyata saat membuat reel ini. Versi pertama kami dinilai jelek: cahayanya beda-beda, janjinya tidak ditepati, dan suaranya terdengar ditempel.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Semua bahan ada di repo github.com/tansilandre/ai-videographer-kelas: Panduan WorkBuddy, pelajaran, studi kasus Tebak Harga, dan brief latihan. Kunci API selalu ditempel di halaman setup, tidak pernah di chat.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Kalau hanya satu hal yang diingat: setujui gambarnya dulu, buat suaranya dulu, dan buat gambarnya bergerak paling akhir. Terima kasih.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3.jpg"/><Relationship Id="rId5"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 Id="rId6"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jpg"/><Relationship Id="rId4" Type="http://schemas.openxmlformats.org/officeDocument/2006/relationships/image" Target="../media/image9.jpg"/><Relationship Id="rId5" Type="http://schemas.openxmlformats.org/officeDocument/2006/relationships/image" Target="../media/image10.jpg"/><Relationship Id="rId6"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4.jpg"/><Relationship Id="rId4" Type="http://schemas.openxmlformats.org/officeDocument/2006/relationships/image" Target="../media/image15.jpg"/><Relationship Id="rId5" Type="http://schemas.openxmlformats.org/officeDocument/2006/relationships/image" Target="../media/image1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3.jpg"/><Relationship Id="rId4" Type="http://schemas.openxmlformats.org/officeDocument/2006/relationships/image" Target="../media/image17.jpg"/><Relationship Id="rId5" Type="http://schemas.openxmlformats.org/officeDocument/2006/relationships/image" Target="../media/image1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jpg"/><Relationship Id="rId4" Type="http://schemas.openxmlformats.org/officeDocument/2006/relationships/image" Target="../media/image19.jpg"/><Relationship Id="rId5" Type="http://schemas.openxmlformats.org/officeDocument/2006/relationships/image" Target="../media/image20.jpg"/><Relationship Id="rId6" Type="http://schemas.openxmlformats.org/officeDocument/2006/relationships/image" Target="../media/image21.jpg"/><Relationship Id="rId7" Type="http://schemas.openxmlformats.org/officeDocument/2006/relationships/image" Target="../media/image3.jpg"/><Relationship Id="rId8" Type="http://schemas.openxmlformats.org/officeDocument/2006/relationships/image" Target="../media/image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548640" y="1005840"/>
            <a:ext cx="6949440"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KELAS AI VIDEOGRAPHER</a:t>
            </a:r>
          </a:p>
        </p:txBody>
      </p:sp>
      <p:sp>
        <p:nvSpPr>
          <p:cNvPr id="3" name="TextBox 2"/>
          <p:cNvSpPr txBox="1"/>
          <p:nvPr/>
        </p:nvSpPr>
        <p:spPr>
          <a:xfrm>
            <a:off x="548640" y="1508760"/>
            <a:ext cx="7132320" cy="2377440"/>
          </a:xfrm>
          <a:prstGeom prst="rect">
            <a:avLst/>
          </a:prstGeom>
          <a:noFill/>
        </p:spPr>
        <p:txBody>
          <a:bodyPr wrap="square" lIns="0" rIns="0" tIns="0" bIns="0" anchor="t">
            <a:spAutoFit/>
          </a:bodyPr>
          <a:lstStyle/>
          <a:p>
            <a:pPr algn="l">
              <a:lnSpc>
                <a:spcPct val="95000"/>
              </a:lnSpc>
              <a:spcAft>
                <a:spcPts val="0"/>
              </a:spcAft>
            </a:pPr>
            <a:r>
              <a:rPr sz="6000" b="1">
                <a:solidFill>
                  <a:srgbClr val="FFFFFF"/>
                </a:solidFill>
                <a:latin typeface="Arial"/>
              </a:rPr>
              <a:t>Dari brief ke reel, dengan AI</a:t>
            </a:r>
          </a:p>
        </p:txBody>
      </p:sp>
      <p:sp>
        <p:nvSpPr>
          <p:cNvPr id="4" name="TextBox 3"/>
          <p:cNvSpPr txBox="1"/>
          <p:nvPr/>
        </p:nvSpPr>
        <p:spPr>
          <a:xfrm>
            <a:off x="548640" y="3840480"/>
            <a:ext cx="6766560" cy="1280160"/>
          </a:xfrm>
          <a:prstGeom prst="rect">
            <a:avLst/>
          </a:prstGeom>
          <a:noFill/>
        </p:spPr>
        <p:txBody>
          <a:bodyPr wrap="square" lIns="0" rIns="0" tIns="0" bIns="0" anchor="t">
            <a:spAutoFit/>
          </a:bodyPr>
          <a:lstStyle/>
          <a:p>
            <a:pPr algn="l">
              <a:lnSpc>
                <a:spcPct val="115000"/>
              </a:lnSpc>
              <a:spcAft>
                <a:spcPts val="0"/>
              </a:spcAft>
            </a:pPr>
            <a:r>
              <a:rPr sz="2400" b="0">
                <a:solidFill>
                  <a:srgbClr val="D3CEC5"/>
                </a:solidFill>
                <a:latin typeface="Calibri"/>
              </a:rPr>
              <a:t>Dasar AI dan praktik membuat video properti 9:16, langkah demi langkah, untuk kamu yang baru mulai.</a:t>
            </a:r>
          </a:p>
        </p:txBody>
      </p:sp>
      <p:sp>
        <p:nvSpPr>
          <p:cNvPr id="5" name="TextBox 4"/>
          <p:cNvSpPr txBox="1"/>
          <p:nvPr/>
        </p:nvSpPr>
        <p:spPr>
          <a:xfrm>
            <a:off x="548640" y="5989320"/>
            <a:ext cx="7498079" cy="457200"/>
          </a:xfrm>
          <a:prstGeom prst="rect">
            <a:avLst/>
          </a:prstGeom>
          <a:noFill/>
        </p:spPr>
        <p:txBody>
          <a:bodyPr wrap="square" lIns="0" rIns="0" tIns="0" bIns="0" anchor="t">
            <a:spAutoFit/>
          </a:bodyPr>
          <a:lstStyle/>
          <a:p>
            <a:pPr algn="l">
              <a:lnSpc>
                <a:spcPct val="112000"/>
              </a:lnSpc>
              <a:spcAft>
                <a:spcPts val="0"/>
              </a:spcAft>
            </a:pPr>
            <a:r>
              <a:rPr sz="1600" b="0">
                <a:solidFill>
                  <a:srgbClr val="D3CEC5"/>
                </a:solidFill>
                <a:latin typeface="Calibri"/>
              </a:rPr>
              <a:t>Contoh: reel ‘Tebak Harga’ · nama fiktif, semua gambar dibuat AI</a:t>
            </a:r>
          </a:p>
        </p:txBody>
      </p:sp>
      <p:pic>
        <p:nvPicPr>
          <p:cNvPr id="6" name="Picture 5" descr="Frame_hook.jpg"/>
          <p:cNvPicPr>
            <a:picLocks noChangeAspect="1"/>
          </p:cNvPicPr>
          <p:nvPr/>
        </p:nvPicPr>
        <p:blipFill>
          <a:blip r:embed="rId3"/>
          <a:srcRect/>
          <a:stretch>
            <a:fillRect/>
          </a:stretch>
        </p:blipFill>
        <p:spPr>
          <a:xfrm>
            <a:off x="8296351" y="548640"/>
            <a:ext cx="3343275" cy="5943600"/>
          </a:xfrm>
          <a:prstGeom prst="roundRect">
            <a:avLst>
              <a:gd name="adj" fmla="val 7000"/>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PENGAJAR</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Kenalan dulu</a:t>
            </a:r>
          </a:p>
        </p:txBody>
      </p:sp>
      <p:pic>
        <p:nvPicPr>
          <p:cNvPr id="5" name="Picture 4" descr="Andre_Tansil.jpg"/>
          <p:cNvPicPr>
            <a:picLocks noChangeAspect="1"/>
          </p:cNvPicPr>
          <p:nvPr/>
        </p:nvPicPr>
        <p:blipFill>
          <a:blip r:embed="rId3"/>
          <a:srcRect l="8586" r="8586"/>
          <a:stretch>
            <a:fillRect/>
          </a:stretch>
        </p:blipFill>
        <p:spPr>
          <a:xfrm>
            <a:off x="548640" y="1783080"/>
            <a:ext cx="3749039" cy="4526280"/>
          </a:xfrm>
          <a:prstGeom prst="roundRect">
            <a:avLst>
              <a:gd name="adj" fmla="val 6000"/>
            </a:avLst>
          </a:prstGeom>
        </p:spPr>
      </p:pic>
      <p:sp>
        <p:nvSpPr>
          <p:cNvPr id="6" name="TextBox 5"/>
          <p:cNvSpPr txBox="1"/>
          <p:nvPr/>
        </p:nvSpPr>
        <p:spPr>
          <a:xfrm>
            <a:off x="4846320" y="1783080"/>
            <a:ext cx="6766560" cy="731520"/>
          </a:xfrm>
          <a:prstGeom prst="rect">
            <a:avLst/>
          </a:prstGeom>
          <a:noFill/>
        </p:spPr>
        <p:txBody>
          <a:bodyPr wrap="square" lIns="0" rIns="0" tIns="0" bIns="0" anchor="t">
            <a:spAutoFit/>
          </a:bodyPr>
          <a:lstStyle/>
          <a:p>
            <a:pPr algn="l">
              <a:lnSpc>
                <a:spcPct val="112000"/>
              </a:lnSpc>
              <a:spcAft>
                <a:spcPts val="0"/>
              </a:spcAft>
            </a:pPr>
            <a:r>
              <a:rPr sz="4000" b="1">
                <a:solidFill>
                  <a:srgbClr val="16181D"/>
                </a:solidFill>
                <a:latin typeface="Arial"/>
              </a:rPr>
              <a:t>Andre Tansil</a:t>
            </a:r>
          </a:p>
        </p:txBody>
      </p:sp>
      <p:sp>
        <p:nvSpPr>
          <p:cNvPr id="7" name="TextBox 6"/>
          <p:cNvSpPr txBox="1"/>
          <p:nvPr/>
        </p:nvSpPr>
        <p:spPr>
          <a:xfrm>
            <a:off x="4846320" y="2560320"/>
            <a:ext cx="6766560" cy="457200"/>
          </a:xfrm>
          <a:prstGeom prst="rect">
            <a:avLst/>
          </a:prstGeom>
          <a:noFill/>
        </p:spPr>
        <p:txBody>
          <a:bodyPr wrap="square" lIns="0" rIns="0" tIns="0" bIns="0" anchor="t">
            <a:spAutoFit/>
          </a:bodyPr>
          <a:lstStyle/>
          <a:p>
            <a:pPr algn="l">
              <a:lnSpc>
                <a:spcPct val="112000"/>
              </a:lnSpc>
              <a:spcAft>
                <a:spcPts val="0"/>
              </a:spcAft>
            </a:pPr>
            <a:r>
              <a:rPr sz="2200" b="1">
                <a:solidFill>
                  <a:srgbClr val="C2410C"/>
                </a:solidFill>
                <a:latin typeface="Calibri"/>
              </a:rPr>
              <a:t>AI Specialist · AI Automation Builder</a:t>
            </a:r>
          </a:p>
        </p:txBody>
      </p:sp>
      <p:sp>
        <p:nvSpPr>
          <p:cNvPr id="8" name="TextBox 7"/>
          <p:cNvSpPr txBox="1"/>
          <p:nvPr/>
        </p:nvSpPr>
        <p:spPr>
          <a:xfrm>
            <a:off x="4846320" y="3108960"/>
            <a:ext cx="6766560" cy="2743200"/>
          </a:xfrm>
          <a:prstGeom prst="rect">
            <a:avLst/>
          </a:prstGeom>
          <a:noFill/>
        </p:spPr>
        <p:txBody>
          <a:bodyPr wrap="square" lIns="0" rIns="0" tIns="0" bIns="0" anchor="t">
            <a:spAutoFit/>
          </a:bodyPr>
          <a:lstStyle/>
          <a:p>
            <a:pPr algn="l" marL="310896" indent="-310896">
              <a:lnSpc>
                <a:spcPct val="112000"/>
              </a:lnSpc>
              <a:spcAft>
                <a:spcPts val="600"/>
              </a:spcAft>
              <a:buFont typeface="Arial"/>
              <a:buChar char="•"/>
            </a:pPr>
            <a:r>
              <a:rPr sz="1900" b="0">
                <a:solidFill>
                  <a:srgbClr val="3D424B"/>
                </a:solidFill>
                <a:latin typeface="Calibri"/>
              </a:rPr>
              <a:t>8+ tahun di software, business analysis dan product: dari developer sampai product manager</a:t>
            </a:r>
          </a:p>
          <a:p>
            <a:pPr algn="l" marL="310896" indent="-310896">
              <a:lnSpc>
                <a:spcPct val="112000"/>
              </a:lnSpc>
              <a:spcAft>
                <a:spcPts val="600"/>
              </a:spcAft>
              <a:buFont typeface="Arial"/>
              <a:buChar char="•"/>
            </a:pPr>
            <a:r>
              <a:rPr sz="1900" b="0">
                <a:solidFill>
                  <a:srgbClr val="3D424B"/>
                </a:solidFill>
                <a:latin typeface="Calibri"/>
              </a:rPr>
              <a:t>Senior Business Analyst di </a:t>
            </a:r>
            <a:r>
              <a:rPr sz="1900" b="1">
                <a:solidFill>
                  <a:srgbClr val="3D424B"/>
                </a:solidFill>
                <a:latin typeface="Calibri"/>
              </a:rPr>
              <a:t>ROOTCLOUD</a:t>
            </a:r>
          </a:p>
          <a:p>
            <a:pPr algn="l" marL="310896" indent="-310896">
              <a:lnSpc>
                <a:spcPct val="112000"/>
              </a:lnSpc>
              <a:spcAft>
                <a:spcPts val="600"/>
              </a:spcAft>
              <a:buFont typeface="Arial"/>
              <a:buChar char="•"/>
            </a:pPr>
            <a:r>
              <a:rPr sz="1900" b="0">
                <a:solidFill>
                  <a:srgbClr val="3D424B"/>
                </a:solidFill>
                <a:latin typeface="Calibri"/>
              </a:rPr>
              <a:t>Teknik Telekomunikasi </a:t>
            </a:r>
            <a:r>
              <a:rPr sz="1900" b="1">
                <a:solidFill>
                  <a:srgbClr val="3D424B"/>
                </a:solidFill>
                <a:latin typeface="Calibri"/>
              </a:rPr>
              <a:t>ITB</a:t>
            </a:r>
            <a:r>
              <a:rPr sz="1900" b="0">
                <a:solidFill>
                  <a:srgbClr val="3D424B"/>
                </a:solidFill>
                <a:latin typeface="Calibri"/>
              </a:rPr>
              <a:t>, S2 di </a:t>
            </a:r>
            <a:r>
              <a:rPr sz="1900" b="1">
                <a:solidFill>
                  <a:srgbClr val="3D424B"/>
                </a:solidFill>
                <a:latin typeface="Calibri"/>
              </a:rPr>
              <a:t>SeoulTech</a:t>
            </a:r>
            <a:r>
              <a:rPr sz="1900" b="0">
                <a:solidFill>
                  <a:srgbClr val="3D424B"/>
                </a:solidFill>
                <a:latin typeface="Calibri"/>
              </a:rPr>
              <a:t> Korea: riset machine learning</a:t>
            </a:r>
          </a:p>
          <a:p>
            <a:pPr algn="l" marL="310896" indent="-310896">
              <a:lnSpc>
                <a:spcPct val="112000"/>
              </a:lnSpc>
              <a:spcAft>
                <a:spcPts val="600"/>
              </a:spcAft>
              <a:buFont typeface="Arial"/>
              <a:buChar char="•"/>
            </a:pPr>
            <a:r>
              <a:rPr sz="1900" b="0">
                <a:solidFill>
                  <a:srgbClr val="3D424B"/>
                </a:solidFill>
                <a:latin typeface="Calibri"/>
              </a:rPr>
              <a:t>Community Lead </a:t>
            </a:r>
            <a:r>
              <a:rPr sz="1900" b="1">
                <a:solidFill>
                  <a:srgbClr val="3D424B"/>
                </a:solidFill>
                <a:latin typeface="Calibri"/>
              </a:rPr>
              <a:t>AICLUB.ID</a:t>
            </a:r>
            <a:r>
              <a:rPr sz="1900" b="0">
                <a:solidFill>
                  <a:srgbClr val="3D424B"/>
                </a:solidFill>
                <a:latin typeface="Calibri"/>
              </a:rPr>
              <a:t> Tangerang Selatan</a:t>
            </a:r>
          </a:p>
          <a:p>
            <a:pPr algn="l" marL="310896" indent="-310896">
              <a:lnSpc>
                <a:spcPct val="112000"/>
              </a:lnSpc>
              <a:spcAft>
                <a:spcPts val="600"/>
              </a:spcAft>
              <a:buFont typeface="Arial"/>
              <a:buChar char="•"/>
            </a:pPr>
            <a:r>
              <a:rPr sz="1900" b="0">
                <a:solidFill>
                  <a:srgbClr val="3D424B"/>
                </a:solidFill>
                <a:latin typeface="Calibri"/>
              </a:rPr>
              <a:t>Pembuat </a:t>
            </a:r>
            <a:r>
              <a:rPr sz="1900" b="1">
                <a:solidFill>
                  <a:srgbClr val="3D424B"/>
                </a:solidFill>
                <a:latin typeface="Calibri"/>
              </a:rPr>
              <a:t>AI Videographer</a:t>
            </a:r>
            <a:r>
              <a:rPr sz="1900" b="0">
                <a:solidFill>
                  <a:srgbClr val="3D424B"/>
                </a:solidFill>
                <a:latin typeface="Calibri"/>
              </a:rPr>
              <a:t>, alat yang kita pakai hari ini</a:t>
            </a:r>
          </a:p>
        </p:txBody>
      </p:sp>
      <p:sp>
        <p:nvSpPr>
          <p:cNvPr id="9" name="TextBox 8"/>
          <p:cNvSpPr txBox="1"/>
          <p:nvPr/>
        </p:nvSpPr>
        <p:spPr>
          <a:xfrm>
            <a:off x="4846320" y="6016752"/>
            <a:ext cx="676656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linkedin.com/in/andretansil  ·  Instagram @andretansil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a:t>
            </a:r>
          </a:p>
        </p:txBody>
      </p:sp>
      <p:sp>
        <p:nvSpPr>
          <p:cNvPr id="3" name="TextBox 2"/>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Yang akan kamu buat</a:t>
            </a:r>
          </a:p>
        </p:txBody>
      </p:sp>
      <p:pic>
        <p:nvPicPr>
          <p:cNvPr id="4" name="Picture 3" descr="Frame_hook.jpg"/>
          <p:cNvPicPr>
            <a:picLocks noChangeAspect="1"/>
          </p:cNvPicPr>
          <p:nvPr/>
        </p:nvPicPr>
        <p:blipFill>
          <a:blip r:embed="rId3"/>
          <a:srcRect/>
          <a:stretch>
            <a:fillRect/>
          </a:stretch>
        </p:blipFill>
        <p:spPr>
          <a:xfrm>
            <a:off x="548640" y="1783080"/>
            <a:ext cx="2443162" cy="4343400"/>
          </a:xfrm>
          <a:prstGeom prst="roundRect">
            <a:avLst>
              <a:gd name="adj" fmla="val 7000"/>
            </a:avLst>
          </a:prstGeom>
        </p:spPr>
      </p:pic>
      <p:pic>
        <p:nvPicPr>
          <p:cNvPr id="5" name="Picture 4" descr="Frame_petunjuk3.jpg"/>
          <p:cNvPicPr>
            <a:picLocks noChangeAspect="1"/>
          </p:cNvPicPr>
          <p:nvPr/>
        </p:nvPicPr>
        <p:blipFill>
          <a:blip r:embed="rId4"/>
          <a:srcRect/>
          <a:stretch>
            <a:fillRect/>
          </a:stretch>
        </p:blipFill>
        <p:spPr>
          <a:xfrm>
            <a:off x="3154680" y="1783080"/>
            <a:ext cx="2443162" cy="4343400"/>
          </a:xfrm>
          <a:prstGeom prst="roundRect">
            <a:avLst>
              <a:gd name="adj" fmla="val 7000"/>
            </a:avLst>
          </a:prstGeom>
        </p:spPr>
      </p:pic>
      <p:pic>
        <p:nvPicPr>
          <p:cNvPr id="6" name="Picture 5" descr="Frame_harga.jpg"/>
          <p:cNvPicPr>
            <a:picLocks noChangeAspect="1"/>
          </p:cNvPicPr>
          <p:nvPr/>
        </p:nvPicPr>
        <p:blipFill>
          <a:blip r:embed="rId5"/>
          <a:srcRect/>
          <a:stretch>
            <a:fillRect/>
          </a:stretch>
        </p:blipFill>
        <p:spPr>
          <a:xfrm>
            <a:off x="5760720" y="1783080"/>
            <a:ext cx="2443162" cy="4343400"/>
          </a:xfrm>
          <a:prstGeom prst="roundRect">
            <a:avLst>
              <a:gd name="adj" fmla="val 7000"/>
            </a:avLst>
          </a:prstGeom>
        </p:spPr>
      </p:pic>
      <p:sp>
        <p:nvSpPr>
          <p:cNvPr id="7" name="TextBox 6"/>
          <p:cNvSpPr txBox="1"/>
          <p:nvPr/>
        </p:nvSpPr>
        <p:spPr>
          <a:xfrm>
            <a:off x="8503920" y="2011680"/>
            <a:ext cx="3154680" cy="1097280"/>
          </a:xfrm>
          <a:prstGeom prst="rect">
            <a:avLst/>
          </a:prstGeom>
          <a:noFill/>
        </p:spPr>
        <p:txBody>
          <a:bodyPr wrap="square" lIns="0" rIns="0" tIns="0" bIns="0" anchor="t">
            <a:spAutoFit/>
          </a:bodyPr>
          <a:lstStyle/>
          <a:p>
            <a:pPr algn="l">
              <a:lnSpc>
                <a:spcPct val="100000"/>
              </a:lnSpc>
              <a:spcAft>
                <a:spcPts val="0"/>
              </a:spcAft>
            </a:pPr>
            <a:r>
              <a:rPr sz="2800" b="1">
                <a:solidFill>
                  <a:srgbClr val="16181D"/>
                </a:solidFill>
                <a:latin typeface="Arial"/>
              </a:rPr>
              <a:t>Reel 9:16, sekitar 28 detik</a:t>
            </a:r>
          </a:p>
        </p:txBody>
      </p:sp>
      <p:sp>
        <p:nvSpPr>
          <p:cNvPr id="8" name="TextBox 7"/>
          <p:cNvSpPr txBox="1"/>
          <p:nvPr/>
        </p:nvSpPr>
        <p:spPr>
          <a:xfrm>
            <a:off x="8503920" y="3246120"/>
            <a:ext cx="3154680" cy="2743200"/>
          </a:xfrm>
          <a:prstGeom prst="rect">
            <a:avLst/>
          </a:prstGeom>
          <a:noFill/>
        </p:spPr>
        <p:txBody>
          <a:bodyPr wrap="square" lIns="0" rIns="0" tIns="0" bIns="0" anchor="t">
            <a:spAutoFit/>
          </a:bodyPr>
          <a:lstStyle/>
          <a:p>
            <a:pPr algn="l" marL="310896" indent="-310896">
              <a:lnSpc>
                <a:spcPct val="112000"/>
              </a:lnSpc>
              <a:spcAft>
                <a:spcPts val="1000"/>
              </a:spcAft>
              <a:buFont typeface="Arial"/>
              <a:buChar char="•"/>
            </a:pPr>
            <a:r>
              <a:rPr sz="2200" b="0">
                <a:solidFill>
                  <a:srgbClr val="3D424B"/>
                </a:solidFill>
                <a:latin typeface="Calibri"/>
              </a:rPr>
              <a:t>Narasi dan musik</a:t>
            </a:r>
          </a:p>
          <a:p>
            <a:pPr algn="l" marL="310896" indent="-310896">
              <a:lnSpc>
                <a:spcPct val="112000"/>
              </a:lnSpc>
              <a:spcAft>
                <a:spcPts val="1000"/>
              </a:spcAft>
              <a:buFont typeface="Arial"/>
              <a:buChar char="•"/>
            </a:pPr>
            <a:r>
              <a:rPr sz="2200" b="0">
                <a:solidFill>
                  <a:srgbClr val="3D424B"/>
                </a:solidFill>
                <a:latin typeface="Calibri"/>
              </a:rPr>
              <a:t>Caption yang menyala per kata</a:t>
            </a:r>
          </a:p>
          <a:p>
            <a:pPr algn="l" marL="310896" indent="-310896">
              <a:lnSpc>
                <a:spcPct val="112000"/>
              </a:lnSpc>
              <a:spcAft>
                <a:spcPts val="1000"/>
              </a:spcAft>
              <a:buFont typeface="Arial"/>
              <a:buChar char="•"/>
            </a:pPr>
            <a:r>
              <a:rPr sz="2200" b="0">
                <a:solidFill>
                  <a:srgbClr val="3D424B"/>
                </a:solidFill>
                <a:latin typeface="Calibri"/>
              </a:rPr>
              <a:t>Judul, peta dan transisi</a:t>
            </a:r>
          </a:p>
          <a:p>
            <a:pPr algn="l" marL="310896" indent="-310896">
              <a:lnSpc>
                <a:spcPct val="112000"/>
              </a:lnSpc>
              <a:spcAft>
                <a:spcPts val="1000"/>
              </a:spcAft>
              <a:buFont typeface="Arial"/>
              <a:buChar char="•"/>
            </a:pPr>
            <a:r>
              <a:rPr sz="2200" b="0">
                <a:solidFill>
                  <a:srgbClr val="3D424B"/>
                </a:solidFill>
                <a:latin typeface="Calibri"/>
              </a:rPr>
              <a:t>Klip AI yang bergerak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4</a:t>
            </a:r>
          </a:p>
        </p:txBody>
      </p:sp>
      <p:sp>
        <p:nvSpPr>
          <p:cNvPr id="3" name="TextBox 2"/>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Dua bagian hari ini</a:t>
            </a:r>
          </a:p>
        </p:txBody>
      </p:sp>
      <p:sp>
        <p:nvSpPr>
          <p:cNvPr id="4" name="Rounded Rectangle 3"/>
          <p:cNvSpPr/>
          <p:nvPr/>
        </p:nvSpPr>
        <p:spPr>
          <a:xfrm>
            <a:off x="548640" y="1783080"/>
            <a:ext cx="5440680" cy="452628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2103120"/>
            <a:ext cx="777240" cy="7772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200" b="1">
                <a:solidFill>
                  <a:srgbClr val="16181D"/>
                </a:solidFill>
                <a:latin typeface="Arial"/>
              </a:rPr>
              <a:t>1</a:t>
            </a:r>
          </a:p>
        </p:txBody>
      </p:sp>
      <p:sp>
        <p:nvSpPr>
          <p:cNvPr id="6" name="TextBox 5"/>
          <p:cNvSpPr txBox="1"/>
          <p:nvPr/>
        </p:nvSpPr>
        <p:spPr>
          <a:xfrm>
            <a:off x="1874519" y="2212848"/>
            <a:ext cx="3840480" cy="640080"/>
          </a:xfrm>
          <a:prstGeom prst="rect">
            <a:avLst/>
          </a:prstGeom>
          <a:noFill/>
        </p:spPr>
        <p:txBody>
          <a:bodyPr wrap="square" lIns="0" rIns="0" tIns="0" bIns="0" anchor="t">
            <a:spAutoFit/>
          </a:bodyPr>
          <a:lstStyle/>
          <a:p>
            <a:pPr algn="l">
              <a:lnSpc>
                <a:spcPct val="112000"/>
              </a:lnSpc>
              <a:spcAft>
                <a:spcPts val="0"/>
              </a:spcAft>
            </a:pPr>
            <a:r>
              <a:rPr sz="3200" b="1">
                <a:solidFill>
                  <a:srgbClr val="16181D"/>
                </a:solidFill>
                <a:latin typeface="Arial"/>
              </a:rPr>
              <a:t>Dasar AI</a:t>
            </a:r>
          </a:p>
        </p:txBody>
      </p:sp>
      <p:sp>
        <p:nvSpPr>
          <p:cNvPr id="7" name="TextBox 6"/>
          <p:cNvSpPr txBox="1"/>
          <p:nvPr/>
        </p:nvSpPr>
        <p:spPr>
          <a:xfrm>
            <a:off x="960120" y="3200400"/>
            <a:ext cx="4663440" cy="2926080"/>
          </a:xfrm>
          <a:prstGeom prst="rect">
            <a:avLst/>
          </a:prstGeom>
          <a:noFill/>
        </p:spPr>
        <p:txBody>
          <a:bodyPr wrap="square" lIns="0" rIns="0" tIns="0" bIns="0" anchor="t">
            <a:spAutoFit/>
          </a:bodyPr>
          <a:lstStyle/>
          <a:p>
            <a:pPr algn="l" marL="310896" indent="-310896">
              <a:lnSpc>
                <a:spcPct val="112000"/>
              </a:lnSpc>
              <a:spcAft>
                <a:spcPts val="1000"/>
              </a:spcAft>
              <a:buFont typeface="Arial"/>
              <a:buChar char="•"/>
            </a:pPr>
            <a:r>
              <a:rPr sz="2200" b="0">
                <a:solidFill>
                  <a:srgbClr val="3D424B"/>
                </a:solidFill>
                <a:latin typeface="Calibri"/>
              </a:rPr>
              <a:t>Apa itu AI, dan cara ia belajar</a:t>
            </a:r>
          </a:p>
          <a:p>
            <a:pPr algn="l" marL="310896" indent="-310896">
              <a:lnSpc>
                <a:spcPct val="112000"/>
              </a:lnSpc>
              <a:spcAft>
                <a:spcPts val="1000"/>
              </a:spcAft>
              <a:buFont typeface="Arial"/>
              <a:buChar char="•"/>
            </a:pPr>
            <a:r>
              <a:rPr sz="2200" b="0">
                <a:solidFill>
                  <a:srgbClr val="3D424B"/>
                </a:solidFill>
                <a:latin typeface="Calibri"/>
              </a:rPr>
              <a:t>Kenapa AI menebak, bukan tahu</a:t>
            </a:r>
          </a:p>
          <a:p>
            <a:pPr algn="l" marL="310896" indent="-310896">
              <a:lnSpc>
                <a:spcPct val="112000"/>
              </a:lnSpc>
              <a:spcAft>
                <a:spcPts val="1000"/>
              </a:spcAft>
              <a:buFont typeface="Arial"/>
              <a:buChar char="•"/>
            </a:pPr>
            <a:r>
              <a:rPr sz="2200" b="0">
                <a:solidFill>
                  <a:srgbClr val="3D424B"/>
                </a:solidFill>
                <a:latin typeface="Calibri"/>
              </a:rPr>
              <a:t>Model gambar, video dan suara</a:t>
            </a:r>
          </a:p>
          <a:p>
            <a:pPr algn="l" marL="310896" indent="-310896">
              <a:lnSpc>
                <a:spcPct val="112000"/>
              </a:lnSpc>
              <a:spcAft>
                <a:spcPts val="1000"/>
              </a:spcAft>
              <a:buFont typeface="Arial"/>
              <a:buChar char="•"/>
            </a:pPr>
            <a:r>
              <a:rPr sz="2200" b="0">
                <a:solidFill>
                  <a:srgbClr val="3D424B"/>
                </a:solidFill>
                <a:latin typeface="Calibri"/>
              </a:rPr>
              <a:t>Agent AI</a:t>
            </a:r>
          </a:p>
          <a:p>
            <a:pPr algn="l" marL="310896" indent="-310896">
              <a:lnSpc>
                <a:spcPct val="112000"/>
              </a:lnSpc>
              <a:spcAft>
                <a:spcPts val="1000"/>
              </a:spcAft>
              <a:buFont typeface="Arial"/>
              <a:buChar char="•"/>
            </a:pPr>
            <a:r>
              <a:rPr sz="2200" b="0">
                <a:solidFill>
                  <a:srgbClr val="3D424B"/>
                </a:solidFill>
                <a:latin typeface="Calibri"/>
              </a:rPr>
              <a:t>Cara berpikir, prompt, batas dan etika</a:t>
            </a:r>
          </a:p>
        </p:txBody>
      </p:sp>
      <p:sp>
        <p:nvSpPr>
          <p:cNvPr id="8" name="Rounded Rectangle 7"/>
          <p:cNvSpPr/>
          <p:nvPr/>
        </p:nvSpPr>
        <p:spPr>
          <a:xfrm>
            <a:off x="6172200" y="1783080"/>
            <a:ext cx="5440680" cy="452628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37960" y="2103120"/>
            <a:ext cx="777240" cy="7772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200" b="1">
                <a:solidFill>
                  <a:srgbClr val="16181D"/>
                </a:solidFill>
                <a:latin typeface="Arial"/>
              </a:rPr>
              <a:t>2</a:t>
            </a:r>
          </a:p>
        </p:txBody>
      </p:sp>
      <p:sp>
        <p:nvSpPr>
          <p:cNvPr id="10" name="TextBox 9"/>
          <p:cNvSpPr txBox="1"/>
          <p:nvPr/>
        </p:nvSpPr>
        <p:spPr>
          <a:xfrm>
            <a:off x="7498079" y="2212848"/>
            <a:ext cx="3840480" cy="640080"/>
          </a:xfrm>
          <a:prstGeom prst="rect">
            <a:avLst/>
          </a:prstGeom>
          <a:noFill/>
        </p:spPr>
        <p:txBody>
          <a:bodyPr wrap="square" lIns="0" rIns="0" tIns="0" bIns="0" anchor="t">
            <a:spAutoFit/>
          </a:bodyPr>
          <a:lstStyle/>
          <a:p>
            <a:pPr algn="l">
              <a:lnSpc>
                <a:spcPct val="112000"/>
              </a:lnSpc>
              <a:spcAft>
                <a:spcPts val="0"/>
              </a:spcAft>
            </a:pPr>
            <a:r>
              <a:rPr sz="3200" b="1">
                <a:solidFill>
                  <a:srgbClr val="16181D"/>
                </a:solidFill>
                <a:latin typeface="Arial"/>
              </a:rPr>
              <a:t>Praktik</a:t>
            </a:r>
          </a:p>
        </p:txBody>
      </p:sp>
      <p:sp>
        <p:nvSpPr>
          <p:cNvPr id="11" name="TextBox 10"/>
          <p:cNvSpPr txBox="1"/>
          <p:nvPr/>
        </p:nvSpPr>
        <p:spPr>
          <a:xfrm>
            <a:off x="6583680" y="3200400"/>
            <a:ext cx="4663440" cy="2926080"/>
          </a:xfrm>
          <a:prstGeom prst="rect">
            <a:avLst/>
          </a:prstGeom>
          <a:noFill/>
        </p:spPr>
        <p:txBody>
          <a:bodyPr wrap="square" lIns="0" rIns="0" tIns="0" bIns="0" anchor="t">
            <a:spAutoFit/>
          </a:bodyPr>
          <a:lstStyle/>
          <a:p>
            <a:pPr algn="l" marL="310896" indent="-310896">
              <a:lnSpc>
                <a:spcPct val="112000"/>
              </a:lnSpc>
              <a:spcAft>
                <a:spcPts val="1000"/>
              </a:spcAft>
              <a:buFont typeface="Arial"/>
              <a:buChar char="•"/>
            </a:pPr>
            <a:r>
              <a:rPr sz="2200" b="0">
                <a:solidFill>
                  <a:srgbClr val="3D424B"/>
                </a:solidFill>
                <a:latin typeface="Calibri"/>
              </a:rPr>
              <a:t>Aturan emas dan alur kerja</a:t>
            </a:r>
          </a:p>
          <a:p>
            <a:pPr algn="l" marL="310896" indent="-310896">
              <a:lnSpc>
                <a:spcPct val="112000"/>
              </a:lnSpc>
              <a:spcAft>
                <a:spcPts val="1000"/>
              </a:spcAft>
              <a:buFont typeface="Arial"/>
              <a:buChar char="•"/>
            </a:pPr>
            <a:r>
              <a:rPr sz="2200" b="0">
                <a:solidFill>
                  <a:srgbClr val="3D424B"/>
                </a:solidFill>
                <a:latin typeface="Calibri"/>
              </a:rPr>
              <a:t>Tujuh tahap dari brief ke reel</a:t>
            </a:r>
          </a:p>
          <a:p>
            <a:pPr algn="l" marL="310896" indent="-310896">
              <a:lnSpc>
                <a:spcPct val="112000"/>
              </a:lnSpc>
              <a:spcAft>
                <a:spcPts val="1000"/>
              </a:spcAft>
              <a:buFont typeface="Arial"/>
              <a:buChar char="•"/>
            </a:pPr>
            <a:r>
              <a:rPr sz="2200" b="0">
                <a:solidFill>
                  <a:srgbClr val="3D424B"/>
                </a:solidFill>
                <a:latin typeface="Calibri"/>
              </a:rPr>
              <a:t>Kesalahan kami, dan aturannya</a:t>
            </a:r>
          </a:p>
          <a:p>
            <a:pPr algn="l" marL="310896" indent="-310896">
              <a:lnSpc>
                <a:spcPct val="112000"/>
              </a:lnSpc>
              <a:spcAft>
                <a:spcPts val="1000"/>
              </a:spcAft>
              <a:buFont typeface="Arial"/>
              <a:buChar char="•"/>
            </a:pPr>
            <a:r>
              <a:rPr sz="2200" b="0">
                <a:solidFill>
                  <a:srgbClr val="3D424B"/>
                </a:solidFill>
                <a:latin typeface="Calibri"/>
              </a:rPr>
              <a:t>Latihan pertamamu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5</a:t>
            </a:r>
          </a:p>
        </p:txBody>
      </p:sp>
      <p:sp>
        <p:nvSpPr>
          <p:cNvPr id="3" name="Oval 2"/>
          <p:cNvSpPr/>
          <p:nvPr/>
        </p:nvSpPr>
        <p:spPr>
          <a:xfrm>
            <a:off x="548640" y="1280160"/>
            <a:ext cx="1188720" cy="118872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16181D"/>
                </a:solidFill>
                <a:latin typeface="Arial"/>
              </a:rPr>
              <a:t>1</a:t>
            </a:r>
          </a:p>
        </p:txBody>
      </p:sp>
      <p:sp>
        <p:nvSpPr>
          <p:cNvPr id="4" name="TextBox 3"/>
          <p:cNvSpPr txBox="1"/>
          <p:nvPr/>
        </p:nvSpPr>
        <p:spPr>
          <a:xfrm>
            <a:off x="548640" y="2743200"/>
            <a:ext cx="10515600"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BAGIAN 1</a:t>
            </a:r>
          </a:p>
        </p:txBody>
      </p:sp>
      <p:sp>
        <p:nvSpPr>
          <p:cNvPr id="5" name="TextBox 4"/>
          <p:cNvSpPr txBox="1"/>
          <p:nvPr/>
        </p:nvSpPr>
        <p:spPr>
          <a:xfrm>
            <a:off x="548640" y="3200400"/>
            <a:ext cx="10789920" cy="1828800"/>
          </a:xfrm>
          <a:prstGeom prst="rect">
            <a:avLst/>
          </a:prstGeom>
          <a:noFill/>
        </p:spPr>
        <p:txBody>
          <a:bodyPr wrap="square" lIns="0" rIns="0" tIns="0" bIns="0" anchor="t">
            <a:spAutoFit/>
          </a:bodyPr>
          <a:lstStyle/>
          <a:p>
            <a:pPr algn="l">
              <a:lnSpc>
                <a:spcPct val="95000"/>
              </a:lnSpc>
              <a:spcAft>
                <a:spcPts val="0"/>
              </a:spcAft>
            </a:pPr>
            <a:r>
              <a:rPr sz="5400" b="1">
                <a:solidFill>
                  <a:srgbClr val="FFFFFF"/>
                </a:solidFill>
                <a:latin typeface="Arial"/>
              </a:rPr>
              <a:t>Dasar AI: apa itu AI, dan bagaimana ia “berpikir”</a:t>
            </a:r>
          </a:p>
        </p:txBody>
      </p:sp>
      <p:sp>
        <p:nvSpPr>
          <p:cNvPr id="6" name="TextBox 5"/>
          <p:cNvSpPr txBox="1"/>
          <p:nvPr/>
        </p:nvSpPr>
        <p:spPr>
          <a:xfrm>
            <a:off x="548640" y="5074920"/>
            <a:ext cx="9601200" cy="914400"/>
          </a:xfrm>
          <a:prstGeom prst="rect">
            <a:avLst/>
          </a:prstGeom>
          <a:noFill/>
        </p:spPr>
        <p:txBody>
          <a:bodyPr wrap="square" lIns="0" rIns="0" tIns="0" bIns="0" anchor="t">
            <a:spAutoFit/>
          </a:bodyPr>
          <a:lstStyle/>
          <a:p>
            <a:pPr algn="l">
              <a:lnSpc>
                <a:spcPct val="112000"/>
              </a:lnSpc>
              <a:spcAft>
                <a:spcPts val="0"/>
              </a:spcAft>
            </a:pPr>
            <a:r>
              <a:rPr sz="2400" b="0">
                <a:solidFill>
                  <a:srgbClr val="D3CEC5"/>
                </a:solidFill>
                <a:latin typeface="Calibri"/>
              </a:rPr>
              <a:t>Kalau kamu paham cara kerjanya, kamu tahu cara memintanya, dan kapan harus curiga pada hasilnya.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6</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Apa itu AI?</a:t>
            </a:r>
          </a:p>
        </p:txBody>
      </p:sp>
      <p:sp>
        <p:nvSpPr>
          <p:cNvPr id="5" name="Rounded Rectangle 4"/>
          <p:cNvSpPr/>
          <p:nvPr/>
        </p:nvSpPr>
        <p:spPr>
          <a:xfrm>
            <a:off x="548640" y="1783080"/>
            <a:ext cx="5440680" cy="338328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47548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Program biasa</a:t>
            </a:r>
          </a:p>
        </p:txBody>
      </p:sp>
      <p:sp>
        <p:nvSpPr>
          <p:cNvPr id="7" name="TextBox 6"/>
          <p:cNvSpPr txBox="1"/>
          <p:nvPr/>
        </p:nvSpPr>
        <p:spPr>
          <a:xfrm>
            <a:off x="914400" y="2651760"/>
            <a:ext cx="4754880" cy="91440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Calibri"/>
              </a:rPr>
              <a:t>Manusia menulis aturannya satu per satu.</a:t>
            </a:r>
          </a:p>
        </p:txBody>
      </p:sp>
      <p:sp>
        <p:nvSpPr>
          <p:cNvPr id="8" name="TextBox 7"/>
          <p:cNvSpPr txBox="1"/>
          <p:nvPr/>
        </p:nvSpPr>
        <p:spPr>
          <a:xfrm>
            <a:off x="914400" y="3703320"/>
            <a:ext cx="4754880" cy="128016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Contoh: “kalau luas tanah lebih dari 100 m², tulis ‘rumah besar’.” Komputer hanya menjalankan aturan itu.</a:t>
            </a:r>
          </a:p>
        </p:txBody>
      </p:sp>
      <p:sp>
        <p:nvSpPr>
          <p:cNvPr id="9" name="Rounded Rectangle 8"/>
          <p:cNvSpPr/>
          <p:nvPr/>
        </p:nvSpPr>
        <p:spPr>
          <a:xfrm>
            <a:off x="6172200" y="1783080"/>
            <a:ext cx="5440680" cy="3383280"/>
          </a:xfrm>
          <a:prstGeom prst="roundRect">
            <a:avLst>
              <a:gd name="adj" fmla="val 8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011680"/>
            <a:ext cx="4754880" cy="548640"/>
          </a:xfrm>
          <a:prstGeom prst="rect">
            <a:avLst/>
          </a:prstGeom>
          <a:noFill/>
        </p:spPr>
        <p:txBody>
          <a:bodyPr wrap="square" lIns="0" rIns="0" tIns="0" bIns="0" anchor="t">
            <a:spAutoFit/>
          </a:bodyPr>
          <a:lstStyle/>
          <a:p>
            <a:pPr algn="l">
              <a:lnSpc>
                <a:spcPct val="112000"/>
              </a:lnSpc>
              <a:spcAft>
                <a:spcPts val="0"/>
              </a:spcAft>
            </a:pPr>
            <a:r>
              <a:rPr sz="2800" b="1">
                <a:solidFill>
                  <a:srgbClr val="C2410C"/>
                </a:solidFill>
                <a:latin typeface="Arial"/>
              </a:rPr>
              <a:t>Kecerdasan buatan (AI)</a:t>
            </a:r>
          </a:p>
        </p:txBody>
      </p:sp>
      <p:sp>
        <p:nvSpPr>
          <p:cNvPr id="11" name="TextBox 10"/>
          <p:cNvSpPr txBox="1"/>
          <p:nvPr/>
        </p:nvSpPr>
        <p:spPr>
          <a:xfrm>
            <a:off x="6537960" y="2651760"/>
            <a:ext cx="4754880" cy="91440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Calibri"/>
              </a:rPr>
              <a:t>Komputer belajar pola dari jutaan contoh, lalu menebak.</a:t>
            </a:r>
          </a:p>
        </p:txBody>
      </p:sp>
      <p:sp>
        <p:nvSpPr>
          <p:cNvPr id="12" name="TextBox 11"/>
          <p:cNvSpPr txBox="1"/>
          <p:nvPr/>
        </p:nvSpPr>
        <p:spPr>
          <a:xfrm>
            <a:off x="6537960" y="3703320"/>
            <a:ext cx="4754880" cy="128016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Contoh: diberi jutaan foto rumah beserta keterangannya, ia belajar seperti apa ‘rumah modern’, lalu bisa menggambar rumah yang belum pernah ada.</a:t>
            </a:r>
          </a:p>
        </p:txBody>
      </p:sp>
      <p:sp>
        <p:nvSpPr>
          <p:cNvPr id="13" name="Rounded Rectangle 12"/>
          <p:cNvSpPr/>
          <p:nvPr/>
        </p:nvSpPr>
        <p:spPr>
          <a:xfrm>
            <a:off x="548640" y="5394960"/>
            <a:ext cx="11094415" cy="914400"/>
          </a:xfrm>
          <a:prstGeom prst="roundRect">
            <a:avLst>
              <a:gd name="adj" fmla="val 20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94960"/>
            <a:ext cx="10362895" cy="914400"/>
          </a:xfrm>
          <a:prstGeom prst="rect">
            <a:avLst/>
          </a:prstGeom>
          <a:noFill/>
        </p:spPr>
        <p:txBody>
          <a:bodyPr wrap="square" lIns="0" rIns="0" tIns="0" bIns="0" anchor="ctr">
            <a:spAutoFit/>
          </a:bodyPr>
          <a:lstStyle/>
          <a:p>
            <a:pPr algn="l">
              <a:lnSpc>
                <a:spcPct val="112000"/>
              </a:lnSpc>
              <a:spcAft>
                <a:spcPts val="0"/>
              </a:spcAft>
            </a:pPr>
            <a:r>
              <a:rPr sz="2200" b="1">
                <a:solidFill>
                  <a:srgbClr val="FFFFFF"/>
                </a:solidFill>
                <a:latin typeface="Calibri"/>
              </a:rPr>
              <a:t>AI adalah mesin pengenal pola. Ia tidak berpikir seperti manusia: ia menebak berdasarkan pola yang pernah ia lihat.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7</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Cara AI belajar: dari contoh ke model</a:t>
            </a:r>
          </a:p>
        </p:txBody>
      </p:sp>
      <p:sp>
        <p:nvSpPr>
          <p:cNvPr id="5" name="Rounded Rectangle 4"/>
          <p:cNvSpPr/>
          <p:nvPr/>
        </p:nvSpPr>
        <p:spPr>
          <a:xfrm>
            <a:off x="54864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1</a:t>
            </a:r>
          </a:p>
        </p:txBody>
      </p:sp>
      <p:sp>
        <p:nvSpPr>
          <p:cNvPr id="7" name="TextBox 6"/>
          <p:cNvSpPr txBox="1"/>
          <p:nvPr/>
        </p:nvSpPr>
        <p:spPr>
          <a:xfrm>
            <a:off x="822959"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Data</a:t>
            </a:r>
          </a:p>
        </p:txBody>
      </p:sp>
      <p:sp>
        <p:nvSpPr>
          <p:cNvPr id="8" name="TextBox 7"/>
          <p:cNvSpPr txBox="1"/>
          <p:nvPr/>
        </p:nvSpPr>
        <p:spPr>
          <a:xfrm>
            <a:off x="822959"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Jutaan contoh: teks, foto, video, suara.</a:t>
            </a:r>
          </a:p>
        </p:txBody>
      </p:sp>
      <p:sp>
        <p:nvSpPr>
          <p:cNvPr id="9" name="Right Arrow 8"/>
          <p:cNvSpPr/>
          <p:nvPr/>
        </p:nvSpPr>
        <p:spPr>
          <a:xfrm>
            <a:off x="2980944" y="3136392"/>
            <a:ext cx="34747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8328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57600"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2</a:t>
            </a:r>
          </a:p>
        </p:txBody>
      </p:sp>
      <p:sp>
        <p:nvSpPr>
          <p:cNvPr id="12" name="TextBox 11"/>
          <p:cNvSpPr txBox="1"/>
          <p:nvPr/>
        </p:nvSpPr>
        <p:spPr>
          <a:xfrm>
            <a:off x="3657600"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Latihan</a:t>
            </a:r>
          </a:p>
        </p:txBody>
      </p:sp>
      <p:sp>
        <p:nvSpPr>
          <p:cNvPr id="13" name="TextBox 12"/>
          <p:cNvSpPr txBox="1"/>
          <p:nvPr/>
        </p:nvSpPr>
        <p:spPr>
          <a:xfrm>
            <a:off x="3657600"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Menebak, dicek, diperbaiki. Miliaran kali.</a:t>
            </a:r>
          </a:p>
        </p:txBody>
      </p:sp>
      <p:sp>
        <p:nvSpPr>
          <p:cNvPr id="14" name="Right Arrow 13"/>
          <p:cNvSpPr/>
          <p:nvPr/>
        </p:nvSpPr>
        <p:spPr>
          <a:xfrm>
            <a:off x="5815584" y="3136392"/>
            <a:ext cx="34747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1792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92240"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3</a:t>
            </a:r>
          </a:p>
        </p:txBody>
      </p:sp>
      <p:sp>
        <p:nvSpPr>
          <p:cNvPr id="17" name="TextBox 16"/>
          <p:cNvSpPr txBox="1"/>
          <p:nvPr/>
        </p:nvSpPr>
        <p:spPr>
          <a:xfrm>
            <a:off x="6492240"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Model</a:t>
            </a:r>
          </a:p>
        </p:txBody>
      </p:sp>
      <p:sp>
        <p:nvSpPr>
          <p:cNvPr id="18" name="TextBox 17"/>
          <p:cNvSpPr txBox="1"/>
          <p:nvPr/>
        </p:nvSpPr>
        <p:spPr>
          <a:xfrm>
            <a:off x="6492240"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Hasilnya: pola yang tersimpan sebagai angka.</a:t>
            </a:r>
          </a:p>
        </p:txBody>
      </p:sp>
      <p:sp>
        <p:nvSpPr>
          <p:cNvPr id="19" name="Right Arrow 18"/>
          <p:cNvSpPr/>
          <p:nvPr/>
        </p:nvSpPr>
        <p:spPr>
          <a:xfrm>
            <a:off x="8650224" y="3136392"/>
            <a:ext cx="34747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052560" y="1783080"/>
            <a:ext cx="2377440" cy="30175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26880" y="201168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4</a:t>
            </a:r>
          </a:p>
        </p:txBody>
      </p:sp>
      <p:sp>
        <p:nvSpPr>
          <p:cNvPr id="22" name="TextBox 21"/>
          <p:cNvSpPr txBox="1"/>
          <p:nvPr/>
        </p:nvSpPr>
        <p:spPr>
          <a:xfrm>
            <a:off x="9326880" y="2834640"/>
            <a:ext cx="19202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Dipakai</a:t>
            </a:r>
          </a:p>
        </p:txBody>
      </p:sp>
      <p:sp>
        <p:nvSpPr>
          <p:cNvPr id="23" name="TextBox 22"/>
          <p:cNvSpPr txBox="1"/>
          <p:nvPr/>
        </p:nvSpPr>
        <p:spPr>
          <a:xfrm>
            <a:off x="9326880" y="3383280"/>
            <a:ext cx="1874519" cy="137160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Kamu memberi prompt, model menjawab.</a:t>
            </a:r>
          </a:p>
        </p:txBody>
      </p:sp>
      <p:sp>
        <p:nvSpPr>
          <p:cNvPr id="24" name="Rounded Rectangle 23"/>
          <p:cNvSpPr/>
          <p:nvPr/>
        </p:nvSpPr>
        <p:spPr>
          <a:xfrm>
            <a:off x="548640" y="5074920"/>
            <a:ext cx="11094415" cy="1188720"/>
          </a:xfrm>
          <a:prstGeom prst="roundRect">
            <a:avLst>
              <a:gd name="adj" fmla="val 15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074920"/>
            <a:ext cx="10362895" cy="11887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Model tidak menyimpan foto aslinya, ia menyimpan </a:t>
            </a:r>
            <a:r>
              <a:rPr sz="2200" b="1">
                <a:solidFill>
                  <a:srgbClr val="16181D"/>
                </a:solidFill>
                <a:latin typeface="Calibri"/>
              </a:rPr>
              <a:t>polanya</a:t>
            </a:r>
            <a:r>
              <a:rPr sz="2200" b="0">
                <a:solidFill>
                  <a:srgbClr val="16181D"/>
                </a:solidFill>
                <a:latin typeface="Calibri"/>
              </a:rPr>
              <a:t>. Karena itu ia bisa membuat hal baru, dan juga bisa keliru.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8</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AI tidak tahu. AI menebak.</a:t>
            </a:r>
          </a:p>
        </p:txBody>
      </p:sp>
      <p:sp>
        <p:nvSpPr>
          <p:cNvPr id="5" name="TextBox 4"/>
          <p:cNvSpPr txBox="1"/>
          <p:nvPr/>
        </p:nvSpPr>
        <p:spPr>
          <a:xfrm>
            <a:off x="548640" y="1783080"/>
            <a:ext cx="5669280" cy="457200"/>
          </a:xfrm>
          <a:prstGeom prst="rect">
            <a:avLst/>
          </a:prstGeom>
          <a:noFill/>
        </p:spPr>
        <p:txBody>
          <a:bodyPr wrap="square" lIns="0" rIns="0" tIns="0" bIns="0" anchor="t">
            <a:spAutoFit/>
          </a:bodyPr>
          <a:lstStyle/>
          <a:p>
            <a:pPr algn="l">
              <a:lnSpc>
                <a:spcPct val="112000"/>
              </a:lnSpc>
              <a:spcAft>
                <a:spcPts val="0"/>
              </a:spcAft>
            </a:pPr>
            <a:r>
              <a:rPr sz="2400" b="1">
                <a:solidFill>
                  <a:srgbClr val="16181D"/>
                </a:solidFill>
                <a:latin typeface="Calibri"/>
              </a:rPr>
              <a:t>“Rumah di pinggir kota itu biasanya …”</a:t>
            </a:r>
          </a:p>
        </p:txBody>
      </p:sp>
      <p:graphicFrame>
        <p:nvGraphicFramePr>
          <p:cNvPr id="6" name="Chart 5"/>
          <p:cNvGraphicFramePr>
            <a:graphicFrameLocks noGrp="1"/>
          </p:cNvGraphicFramePr>
          <p:nvPr/>
        </p:nvGraphicFramePr>
        <p:xfrm>
          <a:off x="548640" y="2331720"/>
          <a:ext cx="5669280" cy="3291840"/>
        </p:xfrm>
        <a:graphic>
          <a:graphicData uri="http://schemas.openxmlformats.org/drawingml/2006/chart">
            <c:chart xmlns:c="http://schemas.openxmlformats.org/drawingml/2006/chart" r:id="rId3"/>
          </a:graphicData>
        </a:graphic>
      </p:graphicFrame>
      <p:sp>
        <p:nvSpPr>
          <p:cNvPr id="7" name="TextBox 6"/>
          <p:cNvSpPr txBox="1"/>
          <p:nvPr/>
        </p:nvSpPr>
        <p:spPr>
          <a:xfrm>
            <a:off x="548640" y="5715000"/>
            <a:ext cx="566928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Angka ilustrasi: peluang kata berikutnya.</a:t>
            </a:r>
          </a:p>
        </p:txBody>
      </p:sp>
      <p:sp>
        <p:nvSpPr>
          <p:cNvPr id="8" name="TextBox 7"/>
          <p:cNvSpPr txBox="1"/>
          <p:nvPr/>
        </p:nvSpPr>
        <p:spPr>
          <a:xfrm>
            <a:off x="6720840" y="1828800"/>
            <a:ext cx="4937760" cy="4389120"/>
          </a:xfrm>
          <a:prstGeom prst="rect">
            <a:avLst/>
          </a:prstGeom>
          <a:noFill/>
        </p:spPr>
        <p:txBody>
          <a:bodyPr wrap="square" lIns="0" rIns="0" tIns="0" bIns="0" anchor="t">
            <a:spAutoFit/>
          </a:bodyPr>
          <a:lstStyle/>
          <a:p>
            <a:pPr algn="l" marL="310896" indent="-310896">
              <a:lnSpc>
                <a:spcPct val="112000"/>
              </a:lnSpc>
              <a:spcAft>
                <a:spcPts val="1600"/>
              </a:spcAft>
              <a:buFont typeface="Arial"/>
              <a:buChar char="•"/>
            </a:pPr>
            <a:r>
              <a:rPr sz="2200" b="0">
                <a:solidFill>
                  <a:srgbClr val="3D424B"/>
                </a:solidFill>
                <a:latin typeface="Calibri"/>
              </a:rPr>
              <a:t>Model bahasa menulis </a:t>
            </a:r>
            <a:r>
              <a:rPr sz="2200" b="1">
                <a:solidFill>
                  <a:srgbClr val="3D424B"/>
                </a:solidFill>
                <a:latin typeface="Calibri"/>
              </a:rPr>
              <a:t>satu kata demi satu kata</a:t>
            </a:r>
            <a:r>
              <a:rPr sz="2200" b="0">
                <a:solidFill>
                  <a:srgbClr val="3D424B"/>
                </a:solidFill>
                <a:latin typeface="Calibri"/>
              </a:rPr>
              <a:t>, memilih lanjutan yang paling masuk akal.</a:t>
            </a:r>
          </a:p>
          <a:p>
            <a:pPr algn="l" marL="310896" indent="-310896">
              <a:lnSpc>
                <a:spcPct val="112000"/>
              </a:lnSpc>
              <a:spcAft>
                <a:spcPts val="1600"/>
              </a:spcAft>
              <a:buFont typeface="Arial"/>
              <a:buChar char="•"/>
            </a:pPr>
            <a:r>
              <a:rPr sz="2200" b="0">
                <a:solidFill>
                  <a:srgbClr val="3D424B"/>
                </a:solidFill>
                <a:latin typeface="Calibri"/>
              </a:rPr>
              <a:t>Karena itu jawabannya selalu lancar, tapi bisa </a:t>
            </a:r>
            <a:r>
              <a:rPr sz="2200" b="1">
                <a:solidFill>
                  <a:srgbClr val="3D424B"/>
                </a:solidFill>
                <a:latin typeface="Calibri"/>
              </a:rPr>
              <a:t>salah dengan yakin</a:t>
            </a:r>
            <a:r>
              <a:rPr sz="2200" b="0">
                <a:solidFill>
                  <a:srgbClr val="3D424B"/>
                </a:solidFill>
                <a:latin typeface="Calibri"/>
              </a:rPr>
              <a:t>. Ini disebut halusinasi.</a:t>
            </a:r>
          </a:p>
          <a:p>
            <a:pPr algn="l" marL="310896" indent="-310896">
              <a:lnSpc>
                <a:spcPct val="112000"/>
              </a:lnSpc>
              <a:spcAft>
                <a:spcPts val="1600"/>
              </a:spcAft>
              <a:buFont typeface="Arial"/>
              <a:buChar char="•"/>
            </a:pPr>
            <a:r>
              <a:rPr sz="2200" b="0">
                <a:solidFill>
                  <a:srgbClr val="3D424B"/>
                </a:solidFill>
                <a:latin typeface="Calibri"/>
              </a:rPr>
              <a:t>Aturan kita: fakta seperti harga, jarak dan nama </a:t>
            </a:r>
            <a:r>
              <a:rPr sz="2200" b="1">
                <a:solidFill>
                  <a:srgbClr val="3D424B"/>
                </a:solidFill>
                <a:latin typeface="Calibri"/>
              </a:rPr>
              <a:t>selalu dicek manusia</a:t>
            </a:r>
            <a:r>
              <a:rPr sz="2200" b="0">
                <a:solidFill>
                  <a:srgbClr val="3D424B"/>
                </a:solidFill>
                <a:latin typeface="Calibri"/>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9</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Satu tim model, masing-masing satu keahlian</a:t>
            </a:r>
          </a:p>
        </p:txBody>
      </p:sp>
      <p:sp>
        <p:nvSpPr>
          <p:cNvPr id="5" name="Rounded Rectangle 4"/>
          <p:cNvSpPr/>
          <p:nvPr/>
        </p:nvSpPr>
        <p:spPr>
          <a:xfrm>
            <a:off x="548640"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Teks</a:t>
            </a:r>
          </a:p>
        </p:txBody>
      </p:sp>
      <p:sp>
        <p:nvSpPr>
          <p:cNvPr id="7" name="TextBox 6"/>
          <p:cNvSpPr txBox="1"/>
          <p:nvPr/>
        </p:nvSpPr>
        <p:spPr>
          <a:xfrm>
            <a:off x="777240"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Claude</a:t>
            </a:r>
          </a:p>
        </p:txBody>
      </p:sp>
      <p:sp>
        <p:nvSpPr>
          <p:cNvPr id="8" name="TextBox 7"/>
          <p:cNvSpPr txBox="1"/>
          <p:nvPr/>
        </p:nvSpPr>
        <p:spPr>
          <a:xfrm>
            <a:off x="777240"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Merencanakan, menulis prompt, memeriksa hasil.</a:t>
            </a:r>
          </a:p>
        </p:txBody>
      </p:sp>
      <p:sp>
        <p:nvSpPr>
          <p:cNvPr id="9" name="Rounded Rectangle 8"/>
          <p:cNvSpPr/>
          <p:nvPr/>
        </p:nvSpPr>
        <p:spPr>
          <a:xfrm>
            <a:off x="2798064"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26664"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Gambar</a:t>
            </a:r>
          </a:p>
        </p:txBody>
      </p:sp>
      <p:sp>
        <p:nvSpPr>
          <p:cNvPr id="11" name="TextBox 10"/>
          <p:cNvSpPr txBox="1"/>
          <p:nvPr/>
        </p:nvSpPr>
        <p:spPr>
          <a:xfrm>
            <a:off x="3026664"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gpt-image-2</a:t>
            </a:r>
          </a:p>
        </p:txBody>
      </p:sp>
      <p:sp>
        <p:nvSpPr>
          <p:cNvPr id="12" name="TextBox 11"/>
          <p:cNvSpPr txBox="1"/>
          <p:nvPr/>
        </p:nvSpPr>
        <p:spPr>
          <a:xfrm>
            <a:off x="3026664"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Style frame, storyboard, frame pertama.</a:t>
            </a:r>
          </a:p>
        </p:txBody>
      </p:sp>
      <p:sp>
        <p:nvSpPr>
          <p:cNvPr id="13" name="Rounded Rectangle 12"/>
          <p:cNvSpPr/>
          <p:nvPr/>
        </p:nvSpPr>
        <p:spPr>
          <a:xfrm>
            <a:off x="5047488"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76088"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Video</a:t>
            </a:r>
          </a:p>
        </p:txBody>
      </p:sp>
      <p:sp>
        <p:nvSpPr>
          <p:cNvPr id="15" name="TextBox 14"/>
          <p:cNvSpPr txBox="1"/>
          <p:nvPr/>
        </p:nvSpPr>
        <p:spPr>
          <a:xfrm>
            <a:off x="5276088"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Veo 3.1 Lite</a:t>
            </a:r>
          </a:p>
        </p:txBody>
      </p:sp>
      <p:sp>
        <p:nvSpPr>
          <p:cNvPr id="16" name="TextBox 15"/>
          <p:cNvSpPr txBox="1"/>
          <p:nvPr/>
        </p:nvSpPr>
        <p:spPr>
          <a:xfrm>
            <a:off x="5276088"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Membuat gambar yang disetujui bergerak.</a:t>
            </a:r>
          </a:p>
        </p:txBody>
      </p:sp>
      <p:sp>
        <p:nvSpPr>
          <p:cNvPr id="17" name="Rounded Rectangle 16"/>
          <p:cNvSpPr/>
          <p:nvPr/>
        </p:nvSpPr>
        <p:spPr>
          <a:xfrm>
            <a:off x="7296912"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25512"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Suara</a:t>
            </a:r>
          </a:p>
        </p:txBody>
      </p:sp>
      <p:sp>
        <p:nvSpPr>
          <p:cNvPr id="19" name="TextBox 18"/>
          <p:cNvSpPr txBox="1"/>
          <p:nvPr/>
        </p:nvSpPr>
        <p:spPr>
          <a:xfrm>
            <a:off x="7525512"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Gemini TTS</a:t>
            </a:r>
          </a:p>
        </p:txBody>
      </p:sp>
      <p:sp>
        <p:nvSpPr>
          <p:cNvPr id="20" name="TextBox 19"/>
          <p:cNvSpPr txBox="1"/>
          <p:nvPr/>
        </p:nvSpPr>
        <p:spPr>
          <a:xfrm>
            <a:off x="7525512"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Narasi dari naskah.</a:t>
            </a:r>
          </a:p>
        </p:txBody>
      </p:sp>
      <p:sp>
        <p:nvSpPr>
          <p:cNvPr id="21" name="Rounded Rectangle 20"/>
          <p:cNvSpPr/>
          <p:nvPr/>
        </p:nvSpPr>
        <p:spPr>
          <a:xfrm>
            <a:off x="9546336" y="1783080"/>
            <a:ext cx="2103120" cy="35661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74936" y="2011680"/>
            <a:ext cx="1691640" cy="502920"/>
          </a:xfrm>
          <a:prstGeom prst="rect">
            <a:avLst/>
          </a:prstGeom>
          <a:noFill/>
        </p:spPr>
        <p:txBody>
          <a:bodyPr wrap="square" lIns="0" rIns="0" tIns="0" bIns="0" anchor="t">
            <a:spAutoFit/>
          </a:bodyPr>
          <a:lstStyle/>
          <a:p>
            <a:pPr algn="l">
              <a:lnSpc>
                <a:spcPct val="112000"/>
              </a:lnSpc>
              <a:spcAft>
                <a:spcPts val="0"/>
              </a:spcAft>
            </a:pPr>
            <a:r>
              <a:rPr sz="2600" b="1">
                <a:solidFill>
                  <a:srgbClr val="16181D"/>
                </a:solidFill>
                <a:latin typeface="Arial"/>
              </a:rPr>
              <a:t>Musik</a:t>
            </a:r>
          </a:p>
        </p:txBody>
      </p:sp>
      <p:sp>
        <p:nvSpPr>
          <p:cNvPr id="23" name="TextBox 22"/>
          <p:cNvSpPr txBox="1"/>
          <p:nvPr/>
        </p:nvSpPr>
        <p:spPr>
          <a:xfrm>
            <a:off x="9774936" y="2560320"/>
            <a:ext cx="1691640" cy="457200"/>
          </a:xfrm>
          <a:prstGeom prst="rect">
            <a:avLst/>
          </a:prstGeom>
          <a:noFill/>
        </p:spPr>
        <p:txBody>
          <a:bodyPr wrap="square" lIns="0" rIns="0" tIns="0" bIns="0" anchor="t">
            <a:spAutoFit/>
          </a:bodyPr>
          <a:lstStyle/>
          <a:p>
            <a:pPr algn="l">
              <a:lnSpc>
                <a:spcPct val="112000"/>
              </a:lnSpc>
              <a:spcAft>
                <a:spcPts val="0"/>
              </a:spcAft>
            </a:pPr>
            <a:r>
              <a:rPr sz="2000" b="1">
                <a:solidFill>
                  <a:srgbClr val="C2410C"/>
                </a:solidFill>
                <a:latin typeface="Calibri"/>
              </a:rPr>
              <a:t>Lyria</a:t>
            </a:r>
          </a:p>
        </p:txBody>
      </p:sp>
      <p:sp>
        <p:nvSpPr>
          <p:cNvPr id="24" name="TextBox 23"/>
          <p:cNvSpPr txBox="1"/>
          <p:nvPr/>
        </p:nvSpPr>
        <p:spPr>
          <a:xfrm>
            <a:off x="9774936" y="3108960"/>
            <a:ext cx="1691640" cy="210312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Musik latar dengan drop.</a:t>
            </a:r>
          </a:p>
        </p:txBody>
      </p:sp>
      <p:sp>
        <p:nvSpPr>
          <p:cNvPr id="25" name="TextBox 24"/>
          <p:cNvSpPr txBox="1"/>
          <p:nvPr/>
        </p:nvSpPr>
        <p:spPr>
          <a:xfrm>
            <a:off x="548640" y="5623560"/>
            <a:ext cx="11094415" cy="640080"/>
          </a:xfrm>
          <a:prstGeom prst="rect">
            <a:avLst/>
          </a:prstGeom>
          <a:noFill/>
        </p:spPr>
        <p:txBody>
          <a:bodyPr wrap="square" lIns="0" rIns="0" tIns="0" bIns="0" anchor="t">
            <a:spAutoFit/>
          </a:bodyPr>
          <a:lstStyle/>
          <a:p>
            <a:pPr algn="l">
              <a:lnSpc>
                <a:spcPct val="112000"/>
              </a:lnSpc>
              <a:spcAft>
                <a:spcPts val="0"/>
              </a:spcAft>
            </a:pPr>
            <a:r>
              <a:rPr sz="2200" b="0">
                <a:solidFill>
                  <a:srgbClr val="16181D"/>
                </a:solidFill>
                <a:latin typeface="Calibri"/>
              </a:rPr>
              <a:t>Teks dan suara murah. Gambar murah. </a:t>
            </a:r>
            <a:r>
              <a:rPr sz="2200" b="1">
                <a:solidFill>
                  <a:srgbClr val="16181D"/>
                </a:solidFill>
                <a:latin typeface="Calibri"/>
              </a:rPr>
              <a:t>Video paling mahal</a:t>
            </a:r>
            <a:r>
              <a:rPr sz="2200" b="0">
                <a:solidFill>
                  <a:srgbClr val="16181D"/>
                </a:solidFill>
                <a:latin typeface="Calibri"/>
              </a:rPr>
              <a:t>, jadi dibuat paling akhir.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10</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Model gambar: dari bintik acak ke gambar</a:t>
            </a:r>
          </a:p>
        </p:txBody>
      </p:sp>
      <p:pic>
        <p:nvPicPr>
          <p:cNvPr id="5" name="Picture 4" descr="Difusi_1.jpg"/>
          <p:cNvPicPr>
            <a:picLocks noChangeAspect="1"/>
          </p:cNvPicPr>
          <p:nvPr/>
        </p:nvPicPr>
        <p:blipFill>
          <a:blip r:embed="rId3"/>
          <a:srcRect l="48" r="48"/>
          <a:stretch>
            <a:fillRect/>
          </a:stretch>
        </p:blipFill>
        <p:spPr>
          <a:xfrm>
            <a:off x="548640" y="1783080"/>
            <a:ext cx="1783080" cy="3172968"/>
          </a:xfrm>
          <a:prstGeom prst="roundRect">
            <a:avLst>
              <a:gd name="adj" fmla="val 5000"/>
            </a:avLst>
          </a:prstGeom>
        </p:spPr>
      </p:pic>
      <p:sp>
        <p:nvSpPr>
          <p:cNvPr id="6" name="TextBox 5"/>
          <p:cNvSpPr txBox="1"/>
          <p:nvPr/>
        </p:nvSpPr>
        <p:spPr>
          <a:xfrm>
            <a:off x="548640"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Mulai: noise</a:t>
            </a:r>
          </a:p>
        </p:txBody>
      </p:sp>
      <p:pic>
        <p:nvPicPr>
          <p:cNvPr id="7" name="Picture 6" descr="Difusi_2.jpg"/>
          <p:cNvPicPr>
            <a:picLocks noChangeAspect="1"/>
          </p:cNvPicPr>
          <p:nvPr/>
        </p:nvPicPr>
        <p:blipFill>
          <a:blip r:embed="rId4"/>
          <a:srcRect l="48" r="48"/>
          <a:stretch>
            <a:fillRect/>
          </a:stretch>
        </p:blipFill>
        <p:spPr>
          <a:xfrm>
            <a:off x="2487168" y="1783080"/>
            <a:ext cx="1783080" cy="3172968"/>
          </a:xfrm>
          <a:prstGeom prst="roundRect">
            <a:avLst>
              <a:gd name="adj" fmla="val 5000"/>
            </a:avLst>
          </a:prstGeom>
        </p:spPr>
      </p:pic>
      <p:sp>
        <p:nvSpPr>
          <p:cNvPr id="8" name="TextBox 7"/>
          <p:cNvSpPr txBox="1"/>
          <p:nvPr/>
        </p:nvSpPr>
        <p:spPr>
          <a:xfrm>
            <a:off x="2487168"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Langkah awal</a:t>
            </a:r>
          </a:p>
        </p:txBody>
      </p:sp>
      <p:pic>
        <p:nvPicPr>
          <p:cNvPr id="9" name="Picture 8" descr="Difusi_3.jpg"/>
          <p:cNvPicPr>
            <a:picLocks noChangeAspect="1"/>
          </p:cNvPicPr>
          <p:nvPr/>
        </p:nvPicPr>
        <p:blipFill>
          <a:blip r:embed="rId5"/>
          <a:srcRect l="48" r="48"/>
          <a:stretch>
            <a:fillRect/>
          </a:stretch>
        </p:blipFill>
        <p:spPr>
          <a:xfrm>
            <a:off x="4425696" y="1783080"/>
            <a:ext cx="1783080" cy="3172968"/>
          </a:xfrm>
          <a:prstGeom prst="roundRect">
            <a:avLst>
              <a:gd name="adj" fmla="val 5000"/>
            </a:avLst>
          </a:prstGeom>
        </p:spPr>
      </p:pic>
      <p:sp>
        <p:nvSpPr>
          <p:cNvPr id="10" name="TextBox 9"/>
          <p:cNvSpPr txBox="1"/>
          <p:nvPr/>
        </p:nvSpPr>
        <p:spPr>
          <a:xfrm>
            <a:off x="4425696"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Hampir jadi</a:t>
            </a:r>
          </a:p>
        </p:txBody>
      </p:sp>
      <p:pic>
        <p:nvPicPr>
          <p:cNvPr id="11" name="Picture 10" descr="Difusi_4.jpg"/>
          <p:cNvPicPr>
            <a:picLocks noChangeAspect="1"/>
          </p:cNvPicPr>
          <p:nvPr/>
        </p:nvPicPr>
        <p:blipFill>
          <a:blip r:embed="rId6"/>
          <a:srcRect l="48" r="48"/>
          <a:stretch>
            <a:fillRect/>
          </a:stretch>
        </p:blipFill>
        <p:spPr>
          <a:xfrm>
            <a:off x="6364224" y="1783080"/>
            <a:ext cx="1783080" cy="3172968"/>
          </a:xfrm>
          <a:prstGeom prst="roundRect">
            <a:avLst>
              <a:gd name="adj" fmla="val 5000"/>
            </a:avLst>
          </a:prstGeom>
        </p:spPr>
      </p:pic>
      <p:sp>
        <p:nvSpPr>
          <p:cNvPr id="12" name="TextBox 11"/>
          <p:cNvSpPr txBox="1"/>
          <p:nvPr/>
        </p:nvSpPr>
        <p:spPr>
          <a:xfrm>
            <a:off x="6364224"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Selesai</a:t>
            </a:r>
          </a:p>
        </p:txBody>
      </p:sp>
      <p:sp>
        <p:nvSpPr>
          <p:cNvPr id="13" name="TextBox 12"/>
          <p:cNvSpPr txBox="1"/>
          <p:nvPr/>
        </p:nvSpPr>
        <p:spPr>
          <a:xfrm>
            <a:off x="548640" y="5577840"/>
            <a:ext cx="758952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Ilustrasi proses, bukan hasil langsung dari model.</a:t>
            </a:r>
          </a:p>
        </p:txBody>
      </p:sp>
      <p:sp>
        <p:nvSpPr>
          <p:cNvPr id="14" name="TextBox 13"/>
          <p:cNvSpPr txBox="1"/>
          <p:nvPr/>
        </p:nvSpPr>
        <p:spPr>
          <a:xfrm>
            <a:off x="8503920" y="1828800"/>
            <a:ext cx="3154680" cy="448056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Model mulai dari </a:t>
            </a:r>
            <a:r>
              <a:rPr sz="2100" b="1">
                <a:solidFill>
                  <a:srgbClr val="3D424B"/>
                </a:solidFill>
                <a:latin typeface="Calibri"/>
              </a:rPr>
              <a:t>bintik acak</a:t>
            </a:r>
            <a:r>
              <a:rPr sz="2100" b="0">
                <a:solidFill>
                  <a:srgbClr val="3D424B"/>
                </a:solidFill>
                <a:latin typeface="Calibri"/>
              </a:rPr>
              <a:t>, lalu sedikit demi sedikit membuang noise sampai cocok dengan prompt.</a:t>
            </a:r>
          </a:p>
          <a:p>
            <a:pPr algn="l">
              <a:lnSpc>
                <a:spcPct val="112000"/>
              </a:lnSpc>
              <a:spcAft>
                <a:spcPts val="1400"/>
              </a:spcAft>
            </a:pPr>
            <a:r>
              <a:rPr sz="2100" b="0">
                <a:solidFill>
                  <a:srgbClr val="3D424B"/>
                </a:solidFill>
                <a:latin typeface="Calibri"/>
              </a:rPr>
              <a:t>Ia menggambar yang </a:t>
            </a:r>
            <a:r>
              <a:rPr sz="2100" b="1">
                <a:solidFill>
                  <a:srgbClr val="3D424B"/>
                </a:solidFill>
                <a:latin typeface="Calibri"/>
              </a:rPr>
              <a:t>paling masuk akal</a:t>
            </a:r>
            <a:r>
              <a:rPr sz="2100" b="0">
                <a:solidFill>
                  <a:srgbClr val="3D424B"/>
                </a:solidFill>
                <a:latin typeface="Calibri"/>
              </a:rPr>
              <a:t>, bukan yang benar.</a:t>
            </a:r>
          </a:p>
          <a:p>
            <a:pPr algn="l">
              <a:lnSpc>
                <a:spcPct val="112000"/>
              </a:lnSpc>
              <a:spcAft>
                <a:spcPts val="1400"/>
              </a:spcAft>
            </a:pPr>
            <a:r>
              <a:rPr sz="2100" b="0">
                <a:solidFill>
                  <a:srgbClr val="3D424B"/>
                </a:solidFill>
                <a:latin typeface="Calibri"/>
              </a:rPr>
              <a:t>Maka teks, logo dan jari sering salah. Teks kita tambahkan di edit.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11</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Model video: menebak gambar berikutnya</a:t>
            </a:r>
          </a:p>
        </p:txBody>
      </p:sp>
      <p:pic>
        <p:nvPicPr>
          <p:cNvPr id="5" name="Picture 4" descr="Difusi_4.jpg"/>
          <p:cNvPicPr>
            <a:picLocks noChangeAspect="1"/>
          </p:cNvPicPr>
          <p:nvPr/>
        </p:nvPicPr>
        <p:blipFill>
          <a:blip r:embed="rId3"/>
          <a:srcRect l="48" r="48"/>
          <a:stretch>
            <a:fillRect/>
          </a:stretch>
        </p:blipFill>
        <p:spPr>
          <a:xfrm>
            <a:off x="548640" y="1783080"/>
            <a:ext cx="1783080" cy="3172968"/>
          </a:xfrm>
          <a:prstGeom prst="roundRect">
            <a:avLst>
              <a:gd name="adj" fmla="val 5000"/>
            </a:avLst>
          </a:prstGeom>
        </p:spPr>
      </p:pic>
      <p:pic>
        <p:nvPicPr>
          <p:cNvPr id="6" name="Picture 5" descr="Video_Frame_2.jpg"/>
          <p:cNvPicPr>
            <a:picLocks noChangeAspect="1"/>
          </p:cNvPicPr>
          <p:nvPr/>
        </p:nvPicPr>
        <p:blipFill>
          <a:blip r:embed="rId4"/>
          <a:srcRect l="48" r="48"/>
          <a:stretch>
            <a:fillRect/>
          </a:stretch>
        </p:blipFill>
        <p:spPr>
          <a:xfrm>
            <a:off x="2487168" y="1783080"/>
            <a:ext cx="1783080" cy="3172968"/>
          </a:xfrm>
          <a:prstGeom prst="roundRect">
            <a:avLst>
              <a:gd name="adj" fmla="val 5000"/>
            </a:avLst>
          </a:prstGeom>
        </p:spPr>
      </p:pic>
      <p:pic>
        <p:nvPicPr>
          <p:cNvPr id="7" name="Picture 6" descr="Video_Frame_3.jpg"/>
          <p:cNvPicPr>
            <a:picLocks noChangeAspect="1"/>
          </p:cNvPicPr>
          <p:nvPr/>
        </p:nvPicPr>
        <p:blipFill>
          <a:blip r:embed="rId5"/>
          <a:srcRect l="48" r="48"/>
          <a:stretch>
            <a:fillRect/>
          </a:stretch>
        </p:blipFill>
        <p:spPr>
          <a:xfrm>
            <a:off x="4425696" y="1783080"/>
            <a:ext cx="1783080" cy="3172968"/>
          </a:xfrm>
          <a:prstGeom prst="roundRect">
            <a:avLst>
              <a:gd name="adj" fmla="val 5000"/>
            </a:avLst>
          </a:prstGeom>
        </p:spPr>
      </p:pic>
      <p:pic>
        <p:nvPicPr>
          <p:cNvPr id="8" name="Picture 7" descr="Video_Frame_4.jpg"/>
          <p:cNvPicPr>
            <a:picLocks noChangeAspect="1"/>
          </p:cNvPicPr>
          <p:nvPr/>
        </p:nvPicPr>
        <p:blipFill>
          <a:blip r:embed="rId6"/>
          <a:srcRect l="48" r="48"/>
          <a:stretch>
            <a:fillRect/>
          </a:stretch>
        </p:blipFill>
        <p:spPr>
          <a:xfrm>
            <a:off x="6364224" y="1783080"/>
            <a:ext cx="1783080" cy="3172968"/>
          </a:xfrm>
          <a:prstGeom prst="roundRect">
            <a:avLst>
              <a:gd name="adj" fmla="val 5000"/>
            </a:avLst>
          </a:prstGeom>
        </p:spPr>
      </p:pic>
      <p:sp>
        <p:nvSpPr>
          <p:cNvPr id="9" name="TextBox 8"/>
          <p:cNvSpPr txBox="1"/>
          <p:nvPr/>
        </p:nvSpPr>
        <p:spPr>
          <a:xfrm>
            <a:off x="548640"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Frame pertama</a:t>
            </a:r>
          </a:p>
        </p:txBody>
      </p:sp>
      <p:sp>
        <p:nvSpPr>
          <p:cNvPr id="10" name="TextBox 9"/>
          <p:cNvSpPr txBox="1"/>
          <p:nvPr/>
        </p:nvSpPr>
        <p:spPr>
          <a:xfrm>
            <a:off x="2487168" y="5029200"/>
            <a:ext cx="3721608" cy="365760"/>
          </a:xfrm>
          <a:prstGeom prst="rect">
            <a:avLst/>
          </a:prstGeom>
          <a:noFill/>
        </p:spPr>
        <p:txBody>
          <a:bodyPr wrap="square" lIns="0" rIns="0" tIns="0" bIns="0" anchor="t">
            <a:spAutoFit/>
          </a:bodyPr>
          <a:lstStyle/>
          <a:p>
            <a:pPr algn="ctr">
              <a:lnSpc>
                <a:spcPct val="112000"/>
              </a:lnSpc>
              <a:spcAft>
                <a:spcPts val="0"/>
              </a:spcAft>
            </a:pPr>
            <a:r>
              <a:rPr sz="1800" b="0">
                <a:solidFill>
                  <a:srgbClr val="6B7079"/>
                </a:solidFill>
                <a:latin typeface="Calibri"/>
              </a:rPr>
              <a:t>30 gambar tiap detik</a:t>
            </a:r>
          </a:p>
        </p:txBody>
      </p:sp>
      <p:sp>
        <p:nvSpPr>
          <p:cNvPr id="11" name="TextBox 10"/>
          <p:cNvSpPr txBox="1"/>
          <p:nvPr/>
        </p:nvSpPr>
        <p:spPr>
          <a:xfrm>
            <a:off x="6364224" y="5029200"/>
            <a:ext cx="17830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Frame terakhir</a:t>
            </a:r>
          </a:p>
        </p:txBody>
      </p:sp>
      <p:sp>
        <p:nvSpPr>
          <p:cNvPr id="12" name="TextBox 11"/>
          <p:cNvSpPr txBox="1"/>
          <p:nvPr/>
        </p:nvSpPr>
        <p:spPr>
          <a:xfrm>
            <a:off x="548640" y="5577840"/>
            <a:ext cx="758952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Ilustrasi: kamera maju pelan menuju pintu.</a:t>
            </a:r>
          </a:p>
        </p:txBody>
      </p:sp>
      <p:sp>
        <p:nvSpPr>
          <p:cNvPr id="13" name="TextBox 12"/>
          <p:cNvSpPr txBox="1"/>
          <p:nvPr/>
        </p:nvSpPr>
        <p:spPr>
          <a:xfrm>
            <a:off x="8503920" y="1828800"/>
            <a:ext cx="3154680" cy="448056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Setiap gambar harus </a:t>
            </a:r>
            <a:r>
              <a:rPr sz="2100" b="1">
                <a:solidFill>
                  <a:srgbClr val="3D424B"/>
                </a:solidFill>
                <a:latin typeface="Calibri"/>
              </a:rPr>
              <a:t>konsisten</a:t>
            </a:r>
            <a:r>
              <a:rPr sz="2100" b="0">
                <a:solidFill>
                  <a:srgbClr val="3D424B"/>
                </a:solidFill>
                <a:latin typeface="Calibri"/>
              </a:rPr>
              <a:t> dengan gambar sebelumnya.</a:t>
            </a:r>
          </a:p>
          <a:p>
            <a:pPr algn="l">
              <a:lnSpc>
                <a:spcPct val="112000"/>
              </a:lnSpc>
              <a:spcAft>
                <a:spcPts val="1400"/>
              </a:spcAft>
            </a:pPr>
            <a:r>
              <a:rPr sz="2100" b="0">
                <a:solidFill>
                  <a:srgbClr val="3D424B"/>
                </a:solidFill>
                <a:latin typeface="Calibri"/>
              </a:rPr>
              <a:t>Paling sulit: tubuh bergerak, </a:t>
            </a:r>
            <a:r>
              <a:rPr sz="2100" b="1">
                <a:solidFill>
                  <a:srgbClr val="3D424B"/>
                </a:solidFill>
                <a:latin typeface="Calibri"/>
              </a:rPr>
              <a:t>bibir</a:t>
            </a:r>
            <a:r>
              <a:rPr sz="2100" b="0">
                <a:solidFill>
                  <a:srgbClr val="3D424B"/>
                </a:solidFill>
                <a:latin typeface="Calibri"/>
              </a:rPr>
              <a:t>, tangan, klip panjang.</a:t>
            </a:r>
          </a:p>
          <a:p>
            <a:pPr algn="l">
              <a:lnSpc>
                <a:spcPct val="112000"/>
              </a:lnSpc>
              <a:spcAft>
                <a:spcPts val="1400"/>
              </a:spcAft>
            </a:pPr>
            <a:r>
              <a:rPr sz="2100" b="0">
                <a:solidFill>
                  <a:srgbClr val="3D424B"/>
                </a:solidFill>
                <a:latin typeface="Calibri"/>
              </a:rPr>
              <a:t>Jadi: klip pendek, </a:t>
            </a:r>
            <a:r>
              <a:rPr sz="2100" b="1">
                <a:solidFill>
                  <a:srgbClr val="3D424B"/>
                </a:solidFill>
                <a:latin typeface="Calibri"/>
              </a:rPr>
              <a:t>satu gerakan kamera</a:t>
            </a:r>
            <a:r>
              <a:rPr sz="2100" b="0">
                <a:solidFill>
                  <a:srgbClr val="3D424B"/>
                </a:solidFill>
                <a:latin typeface="Calibri"/>
              </a:rPr>
              <a:t>, frame pertama yang sudah disetujui.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12</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Agent AI: AI yang bisa memakai alat</a:t>
            </a:r>
          </a:p>
        </p:txBody>
      </p:sp>
      <p:sp>
        <p:nvSpPr>
          <p:cNvPr id="5" name="Rounded Rectangle 4"/>
          <p:cNvSpPr/>
          <p:nvPr/>
        </p:nvSpPr>
        <p:spPr>
          <a:xfrm>
            <a:off x="548640" y="1783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2057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1</a:t>
            </a:r>
          </a:p>
        </p:txBody>
      </p:sp>
      <p:sp>
        <p:nvSpPr>
          <p:cNvPr id="7" name="TextBox 6"/>
          <p:cNvSpPr txBox="1"/>
          <p:nvPr/>
        </p:nvSpPr>
        <p:spPr>
          <a:xfrm>
            <a:off x="1572768" y="2148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Rencanakan</a:t>
            </a:r>
          </a:p>
        </p:txBody>
      </p:sp>
      <p:sp>
        <p:nvSpPr>
          <p:cNvPr id="8" name="TextBox 7"/>
          <p:cNvSpPr txBox="1"/>
          <p:nvPr/>
        </p:nvSpPr>
        <p:spPr>
          <a:xfrm>
            <a:off x="822959" y="2834639"/>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baca brief dan skill</a:t>
            </a:r>
          </a:p>
        </p:txBody>
      </p:sp>
      <p:sp>
        <p:nvSpPr>
          <p:cNvPr id="9" name="Rounded Rectangle 8"/>
          <p:cNvSpPr/>
          <p:nvPr/>
        </p:nvSpPr>
        <p:spPr>
          <a:xfrm>
            <a:off x="3977639" y="1783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233672" y="2057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2</a:t>
            </a:r>
          </a:p>
        </p:txBody>
      </p:sp>
      <p:sp>
        <p:nvSpPr>
          <p:cNvPr id="11" name="TextBox 10"/>
          <p:cNvSpPr txBox="1"/>
          <p:nvPr/>
        </p:nvSpPr>
        <p:spPr>
          <a:xfrm>
            <a:off x="5001768" y="2148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Kerjakan</a:t>
            </a:r>
          </a:p>
        </p:txBody>
      </p:sp>
      <p:sp>
        <p:nvSpPr>
          <p:cNvPr id="12" name="TextBox 11"/>
          <p:cNvSpPr txBox="1"/>
          <p:nvPr/>
        </p:nvSpPr>
        <p:spPr>
          <a:xfrm>
            <a:off x="4251959" y="2834639"/>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jalankan alat vg</a:t>
            </a:r>
          </a:p>
        </p:txBody>
      </p:sp>
      <p:sp>
        <p:nvSpPr>
          <p:cNvPr id="13" name="Rounded Rectangle 12"/>
          <p:cNvSpPr/>
          <p:nvPr/>
        </p:nvSpPr>
        <p:spPr>
          <a:xfrm>
            <a:off x="548640" y="4069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04672" y="4343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4</a:t>
            </a:r>
          </a:p>
        </p:txBody>
      </p:sp>
      <p:sp>
        <p:nvSpPr>
          <p:cNvPr id="15" name="TextBox 14"/>
          <p:cNvSpPr txBox="1"/>
          <p:nvPr/>
        </p:nvSpPr>
        <p:spPr>
          <a:xfrm>
            <a:off x="1572768" y="4434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Perbaiki</a:t>
            </a:r>
          </a:p>
        </p:txBody>
      </p:sp>
      <p:sp>
        <p:nvSpPr>
          <p:cNvPr id="16" name="TextBox 15"/>
          <p:cNvSpPr txBox="1"/>
          <p:nvPr/>
        </p:nvSpPr>
        <p:spPr>
          <a:xfrm>
            <a:off x="822959" y="5120640"/>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ulangi yang kurang</a:t>
            </a:r>
          </a:p>
        </p:txBody>
      </p:sp>
      <p:sp>
        <p:nvSpPr>
          <p:cNvPr id="17" name="Rounded Rectangle 16"/>
          <p:cNvSpPr/>
          <p:nvPr/>
        </p:nvSpPr>
        <p:spPr>
          <a:xfrm>
            <a:off x="3977639" y="4069080"/>
            <a:ext cx="2926080" cy="182880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233672" y="4343400"/>
            <a:ext cx="640080" cy="64008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3</a:t>
            </a:r>
          </a:p>
        </p:txBody>
      </p:sp>
      <p:sp>
        <p:nvSpPr>
          <p:cNvPr id="19" name="TextBox 18"/>
          <p:cNvSpPr txBox="1"/>
          <p:nvPr/>
        </p:nvSpPr>
        <p:spPr>
          <a:xfrm>
            <a:off x="5001768" y="4434840"/>
            <a:ext cx="1828800" cy="548640"/>
          </a:xfrm>
          <a:prstGeom prst="rect">
            <a:avLst/>
          </a:prstGeom>
          <a:noFill/>
        </p:spPr>
        <p:txBody>
          <a:bodyPr wrap="square" lIns="0" rIns="0" tIns="0" bIns="0" anchor="t">
            <a:spAutoFit/>
          </a:bodyPr>
          <a:lstStyle/>
          <a:p>
            <a:pPr algn="l">
              <a:lnSpc>
                <a:spcPct val="112000"/>
              </a:lnSpc>
              <a:spcAft>
                <a:spcPts val="0"/>
              </a:spcAft>
            </a:pPr>
            <a:r>
              <a:rPr sz="2200" b="1">
                <a:solidFill>
                  <a:srgbClr val="16181D"/>
                </a:solidFill>
                <a:latin typeface="Arial"/>
              </a:rPr>
              <a:t>Periksa</a:t>
            </a:r>
          </a:p>
        </p:txBody>
      </p:sp>
      <p:sp>
        <p:nvSpPr>
          <p:cNvPr id="20" name="TextBox 19"/>
          <p:cNvSpPr txBox="1"/>
          <p:nvPr/>
        </p:nvSpPr>
        <p:spPr>
          <a:xfrm>
            <a:off x="4251959" y="5120640"/>
            <a:ext cx="2468880" cy="640080"/>
          </a:xfrm>
          <a:prstGeom prst="rect">
            <a:avLst/>
          </a:prstGeom>
          <a:noFill/>
        </p:spPr>
        <p:txBody>
          <a:bodyPr wrap="square" lIns="0" rIns="0" tIns="0" bIns="0" anchor="t">
            <a:spAutoFit/>
          </a:bodyPr>
          <a:lstStyle/>
          <a:p>
            <a:pPr algn="l">
              <a:lnSpc>
                <a:spcPct val="112000"/>
              </a:lnSpc>
              <a:spcAft>
                <a:spcPts val="0"/>
              </a:spcAft>
            </a:pPr>
            <a:r>
              <a:rPr sz="2000" b="0">
                <a:solidFill>
                  <a:srgbClr val="3D424B"/>
                </a:solidFill>
                <a:latin typeface="Calibri"/>
              </a:rPr>
              <a:t>lihat hasilnya</a:t>
            </a:r>
          </a:p>
        </p:txBody>
      </p:sp>
      <p:sp>
        <p:nvSpPr>
          <p:cNvPr id="21" name="Right Arrow 20"/>
          <p:cNvSpPr/>
          <p:nvPr/>
        </p:nvSpPr>
        <p:spPr>
          <a:xfrm>
            <a:off x="3529584" y="2542032"/>
            <a:ext cx="393192"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wn Arrow 21"/>
          <p:cNvSpPr/>
          <p:nvPr/>
        </p:nvSpPr>
        <p:spPr>
          <a:xfrm>
            <a:off x="5285231" y="3657600"/>
            <a:ext cx="310896" cy="365760"/>
          </a:xfrm>
          <a:prstGeom prst="down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Left Arrow 22"/>
          <p:cNvSpPr/>
          <p:nvPr/>
        </p:nvSpPr>
        <p:spPr>
          <a:xfrm>
            <a:off x="3529584" y="4828032"/>
            <a:ext cx="393192" cy="310896"/>
          </a:xfrm>
          <a:prstGeom prst="lef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Up Arrow 23"/>
          <p:cNvSpPr/>
          <p:nvPr/>
        </p:nvSpPr>
        <p:spPr>
          <a:xfrm>
            <a:off x="1856231" y="3657600"/>
            <a:ext cx="310896" cy="365760"/>
          </a:xfrm>
          <a:prstGeom prst="up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43800" y="1828800"/>
            <a:ext cx="4114800" cy="448056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Agent-nya </a:t>
            </a:r>
            <a:r>
              <a:rPr sz="2100" b="1">
                <a:solidFill>
                  <a:srgbClr val="3D424B"/>
                </a:solidFill>
                <a:latin typeface="Calibri"/>
              </a:rPr>
              <a:t>WorkBuddy</a:t>
            </a:r>
            <a:r>
              <a:rPr sz="2100" b="0">
                <a:solidFill>
                  <a:srgbClr val="3D424B"/>
                </a:solidFill>
                <a:latin typeface="Calibri"/>
              </a:rPr>
              <a:t> dengan Expert </a:t>
            </a:r>
            <a:r>
              <a:rPr sz="2100" b="1">
                <a:solidFill>
                  <a:srgbClr val="3D424B"/>
                </a:solidFill>
                <a:latin typeface="Calibri"/>
              </a:rPr>
              <a:t>AI Videographer</a:t>
            </a:r>
            <a:r>
              <a:rPr sz="2100" b="0">
                <a:solidFill>
                  <a:srgbClr val="3D424B"/>
                </a:solidFill>
                <a:latin typeface="Calibri"/>
              </a:rPr>
              <a:t>. Ia membaca </a:t>
            </a:r>
            <a:r>
              <a:rPr sz="2100" b="1">
                <a:solidFill>
                  <a:srgbClr val="3D424B"/>
                </a:solidFill>
                <a:latin typeface="Calibri"/>
              </a:rPr>
              <a:t>skill</a:t>
            </a:r>
            <a:r>
              <a:rPr sz="2100" b="0">
                <a:solidFill>
                  <a:srgbClr val="3D424B"/>
                </a:solidFill>
                <a:latin typeface="Calibri"/>
              </a:rPr>
              <a:t>: file instruksi cara kerja kita.</a:t>
            </a:r>
          </a:p>
          <a:p>
            <a:pPr algn="l">
              <a:lnSpc>
                <a:spcPct val="112000"/>
              </a:lnSpc>
              <a:spcAft>
                <a:spcPts val="1400"/>
              </a:spcAft>
            </a:pPr>
            <a:r>
              <a:rPr sz="2100" b="0">
                <a:solidFill>
                  <a:srgbClr val="3D424B"/>
                </a:solidFill>
                <a:latin typeface="Calibri"/>
              </a:rPr>
              <a:t>Ia menjalankan alat </a:t>
            </a:r>
            <a:r>
              <a:rPr sz="2100" b="1">
                <a:solidFill>
                  <a:srgbClr val="3D424B"/>
                </a:solidFill>
                <a:latin typeface="Calibri"/>
              </a:rPr>
              <a:t>vg</a:t>
            </a:r>
            <a:r>
              <a:rPr sz="2100" b="0">
                <a:solidFill>
                  <a:srgbClr val="3D424B"/>
                </a:solidFill>
                <a:latin typeface="Calibri"/>
              </a:rPr>
              <a:t> untuk membuat gambar, suara dan video.</a:t>
            </a:r>
          </a:p>
          <a:p>
            <a:pPr algn="l">
              <a:lnSpc>
                <a:spcPct val="112000"/>
              </a:lnSpc>
              <a:spcAft>
                <a:spcPts val="1400"/>
              </a:spcAft>
            </a:pPr>
            <a:r>
              <a:rPr sz="2100" b="0">
                <a:solidFill>
                  <a:srgbClr val="3D424B"/>
                </a:solidFill>
                <a:latin typeface="Calibri"/>
              </a:rPr>
              <a:t>Agent juga bisa salah. Karena itu </a:t>
            </a:r>
            <a:r>
              <a:rPr sz="2100" b="1">
                <a:solidFill>
                  <a:srgbClr val="3D424B"/>
                </a:solidFill>
                <a:latin typeface="Calibri"/>
              </a:rPr>
              <a:t>gerbang persetujuan</a:t>
            </a:r>
            <a:r>
              <a:rPr sz="2100" b="0">
                <a:solidFill>
                  <a:srgbClr val="3D424B"/>
                </a:solidFill>
                <a:latin typeface="Calibri"/>
              </a:rPr>
              <a:t> tetap di tangan kamu.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13</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Cara berpikir saat bekerja dengan AI</a:t>
            </a:r>
          </a:p>
        </p:txBody>
      </p:sp>
      <p:sp>
        <p:nvSpPr>
          <p:cNvPr id="5" name="Rounded Rectangle 4"/>
          <p:cNvSpPr/>
          <p:nvPr/>
        </p:nvSpPr>
        <p:spPr>
          <a:xfrm>
            <a:off x="548640" y="1783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04672" y="2039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1</a:t>
            </a:r>
          </a:p>
        </p:txBody>
      </p:sp>
      <p:sp>
        <p:nvSpPr>
          <p:cNvPr id="7" name="TextBox 6"/>
          <p:cNvSpPr txBox="1"/>
          <p:nvPr/>
        </p:nvSpPr>
        <p:spPr>
          <a:xfrm>
            <a:off x="1508760" y="2011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Input menentukan hasil</a:t>
            </a:r>
          </a:p>
        </p:txBody>
      </p:sp>
      <p:sp>
        <p:nvSpPr>
          <p:cNvPr id="8" name="TextBox 7"/>
          <p:cNvSpPr txBox="1"/>
          <p:nvPr/>
        </p:nvSpPr>
        <p:spPr>
          <a:xfrm>
            <a:off x="822959" y="2788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Brief, prompt dan gambar referensi yang jelas memberi hasil yang jelas.</a:t>
            </a:r>
          </a:p>
        </p:txBody>
      </p:sp>
      <p:sp>
        <p:nvSpPr>
          <p:cNvPr id="9" name="Rounded Rectangle 8"/>
          <p:cNvSpPr/>
          <p:nvPr/>
        </p:nvSpPr>
        <p:spPr>
          <a:xfrm>
            <a:off x="4297679" y="1783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53712" y="2039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2</a:t>
            </a:r>
          </a:p>
        </p:txBody>
      </p:sp>
      <p:sp>
        <p:nvSpPr>
          <p:cNvPr id="11" name="TextBox 10"/>
          <p:cNvSpPr txBox="1"/>
          <p:nvPr/>
        </p:nvSpPr>
        <p:spPr>
          <a:xfrm>
            <a:off x="5257799" y="2011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Spesifik, bukan umum</a:t>
            </a:r>
          </a:p>
        </p:txBody>
      </p:sp>
      <p:sp>
        <p:nvSpPr>
          <p:cNvPr id="12" name="TextBox 11"/>
          <p:cNvSpPr txBox="1"/>
          <p:nvPr/>
        </p:nvSpPr>
        <p:spPr>
          <a:xfrm>
            <a:off x="4571999" y="2788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Sebut kamera, cahaya, lensa, durasi. Hindari kata ‘bagus’ dan ‘estetik’.</a:t>
            </a:r>
          </a:p>
        </p:txBody>
      </p:sp>
      <p:sp>
        <p:nvSpPr>
          <p:cNvPr id="13" name="Rounded Rectangle 12"/>
          <p:cNvSpPr/>
          <p:nvPr/>
        </p:nvSpPr>
        <p:spPr>
          <a:xfrm>
            <a:off x="8046719" y="1783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02751" y="2039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3</a:t>
            </a:r>
          </a:p>
        </p:txBody>
      </p:sp>
      <p:sp>
        <p:nvSpPr>
          <p:cNvPr id="15" name="TextBox 14"/>
          <p:cNvSpPr txBox="1"/>
          <p:nvPr/>
        </p:nvSpPr>
        <p:spPr>
          <a:xfrm>
            <a:off x="9006840" y="2011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Selalu cek</a:t>
            </a:r>
          </a:p>
        </p:txBody>
      </p:sp>
      <p:sp>
        <p:nvSpPr>
          <p:cNvPr id="16" name="TextBox 15"/>
          <p:cNvSpPr txBox="1"/>
          <p:nvPr/>
        </p:nvSpPr>
        <p:spPr>
          <a:xfrm>
            <a:off x="8321040" y="2788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AI menebak. Periksa fakta, wajah, teks dan logo setiap kali.</a:t>
            </a:r>
          </a:p>
        </p:txBody>
      </p:sp>
      <p:sp>
        <p:nvSpPr>
          <p:cNvPr id="17" name="Rounded Rectangle 16"/>
          <p:cNvSpPr/>
          <p:nvPr/>
        </p:nvSpPr>
        <p:spPr>
          <a:xfrm>
            <a:off x="548640" y="4069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04672" y="4325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4</a:t>
            </a:r>
          </a:p>
        </p:txBody>
      </p:sp>
      <p:sp>
        <p:nvSpPr>
          <p:cNvPr id="19" name="TextBox 18"/>
          <p:cNvSpPr txBox="1"/>
          <p:nvPr/>
        </p:nvSpPr>
        <p:spPr>
          <a:xfrm>
            <a:off x="1508760" y="4297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Ulangi di tahap murah</a:t>
            </a:r>
          </a:p>
        </p:txBody>
      </p:sp>
      <p:sp>
        <p:nvSpPr>
          <p:cNvPr id="20" name="TextBox 19"/>
          <p:cNvSpPr txBox="1"/>
          <p:nvPr/>
        </p:nvSpPr>
        <p:spPr>
          <a:xfrm>
            <a:off x="822959" y="5074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Perbaiki di gambar, bukan di video.</a:t>
            </a:r>
          </a:p>
        </p:txBody>
      </p:sp>
      <p:sp>
        <p:nvSpPr>
          <p:cNvPr id="21" name="Rounded Rectangle 20"/>
          <p:cNvSpPr/>
          <p:nvPr/>
        </p:nvSpPr>
        <p:spPr>
          <a:xfrm>
            <a:off x="4297679" y="4069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553712" y="4325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5</a:t>
            </a:r>
          </a:p>
        </p:txBody>
      </p:sp>
      <p:sp>
        <p:nvSpPr>
          <p:cNvPr id="23" name="TextBox 22"/>
          <p:cNvSpPr txBox="1"/>
          <p:nvPr/>
        </p:nvSpPr>
        <p:spPr>
          <a:xfrm>
            <a:off x="5257799" y="4297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Satu perubahan sekali coba</a:t>
            </a:r>
          </a:p>
        </p:txBody>
      </p:sp>
      <p:sp>
        <p:nvSpPr>
          <p:cNvPr id="24" name="TextBox 23"/>
          <p:cNvSpPr txBox="1"/>
          <p:nvPr/>
        </p:nvSpPr>
        <p:spPr>
          <a:xfrm>
            <a:off x="4571999" y="5074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Supaya kamu tahu apa yang membuat hasil lebih baik.</a:t>
            </a:r>
          </a:p>
        </p:txBody>
      </p:sp>
      <p:sp>
        <p:nvSpPr>
          <p:cNvPr id="25" name="Rounded Rectangle 24"/>
          <p:cNvSpPr/>
          <p:nvPr/>
        </p:nvSpPr>
        <p:spPr>
          <a:xfrm>
            <a:off x="8046719" y="4069080"/>
            <a:ext cx="3566160" cy="2103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302751" y="4325112"/>
            <a:ext cx="566928" cy="566928"/>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6</a:t>
            </a:r>
          </a:p>
        </p:txBody>
      </p:sp>
      <p:sp>
        <p:nvSpPr>
          <p:cNvPr id="27" name="TextBox 26"/>
          <p:cNvSpPr txBox="1"/>
          <p:nvPr/>
        </p:nvSpPr>
        <p:spPr>
          <a:xfrm>
            <a:off x="9006840" y="4297680"/>
            <a:ext cx="2468880" cy="685800"/>
          </a:xfrm>
          <a:prstGeom prst="rect">
            <a:avLst/>
          </a:prstGeom>
          <a:noFill/>
        </p:spPr>
        <p:txBody>
          <a:bodyPr wrap="square" lIns="0" rIns="0" tIns="0" bIns="0" anchor="ctr">
            <a:spAutoFit/>
          </a:bodyPr>
          <a:lstStyle/>
          <a:p>
            <a:pPr algn="l">
              <a:lnSpc>
                <a:spcPct val="100000"/>
              </a:lnSpc>
              <a:spcAft>
                <a:spcPts val="0"/>
              </a:spcAft>
            </a:pPr>
            <a:r>
              <a:rPr sz="2100" b="1">
                <a:solidFill>
                  <a:srgbClr val="16181D"/>
                </a:solidFill>
                <a:latin typeface="Arial"/>
              </a:rPr>
              <a:t>Kamu yang memutuskan</a:t>
            </a:r>
          </a:p>
        </p:txBody>
      </p:sp>
      <p:sp>
        <p:nvSpPr>
          <p:cNvPr id="28" name="TextBox 27"/>
          <p:cNvSpPr txBox="1"/>
          <p:nvPr/>
        </p:nvSpPr>
        <p:spPr>
          <a:xfrm>
            <a:off x="8321040" y="5074920"/>
            <a:ext cx="3063240" cy="1005840"/>
          </a:xfrm>
          <a:prstGeom prst="rect">
            <a:avLst/>
          </a:prstGeom>
          <a:noFill/>
        </p:spPr>
        <p:txBody>
          <a:bodyPr wrap="square" lIns="0" rIns="0" tIns="0" bIns="0" anchor="t">
            <a:spAutoFit/>
          </a:bodyPr>
          <a:lstStyle/>
          <a:p>
            <a:pPr algn="l">
              <a:lnSpc>
                <a:spcPct val="112000"/>
              </a:lnSpc>
              <a:spcAft>
                <a:spcPts val="0"/>
              </a:spcAft>
            </a:pPr>
            <a:r>
              <a:rPr sz="1900" b="0">
                <a:solidFill>
                  <a:srgbClr val="3D424B"/>
                </a:solidFill>
                <a:latin typeface="Calibri"/>
              </a:rPr>
              <a:t>Selera, etika dan persetujuan tetap tugas manusia.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14</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Anatomi prompt yang baik</a:t>
            </a:r>
          </a:p>
        </p:txBody>
      </p:sp>
      <p:graphicFrame>
        <p:nvGraphicFramePr>
          <p:cNvPr id="5" name="Table 4"/>
          <p:cNvGraphicFramePr>
            <a:graphicFrameLocks noGrp="1"/>
          </p:cNvGraphicFramePr>
          <p:nvPr/>
        </p:nvGraphicFramePr>
        <p:xfrm>
          <a:off x="548640" y="1783080"/>
          <a:ext cx="7863840" cy="3291840"/>
        </p:xfrm>
        <a:graphic>
          <a:graphicData uri="http://schemas.openxmlformats.org/drawingml/2006/table">
            <a:tbl>
              <a:tblPr firstRow="1" bandRow="1">
                <a:tableStyleId>{5C22544A-7EE6-4342-B048-85BDC9FD1C3A}</a:tableStyleId>
              </a:tblPr>
              <a:tblGrid>
                <a:gridCol w="2011680"/>
                <a:gridCol w="5852160"/>
              </a:tblGrid>
              <a:tr h="548640">
                <a:tc>
                  <a:txBody>
                    <a:bodyPr wrap="square"/>
                    <a:lstStyle/>
                    <a:p>
                      <a:r>
                        <a:rPr sz="1900" b="1">
                          <a:solidFill>
                            <a:srgbClr val="16181D"/>
                          </a:solidFill>
                          <a:latin typeface="Calibri"/>
                        </a:rPr>
                        <a:t>Bagian</a:t>
                      </a:r>
                    </a:p>
                  </a:txBody>
                  <a:tcPr marL="128016" marR="128016" marT="64008" marB="64008" anchor="ctr">
                    <a:solidFill>
                      <a:srgbClr val="FF5A1F"/>
                    </a:solidFill>
                  </a:tcPr>
                </a:tc>
                <a:tc>
                  <a:txBody>
                    <a:bodyPr wrap="square"/>
                    <a:lstStyle/>
                    <a:p>
                      <a:r>
                        <a:rPr sz="1900" b="1">
                          <a:solidFill>
                            <a:srgbClr val="16181D"/>
                          </a:solidFill>
                          <a:latin typeface="Calibri"/>
                        </a:rPr>
                        <a:t>Isi (prompt asli, bahasa Inggris)</a:t>
                      </a:r>
                    </a:p>
                  </a:txBody>
                  <a:tcPr marL="128016" marR="128016" marT="64008" marB="64008" anchor="ctr">
                    <a:solidFill>
                      <a:srgbClr val="FF5A1F"/>
                    </a:solidFill>
                  </a:tcPr>
                </a:tc>
              </a:tr>
              <a:tr h="548640">
                <a:tc>
                  <a:txBody>
                    <a:bodyPr wrap="square"/>
                    <a:lstStyle/>
                    <a:p>
                      <a:r>
                        <a:rPr sz="1900" b="0">
                          <a:solidFill>
                            <a:srgbClr val="16181D"/>
                          </a:solidFill>
                          <a:latin typeface="Calibri"/>
                        </a:rPr>
                        <a:t>Tujuan</a:t>
                      </a:r>
                    </a:p>
                  </a:txBody>
                  <a:tcPr marL="128016" marR="128016" marT="64008" marB="64008" anchor="ctr">
                    <a:solidFill>
                      <a:srgbClr val="FFFFFF"/>
                    </a:solidFill>
                  </a:tcPr>
                </a:tc>
                <a:tc>
                  <a:txBody>
                    <a:bodyPr wrap="square"/>
                    <a:lstStyle/>
                    <a:p>
                      <a:r>
                        <a:rPr sz="1900" b="0">
                          <a:solidFill>
                            <a:srgbClr val="16181D"/>
                          </a:solidFill>
                          <a:latin typeface="Calibri"/>
                        </a:rPr>
                        <a:t>style frame, the house the reel sells</a:t>
                      </a:r>
                    </a:p>
                  </a:txBody>
                  <a:tcPr marL="128016" marR="128016" marT="64008" marB="64008" anchor="ctr">
                    <a:solidFill>
                      <a:srgbClr val="FFFFFF"/>
                    </a:solidFill>
                  </a:tcPr>
                </a:tc>
              </a:tr>
              <a:tr h="548640">
                <a:tc>
                  <a:txBody>
                    <a:bodyPr wrap="square"/>
                    <a:lstStyle/>
                    <a:p>
                      <a:r>
                        <a:rPr sz="1900" b="0">
                          <a:solidFill>
                            <a:srgbClr val="16181D"/>
                          </a:solidFill>
                          <a:latin typeface="Calibri"/>
                        </a:rPr>
                        <a:t>Adegan</a:t>
                      </a:r>
                    </a:p>
                  </a:txBody>
                  <a:tcPr marL="128016" marR="128016" marT="64008" marB="64008" anchor="ctr">
                    <a:solidFill>
                      <a:srgbClr val="F7F6F3"/>
                    </a:solidFill>
                  </a:tcPr>
                </a:tc>
                <a:tc>
                  <a:txBody>
                    <a:bodyPr wrap="square"/>
                    <a:lstStyle/>
                    <a:p>
                      <a:r>
                        <a:rPr sz="1900" b="0">
                          <a:solidFill>
                            <a:srgbClr val="16181D"/>
                          </a:solidFill>
                          <a:latin typeface="Calibri"/>
                        </a:rPr>
                        <a:t>one new two-storey modern townhouse, sunny afternoon</a:t>
                      </a:r>
                    </a:p>
                  </a:txBody>
                  <a:tcPr marL="128016" marR="128016" marT="64008" marB="64008" anchor="ctr">
                    <a:solidFill>
                      <a:srgbClr val="F7F6F3"/>
                    </a:solidFill>
                  </a:tcPr>
                </a:tc>
              </a:tr>
              <a:tr h="548640">
                <a:tc>
                  <a:txBody>
                    <a:bodyPr wrap="square"/>
                    <a:lstStyle/>
                    <a:p>
                      <a:r>
                        <a:rPr sz="1900" b="0">
                          <a:solidFill>
                            <a:srgbClr val="16181D"/>
                          </a:solidFill>
                          <a:latin typeface="Calibri"/>
                        </a:rPr>
                        <a:t>Komposisi</a:t>
                      </a:r>
                    </a:p>
                  </a:txBody>
                  <a:tcPr marL="128016" marR="128016" marT="64008" marB="64008" anchor="ctr">
                    <a:solidFill>
                      <a:srgbClr val="FFFFFF"/>
                    </a:solidFill>
                  </a:tcPr>
                </a:tc>
                <a:tc>
                  <a:txBody>
                    <a:bodyPr wrap="square"/>
                    <a:lstStyle/>
                    <a:p>
                      <a:r>
                        <a:rPr sz="1900" b="0">
                          <a:solidFill>
                            <a:srgbClr val="16181D"/>
                          </a:solidFill>
                          <a:latin typeface="Calibri"/>
                        </a:rPr>
                        <a:t>vertical 9:16, eye height 1.2 m, 24 mm, verticals straight</a:t>
                      </a:r>
                    </a:p>
                  </a:txBody>
                  <a:tcPr marL="128016" marR="128016" marT="64008" marB="64008" anchor="ctr">
                    <a:solidFill>
                      <a:srgbClr val="FFFFFF"/>
                    </a:solidFill>
                  </a:tcPr>
                </a:tc>
              </a:tr>
              <a:tr h="548640">
                <a:tc>
                  <a:txBody>
                    <a:bodyPr wrap="square"/>
                    <a:lstStyle/>
                    <a:p>
                      <a:r>
                        <a:rPr sz="1900" b="0">
                          <a:solidFill>
                            <a:srgbClr val="16181D"/>
                          </a:solidFill>
                          <a:latin typeface="Calibri"/>
                        </a:rPr>
                        <a:t>Cahaya</a:t>
                      </a:r>
                    </a:p>
                  </a:txBody>
                  <a:tcPr marL="128016" marR="128016" marT="64008" marB="64008" anchor="ctr">
                    <a:solidFill>
                      <a:srgbClr val="F7F6F3"/>
                    </a:solidFill>
                  </a:tcPr>
                </a:tc>
                <a:tc>
                  <a:txBody>
                    <a:bodyPr wrap="square"/>
                    <a:lstStyle/>
                    <a:p>
                      <a:r>
                        <a:rPr sz="1900" b="0">
                          <a:solidFill>
                            <a:srgbClr val="16181D"/>
                          </a:solidFill>
                          <a:latin typeface="Calibri"/>
                        </a:rPr>
                        <a:t>bright warm sun from camera left, clear blue sky</a:t>
                      </a:r>
                    </a:p>
                  </a:txBody>
                  <a:tcPr marL="128016" marR="128016" marT="64008" marB="64008" anchor="ctr">
                    <a:solidFill>
                      <a:srgbClr val="F7F6F3"/>
                    </a:solidFill>
                  </a:tcPr>
                </a:tc>
              </a:tr>
              <a:tr h="548640">
                <a:tc>
                  <a:txBody>
                    <a:bodyPr wrap="square"/>
                    <a:lstStyle/>
                    <a:p>
                      <a:r>
                        <a:rPr sz="1900" b="0">
                          <a:solidFill>
                            <a:srgbClr val="16181D"/>
                          </a:solidFill>
                          <a:latin typeface="Calibri"/>
                        </a:rPr>
                        <a:t>Batasan</a:t>
                      </a:r>
                    </a:p>
                  </a:txBody>
                  <a:tcPr marL="128016" marR="128016" marT="64008" marB="64008" anchor="ctr">
                    <a:solidFill>
                      <a:srgbClr val="FFFFFF"/>
                    </a:solidFill>
                  </a:tcPr>
                </a:tc>
                <a:tc>
                  <a:txBody>
                    <a:bodyPr wrap="square"/>
                    <a:lstStyle/>
                    <a:p>
                      <a:r>
                        <a:rPr sz="1900" b="0">
                          <a:solidFill>
                            <a:srgbClr val="16181D"/>
                          </a:solidFill>
                          <a:latin typeface="Calibri"/>
                        </a:rPr>
                        <a:t>no people, no text, no logos, not a render</a:t>
                      </a:r>
                    </a:p>
                  </a:txBody>
                  <a:tcPr marL="128016" marR="128016" marT="64008" marB="64008" anchor="ctr">
                    <a:solidFill>
                      <a:srgbClr val="FFFFFF"/>
                    </a:solidFill>
                  </a:tcPr>
                </a:tc>
              </a:tr>
            </a:tbl>
          </a:graphicData>
        </a:graphic>
      </p:graphicFrame>
      <p:sp>
        <p:nvSpPr>
          <p:cNvPr id="6" name="Rounded Rectangle 5"/>
          <p:cNvSpPr/>
          <p:nvPr/>
        </p:nvSpPr>
        <p:spPr>
          <a:xfrm>
            <a:off x="548640" y="5257800"/>
            <a:ext cx="7863840" cy="1005840"/>
          </a:xfrm>
          <a:prstGeom prst="roundRect">
            <a:avLst>
              <a:gd name="adj" fmla="val 15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257800"/>
            <a:ext cx="7315200" cy="1005840"/>
          </a:xfrm>
          <a:prstGeom prst="rect">
            <a:avLst/>
          </a:prstGeom>
          <a:noFill/>
        </p:spPr>
        <p:txBody>
          <a:bodyPr wrap="square" lIns="0" rIns="0" tIns="0" bIns="0" anchor="ctr">
            <a:spAutoFit/>
          </a:bodyPr>
          <a:lstStyle/>
          <a:p>
            <a:pPr algn="l">
              <a:lnSpc>
                <a:spcPct val="112000"/>
              </a:lnSpc>
              <a:spcAft>
                <a:spcPts val="0"/>
              </a:spcAft>
            </a:pPr>
            <a:r>
              <a:rPr sz="2000" b="0">
                <a:solidFill>
                  <a:srgbClr val="16181D"/>
                </a:solidFill>
                <a:latin typeface="Calibri"/>
              </a:rPr>
              <a:t>Prompt lemah: “rumah bagus, estetik, 4K”. Model harus menebak semuanya sendiri.</a:t>
            </a:r>
          </a:p>
        </p:txBody>
      </p:sp>
      <p:pic>
        <p:nvPicPr>
          <p:cNvPr id="8" name="Picture 7" descr="Look_Rumah_Depan.jpg"/>
          <p:cNvPicPr>
            <a:picLocks noChangeAspect="1"/>
          </p:cNvPicPr>
          <p:nvPr/>
        </p:nvPicPr>
        <p:blipFill>
          <a:blip r:embed="rId3"/>
          <a:srcRect t="4073" b="4073"/>
          <a:stretch>
            <a:fillRect/>
          </a:stretch>
        </p:blipFill>
        <p:spPr>
          <a:xfrm>
            <a:off x="8915400" y="1783080"/>
            <a:ext cx="2514600" cy="4114800"/>
          </a:xfrm>
          <a:prstGeom prst="roundRect">
            <a:avLst>
              <a:gd name="adj" fmla="val 6000"/>
            </a:avLst>
          </a:prstGeom>
        </p:spPr>
      </p:pic>
      <p:sp>
        <p:nvSpPr>
          <p:cNvPr id="9" name="TextBox 8"/>
          <p:cNvSpPr txBox="1"/>
          <p:nvPr/>
        </p:nvSpPr>
        <p:spPr>
          <a:xfrm>
            <a:off x="8915400" y="5943600"/>
            <a:ext cx="2697480" cy="36576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Hasil prompt lengkap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15</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Batas AI, dan cara kita mengakalinya</a:t>
            </a:r>
          </a:p>
        </p:txBody>
      </p:sp>
      <p:graphicFrame>
        <p:nvGraphicFramePr>
          <p:cNvPr id="5" name="Table 4"/>
          <p:cNvGraphicFramePr>
            <a:graphicFrameLocks noGrp="1"/>
          </p:cNvGraphicFramePr>
          <p:nvPr/>
        </p:nvGraphicFramePr>
        <p:xfrm>
          <a:off x="548640" y="1783080"/>
          <a:ext cx="11091672" cy="4279392"/>
        </p:xfrm>
        <a:graphic>
          <a:graphicData uri="http://schemas.openxmlformats.org/drawingml/2006/table">
            <a:tbl>
              <a:tblPr firstRow="1" bandRow="1">
                <a:tableStyleId>{5C22544A-7EE6-4342-B048-85BDC9FD1C3A}</a:tableStyleId>
              </a:tblPr>
              <a:tblGrid>
                <a:gridCol w="3017520"/>
                <a:gridCol w="3383280"/>
                <a:gridCol w="4690872"/>
              </a:tblGrid>
              <a:tr h="713232">
                <a:tc>
                  <a:txBody>
                    <a:bodyPr wrap="square"/>
                    <a:lstStyle/>
                    <a:p>
                      <a:r>
                        <a:rPr sz="2000" b="1">
                          <a:solidFill>
                            <a:srgbClr val="16181D"/>
                          </a:solidFill>
                          <a:latin typeface="Calibri"/>
                        </a:rPr>
                        <a:t>Kelemahan</a:t>
                      </a:r>
                    </a:p>
                  </a:txBody>
                  <a:tcPr marL="128016" marR="128016" marT="64008" marB="64008" anchor="ctr">
                    <a:solidFill>
                      <a:srgbClr val="FF5A1F"/>
                    </a:solidFill>
                  </a:tcPr>
                </a:tc>
                <a:tc>
                  <a:txBody>
                    <a:bodyPr wrap="square"/>
                    <a:lstStyle/>
                    <a:p>
                      <a:r>
                        <a:rPr sz="2000" b="1">
                          <a:solidFill>
                            <a:srgbClr val="16181D"/>
                          </a:solidFill>
                          <a:latin typeface="Calibri"/>
                        </a:rPr>
                        <a:t>Contoh</a:t>
                      </a:r>
                    </a:p>
                  </a:txBody>
                  <a:tcPr marL="128016" marR="128016" marT="64008" marB="64008" anchor="ctr">
                    <a:solidFill>
                      <a:srgbClr val="FF5A1F"/>
                    </a:solidFill>
                  </a:tcPr>
                </a:tc>
                <a:tc>
                  <a:txBody>
                    <a:bodyPr wrap="square"/>
                    <a:lstStyle/>
                    <a:p>
                      <a:r>
                        <a:rPr sz="2000" b="1">
                          <a:solidFill>
                            <a:srgbClr val="16181D"/>
                          </a:solidFill>
                          <a:latin typeface="Calibri"/>
                        </a:rPr>
                        <a:t>Cara kita</a:t>
                      </a:r>
                    </a:p>
                  </a:txBody>
                  <a:tcPr marL="128016" marR="128016" marT="64008" marB="64008" anchor="ctr">
                    <a:solidFill>
                      <a:srgbClr val="FF5A1F"/>
                    </a:solidFill>
                  </a:tcPr>
                </a:tc>
              </a:tr>
              <a:tr h="713232">
                <a:tc>
                  <a:txBody>
                    <a:bodyPr wrap="square"/>
                    <a:lstStyle/>
                    <a:p>
                      <a:r>
                        <a:rPr sz="2000" b="0">
                          <a:solidFill>
                            <a:srgbClr val="16181D"/>
                          </a:solidFill>
                          <a:latin typeface="Calibri"/>
                        </a:rPr>
                        <a:t>Wajah berubah antar shot</a:t>
                      </a:r>
                    </a:p>
                  </a:txBody>
                  <a:tcPr marL="128016" marR="128016" marT="64008" marB="64008" anchor="ctr">
                    <a:solidFill>
                      <a:srgbClr val="FFFFFF"/>
                    </a:solidFill>
                  </a:tcPr>
                </a:tc>
                <a:tc>
                  <a:txBody>
                    <a:bodyPr wrap="square"/>
                    <a:lstStyle/>
                    <a:p>
                      <a:r>
                        <a:rPr sz="2000" b="0">
                          <a:solidFill>
                            <a:srgbClr val="16181D"/>
                          </a:solidFill>
                          <a:latin typeface="Calibri"/>
                        </a:rPr>
                        <a:t>presenter terlihat seperti orang lain</a:t>
                      </a:r>
                    </a:p>
                  </a:txBody>
                  <a:tcPr marL="128016" marR="128016" marT="64008" marB="64008" anchor="ctr">
                    <a:solidFill>
                      <a:srgbClr val="FFFFFF"/>
                    </a:solidFill>
                  </a:tcPr>
                </a:tc>
                <a:tc>
                  <a:txBody>
                    <a:bodyPr wrap="square"/>
                    <a:lstStyle/>
                    <a:p>
                      <a:r>
                        <a:rPr sz="2000" b="0">
                          <a:solidFill>
                            <a:srgbClr val="16181D"/>
                          </a:solidFill>
                          <a:latin typeface="Calibri"/>
                        </a:rPr>
                        <a:t>lembar referensi karakter</a:t>
                      </a:r>
                    </a:p>
                  </a:txBody>
                  <a:tcPr marL="128016" marR="128016" marT="64008" marB="64008" anchor="ctr">
                    <a:solidFill>
                      <a:srgbClr val="FFFFFF"/>
                    </a:solidFill>
                  </a:tcPr>
                </a:tc>
              </a:tr>
              <a:tr h="713232">
                <a:tc>
                  <a:txBody>
                    <a:bodyPr wrap="square"/>
                    <a:lstStyle/>
                    <a:p>
                      <a:r>
                        <a:rPr sz="2000" b="0">
                          <a:solidFill>
                            <a:srgbClr val="16181D"/>
                          </a:solidFill>
                          <a:latin typeface="Calibri"/>
                        </a:rPr>
                        <a:t>Teks dan logo kacau</a:t>
                      </a:r>
                    </a:p>
                  </a:txBody>
                  <a:tcPr marL="128016" marR="128016" marT="64008" marB="64008" anchor="ctr">
                    <a:solidFill>
                      <a:srgbClr val="F7F6F3"/>
                    </a:solidFill>
                  </a:tcPr>
                </a:tc>
                <a:tc>
                  <a:txBody>
                    <a:bodyPr wrap="square"/>
                    <a:lstStyle/>
                    <a:p>
                      <a:r>
                        <a:rPr sz="2000" b="0">
                          <a:solidFill>
                            <a:srgbClr val="16181D"/>
                          </a:solidFill>
                          <a:latin typeface="Calibri"/>
                        </a:rPr>
                        <a:t>tulisan papan nama aneh</a:t>
                      </a:r>
                    </a:p>
                  </a:txBody>
                  <a:tcPr marL="128016" marR="128016" marT="64008" marB="64008" anchor="ctr">
                    <a:solidFill>
                      <a:srgbClr val="F7F6F3"/>
                    </a:solidFill>
                  </a:tcPr>
                </a:tc>
                <a:tc>
                  <a:txBody>
                    <a:bodyPr wrap="square"/>
                    <a:lstStyle/>
                    <a:p>
                      <a:r>
                        <a:rPr sz="2000" b="0">
                          <a:solidFill>
                            <a:srgbClr val="16181D"/>
                          </a:solidFill>
                          <a:latin typeface="Calibri"/>
                        </a:rPr>
                        <a:t>teks ditambahkan di edit</a:t>
                      </a:r>
                    </a:p>
                  </a:txBody>
                  <a:tcPr marL="128016" marR="128016" marT="64008" marB="64008" anchor="ctr">
                    <a:solidFill>
                      <a:srgbClr val="F7F6F3"/>
                    </a:solidFill>
                  </a:tcPr>
                </a:tc>
              </a:tr>
              <a:tr h="713232">
                <a:tc>
                  <a:txBody>
                    <a:bodyPr wrap="square"/>
                    <a:lstStyle/>
                    <a:p>
                      <a:r>
                        <a:rPr sz="2000" b="0">
                          <a:solidFill>
                            <a:srgbClr val="16181D"/>
                          </a:solidFill>
                          <a:latin typeface="Calibri"/>
                        </a:rPr>
                        <a:t>Bibir tidak sinkron</a:t>
                      </a:r>
                    </a:p>
                  </a:txBody>
                  <a:tcPr marL="128016" marR="128016" marT="64008" marB="64008" anchor="ctr">
                    <a:solidFill>
                      <a:srgbClr val="FFFFFF"/>
                    </a:solidFill>
                  </a:tcPr>
                </a:tc>
                <a:tc>
                  <a:txBody>
                    <a:bodyPr wrap="square"/>
                    <a:lstStyle/>
                    <a:p>
                      <a:r>
                        <a:rPr sz="2000" b="0">
                          <a:solidFill>
                            <a:srgbClr val="16181D"/>
                          </a:solidFill>
                          <a:latin typeface="Calibri"/>
                        </a:rPr>
                        <a:t>suara ditempel, bibir tidak cocok</a:t>
                      </a:r>
                    </a:p>
                  </a:txBody>
                  <a:tcPr marL="128016" marR="128016" marT="64008" marB="64008" anchor="ctr">
                    <a:solidFill>
                      <a:srgbClr val="FFFFFF"/>
                    </a:solidFill>
                  </a:tcPr>
                </a:tc>
                <a:tc>
                  <a:txBody>
                    <a:bodyPr wrap="square"/>
                    <a:lstStyle/>
                    <a:p>
                      <a:r>
                        <a:rPr sz="2000" b="0">
                          <a:solidFill>
                            <a:srgbClr val="16181D"/>
                          </a:solidFill>
                          <a:latin typeface="Calibri"/>
                        </a:rPr>
                        <a:t>narasi voice-over, mulut tertutup</a:t>
                      </a:r>
                    </a:p>
                  </a:txBody>
                  <a:tcPr marL="128016" marR="128016" marT="64008" marB="64008" anchor="ctr">
                    <a:solidFill>
                      <a:srgbClr val="FFFFFF"/>
                    </a:solidFill>
                  </a:tcPr>
                </a:tc>
              </a:tr>
              <a:tr h="713232">
                <a:tc>
                  <a:txBody>
                    <a:bodyPr wrap="square"/>
                    <a:lstStyle/>
                    <a:p>
                      <a:r>
                        <a:rPr sz="2000" b="0">
                          <a:solidFill>
                            <a:srgbClr val="16181D"/>
                          </a:solidFill>
                          <a:latin typeface="Calibri"/>
                        </a:rPr>
                        <a:t>Mengarang detail</a:t>
                      </a:r>
                    </a:p>
                  </a:txBody>
                  <a:tcPr marL="128016" marR="128016" marT="64008" marB="64008" anchor="ctr">
                    <a:solidFill>
                      <a:srgbClr val="F7F6F3"/>
                    </a:solidFill>
                  </a:tcPr>
                </a:tc>
                <a:tc>
                  <a:txBody>
                    <a:bodyPr wrap="square"/>
                    <a:lstStyle/>
                    <a:p>
                      <a:r>
                        <a:rPr sz="2000" b="0">
                          <a:solidFill>
                            <a:srgbClr val="16181D"/>
                          </a:solidFill>
                          <a:latin typeface="Calibri"/>
                        </a:rPr>
                        <a:t>jendela rumah berbeda</a:t>
                      </a:r>
                    </a:p>
                  </a:txBody>
                  <a:tcPr marL="128016" marR="128016" marT="64008" marB="64008" anchor="ctr">
                    <a:solidFill>
                      <a:srgbClr val="F7F6F3"/>
                    </a:solidFill>
                  </a:tcPr>
                </a:tc>
                <a:tc>
                  <a:txBody>
                    <a:bodyPr wrap="square"/>
                    <a:lstStyle/>
                    <a:p>
                      <a:r>
                        <a:rPr sz="2000" b="0">
                          <a:solidFill>
                            <a:srgbClr val="16181D"/>
                          </a:solidFill>
                          <a:latin typeface="Calibri"/>
                        </a:rPr>
                        <a:t>foto asli klien untuk produk</a:t>
                      </a:r>
                    </a:p>
                  </a:txBody>
                  <a:tcPr marL="128016" marR="128016" marT="64008" marB="64008" anchor="ctr">
                    <a:solidFill>
                      <a:srgbClr val="F7F6F3"/>
                    </a:solidFill>
                  </a:tcPr>
                </a:tc>
              </a:tr>
              <a:tr h="713232">
                <a:tc>
                  <a:txBody>
                    <a:bodyPr wrap="square"/>
                    <a:lstStyle/>
                    <a:p>
                      <a:r>
                        <a:rPr sz="2000" b="0">
                          <a:solidFill>
                            <a:srgbClr val="16181D"/>
                          </a:solidFill>
                          <a:latin typeface="Calibri"/>
                        </a:rPr>
                        <a:t>Gerakan panjang</a:t>
                      </a:r>
                    </a:p>
                  </a:txBody>
                  <a:tcPr marL="128016" marR="128016" marT="64008" marB="64008" anchor="ctr">
                    <a:solidFill>
                      <a:srgbClr val="FFFFFF"/>
                    </a:solidFill>
                  </a:tcPr>
                </a:tc>
                <a:tc>
                  <a:txBody>
                    <a:bodyPr wrap="square"/>
                    <a:lstStyle/>
                    <a:p>
                      <a:r>
                        <a:rPr sz="2000" b="0">
                          <a:solidFill>
                            <a:srgbClr val="16181D"/>
                          </a:solidFill>
                          <a:latin typeface="Calibri"/>
                        </a:rPr>
                        <a:t>benda berubah bentuk</a:t>
                      </a:r>
                    </a:p>
                  </a:txBody>
                  <a:tcPr marL="128016" marR="128016" marT="64008" marB="64008" anchor="ctr">
                    <a:solidFill>
                      <a:srgbClr val="FFFFFF"/>
                    </a:solidFill>
                  </a:tcPr>
                </a:tc>
                <a:tc>
                  <a:txBody>
                    <a:bodyPr wrap="square"/>
                    <a:lstStyle/>
                    <a:p>
                      <a:r>
                        <a:rPr sz="2000" b="0">
                          <a:solidFill>
                            <a:srgbClr val="16181D"/>
                          </a:solidFill>
                          <a:latin typeface="Calibri"/>
                        </a:rPr>
                        <a:t>klip pendek, satu gerakan kamera</a:t>
                      </a:r>
                    </a:p>
                  </a:txBody>
                  <a:tcPr marL="128016" marR="128016" marT="64008" marB="64008"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16</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1 · DASAR AI</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Jujur dan aman: aturan etika kita</a:t>
            </a:r>
          </a:p>
        </p:txBody>
      </p:sp>
      <p:sp>
        <p:nvSpPr>
          <p:cNvPr id="5" name="Oval 4"/>
          <p:cNvSpPr/>
          <p:nvPr/>
        </p:nvSpPr>
        <p:spPr>
          <a:xfrm>
            <a:off x="548640" y="1828800"/>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1</a:t>
            </a:r>
          </a:p>
        </p:txBody>
      </p:sp>
      <p:sp>
        <p:nvSpPr>
          <p:cNvPr id="6" name="TextBox 5"/>
          <p:cNvSpPr txBox="1"/>
          <p:nvPr/>
        </p:nvSpPr>
        <p:spPr>
          <a:xfrm>
            <a:off x="1325880" y="1783080"/>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Beri label: ‘ILUSTRASI RENCANA’ untuk rencana, dan jelaskan bila gambar dibuat AI.</a:t>
            </a:r>
          </a:p>
        </p:txBody>
      </p:sp>
      <p:sp>
        <p:nvSpPr>
          <p:cNvPr id="7" name="Oval 6"/>
          <p:cNvSpPr/>
          <p:nvPr/>
        </p:nvSpPr>
        <p:spPr>
          <a:xfrm>
            <a:off x="548640" y="2715768"/>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2</a:t>
            </a:r>
          </a:p>
        </p:txBody>
      </p:sp>
      <p:sp>
        <p:nvSpPr>
          <p:cNvPr id="8" name="TextBox 7"/>
          <p:cNvSpPr txBox="1"/>
          <p:nvPr/>
        </p:nvSpPr>
        <p:spPr>
          <a:xfrm>
            <a:off x="1325880" y="2670048"/>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Jangan palsukan produk: rumah yang dijual harus foto asli.</a:t>
            </a:r>
          </a:p>
        </p:txBody>
      </p:sp>
      <p:sp>
        <p:nvSpPr>
          <p:cNvPr id="9" name="Oval 8"/>
          <p:cNvSpPr/>
          <p:nvPr/>
        </p:nvSpPr>
        <p:spPr>
          <a:xfrm>
            <a:off x="548640" y="3602735"/>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3</a:t>
            </a:r>
          </a:p>
        </p:txBody>
      </p:sp>
      <p:sp>
        <p:nvSpPr>
          <p:cNvPr id="10" name="TextBox 9"/>
          <p:cNvSpPr txBox="1"/>
          <p:nvPr/>
        </p:nvSpPr>
        <p:spPr>
          <a:xfrm>
            <a:off x="1325880" y="3557015"/>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Hak cipta: pakai foto hanya dengan izin pemiliknya.</a:t>
            </a:r>
          </a:p>
        </p:txBody>
      </p:sp>
      <p:sp>
        <p:nvSpPr>
          <p:cNvPr id="11" name="Oval 10"/>
          <p:cNvSpPr/>
          <p:nvPr/>
        </p:nvSpPr>
        <p:spPr>
          <a:xfrm>
            <a:off x="548640" y="4489704"/>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4</a:t>
            </a:r>
          </a:p>
        </p:txBody>
      </p:sp>
      <p:sp>
        <p:nvSpPr>
          <p:cNvPr id="12" name="TextBox 11"/>
          <p:cNvSpPr txBox="1"/>
          <p:nvPr/>
        </p:nvSpPr>
        <p:spPr>
          <a:xfrm>
            <a:off x="1325880" y="4443984"/>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Wajah orang asli hanya dengan izin orangnya.</a:t>
            </a:r>
          </a:p>
        </p:txBody>
      </p:sp>
      <p:sp>
        <p:nvSpPr>
          <p:cNvPr id="13" name="Oval 12"/>
          <p:cNvSpPr/>
          <p:nvPr/>
        </p:nvSpPr>
        <p:spPr>
          <a:xfrm>
            <a:off x="548640" y="537667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16181D"/>
                </a:solidFill>
                <a:latin typeface="Arial"/>
              </a:rPr>
              <a:t>5</a:t>
            </a:r>
          </a:p>
        </p:txBody>
      </p:sp>
      <p:sp>
        <p:nvSpPr>
          <p:cNvPr id="14" name="TextBox 13"/>
          <p:cNvSpPr txBox="1"/>
          <p:nvPr/>
        </p:nvSpPr>
        <p:spPr>
          <a:xfrm>
            <a:off x="1325880" y="5330952"/>
            <a:ext cx="7223760" cy="685800"/>
          </a:xfrm>
          <a:prstGeom prst="rect">
            <a:avLst/>
          </a:prstGeom>
          <a:noFill/>
        </p:spPr>
        <p:txBody>
          <a:bodyPr wrap="square" lIns="0" rIns="0" tIns="0" bIns="0" anchor="ctr">
            <a:spAutoFit/>
          </a:bodyPr>
          <a:lstStyle/>
          <a:p>
            <a:pPr algn="l">
              <a:lnSpc>
                <a:spcPct val="112000"/>
              </a:lnSpc>
              <a:spcAft>
                <a:spcPts val="0"/>
              </a:spcAft>
            </a:pPr>
            <a:r>
              <a:rPr sz="2100" b="0">
                <a:solidFill>
                  <a:srgbClr val="16181D"/>
                </a:solidFill>
                <a:latin typeface="Calibri"/>
              </a:rPr>
              <a:t>Harga dan klaim selalu dicek, dengan catatan ‘S&amp;K berlaku’.</a:t>
            </a:r>
          </a:p>
        </p:txBody>
      </p:sp>
      <p:pic>
        <p:nvPicPr>
          <p:cNvPr id="15" name="Picture 14" descr="Rani_Portrait_Ref.jpg"/>
          <p:cNvPicPr>
            <a:picLocks noChangeAspect="1"/>
          </p:cNvPicPr>
          <p:nvPr/>
        </p:nvPicPr>
        <p:blipFill>
          <a:blip r:embed="rId3"/>
          <a:srcRect t="15" b="34"/>
          <a:stretch>
            <a:fillRect/>
          </a:stretch>
        </p:blipFill>
        <p:spPr>
          <a:xfrm>
            <a:off x="8915400" y="1783080"/>
            <a:ext cx="2697480" cy="3593592"/>
          </a:xfrm>
          <a:prstGeom prst="roundRect">
            <a:avLst>
              <a:gd name="adj" fmla="val 6000"/>
            </a:avLst>
          </a:prstGeom>
        </p:spPr>
      </p:pic>
      <p:sp>
        <p:nvSpPr>
          <p:cNvPr id="16" name="TextBox 15"/>
          <p:cNvSpPr txBox="1"/>
          <p:nvPr/>
        </p:nvSpPr>
        <p:spPr>
          <a:xfrm>
            <a:off x="8915400" y="5468112"/>
            <a:ext cx="2697480" cy="731520"/>
          </a:xfrm>
          <a:prstGeom prst="rect">
            <a:avLst/>
          </a:prstGeom>
          <a:noFill/>
        </p:spPr>
        <p:txBody>
          <a:bodyPr wrap="square" lIns="0" rIns="0" tIns="0" bIns="0" anchor="t">
            <a:spAutoFit/>
          </a:bodyPr>
          <a:lstStyle/>
          <a:p>
            <a:pPr algn="l">
              <a:lnSpc>
                <a:spcPct val="112000"/>
              </a:lnSpc>
              <a:spcAft>
                <a:spcPts val="0"/>
              </a:spcAft>
            </a:pPr>
            <a:r>
              <a:rPr sz="1600" b="0">
                <a:solidFill>
                  <a:srgbClr val="6B7079"/>
                </a:solidFill>
                <a:latin typeface="Calibri"/>
              </a:rPr>
              <a:t>Rani: presenter yang dibuat AI dari nol, bukan orang asli.</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5A1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17</a:t>
            </a:r>
          </a:p>
        </p:txBody>
      </p:sp>
      <p:sp>
        <p:nvSpPr>
          <p:cNvPr id="3" name="TextBox 2"/>
          <p:cNvSpPr txBox="1"/>
          <p:nvPr/>
        </p:nvSpPr>
        <p:spPr>
          <a:xfrm>
            <a:off x="548640" y="822960"/>
            <a:ext cx="11094415" cy="365760"/>
          </a:xfrm>
          <a:prstGeom prst="rect">
            <a:avLst/>
          </a:prstGeom>
          <a:noFill/>
        </p:spPr>
        <p:txBody>
          <a:bodyPr wrap="square" lIns="0" rIns="0" tIns="0" bIns="0" anchor="t">
            <a:spAutoFit/>
          </a:bodyPr>
          <a:lstStyle/>
          <a:p>
            <a:pPr algn="l">
              <a:lnSpc>
                <a:spcPct val="112000"/>
              </a:lnSpc>
              <a:spcAft>
                <a:spcPts val="0"/>
              </a:spcAft>
            </a:pPr>
            <a:r>
              <a:rPr sz="2000" b="1">
                <a:solidFill>
                  <a:srgbClr val="16181D"/>
                </a:solidFill>
                <a:latin typeface="Arial"/>
              </a:rPr>
              <a:t>RANGKUMAN BAGIAN 1</a:t>
            </a:r>
          </a:p>
        </p:txBody>
      </p:sp>
      <p:sp>
        <p:nvSpPr>
          <p:cNvPr id="4" name="Oval 3"/>
          <p:cNvSpPr/>
          <p:nvPr/>
        </p:nvSpPr>
        <p:spPr>
          <a:xfrm>
            <a:off x="548640" y="1737360"/>
            <a:ext cx="914400" cy="914400"/>
          </a:xfrm>
          <a:prstGeom prst="ellipse">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600" b="1">
                <a:solidFill>
                  <a:srgbClr val="FF5A1F"/>
                </a:solidFill>
                <a:latin typeface="Arial"/>
              </a:rPr>
              <a:t>1</a:t>
            </a:r>
          </a:p>
        </p:txBody>
      </p:sp>
      <p:sp>
        <p:nvSpPr>
          <p:cNvPr id="5" name="TextBox 4"/>
          <p:cNvSpPr txBox="1"/>
          <p:nvPr/>
        </p:nvSpPr>
        <p:spPr>
          <a:xfrm>
            <a:off x="1783080" y="1645920"/>
            <a:ext cx="9784080" cy="1097280"/>
          </a:xfrm>
          <a:prstGeom prst="rect">
            <a:avLst/>
          </a:prstGeom>
          <a:noFill/>
        </p:spPr>
        <p:txBody>
          <a:bodyPr wrap="square" lIns="0" rIns="0" tIns="0" bIns="0" anchor="ctr">
            <a:spAutoFit/>
          </a:bodyPr>
          <a:lstStyle/>
          <a:p>
            <a:pPr algn="l">
              <a:lnSpc>
                <a:spcPct val="100000"/>
              </a:lnSpc>
              <a:spcAft>
                <a:spcPts val="0"/>
              </a:spcAft>
            </a:pPr>
            <a:r>
              <a:rPr sz="3600" b="1">
                <a:solidFill>
                  <a:srgbClr val="16181D"/>
                </a:solidFill>
                <a:latin typeface="Arial"/>
              </a:rPr>
              <a:t>AI belajar pola dari contoh.</a:t>
            </a:r>
          </a:p>
        </p:txBody>
      </p:sp>
      <p:sp>
        <p:nvSpPr>
          <p:cNvPr id="6" name="Oval 5"/>
          <p:cNvSpPr/>
          <p:nvPr/>
        </p:nvSpPr>
        <p:spPr>
          <a:xfrm>
            <a:off x="548640" y="3246120"/>
            <a:ext cx="914400" cy="914400"/>
          </a:xfrm>
          <a:prstGeom prst="ellipse">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600" b="1">
                <a:solidFill>
                  <a:srgbClr val="FF5A1F"/>
                </a:solidFill>
                <a:latin typeface="Arial"/>
              </a:rPr>
              <a:t>2</a:t>
            </a:r>
          </a:p>
        </p:txBody>
      </p:sp>
      <p:sp>
        <p:nvSpPr>
          <p:cNvPr id="7" name="TextBox 6"/>
          <p:cNvSpPr txBox="1"/>
          <p:nvPr/>
        </p:nvSpPr>
        <p:spPr>
          <a:xfrm>
            <a:off x="1783080" y="3154680"/>
            <a:ext cx="9784080" cy="1097280"/>
          </a:xfrm>
          <a:prstGeom prst="rect">
            <a:avLst/>
          </a:prstGeom>
          <a:noFill/>
        </p:spPr>
        <p:txBody>
          <a:bodyPr wrap="square" lIns="0" rIns="0" tIns="0" bIns="0" anchor="ctr">
            <a:spAutoFit/>
          </a:bodyPr>
          <a:lstStyle/>
          <a:p>
            <a:pPr algn="l">
              <a:lnSpc>
                <a:spcPct val="100000"/>
              </a:lnSpc>
              <a:spcAft>
                <a:spcPts val="0"/>
              </a:spcAft>
            </a:pPr>
            <a:r>
              <a:rPr sz="3600" b="1">
                <a:solidFill>
                  <a:srgbClr val="16181D"/>
                </a:solidFill>
                <a:latin typeface="Arial"/>
              </a:rPr>
              <a:t>AI menebak yang paling masuk akal. Kamu yang mengecek.</a:t>
            </a:r>
          </a:p>
        </p:txBody>
      </p:sp>
      <p:sp>
        <p:nvSpPr>
          <p:cNvPr id="8" name="Oval 7"/>
          <p:cNvSpPr/>
          <p:nvPr/>
        </p:nvSpPr>
        <p:spPr>
          <a:xfrm>
            <a:off x="548640" y="4754879"/>
            <a:ext cx="914400" cy="914400"/>
          </a:xfrm>
          <a:prstGeom prst="ellipse">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600" b="1">
                <a:solidFill>
                  <a:srgbClr val="FF5A1F"/>
                </a:solidFill>
                <a:latin typeface="Arial"/>
              </a:rPr>
              <a:t>3</a:t>
            </a:r>
          </a:p>
        </p:txBody>
      </p:sp>
      <p:sp>
        <p:nvSpPr>
          <p:cNvPr id="9" name="TextBox 8"/>
          <p:cNvSpPr txBox="1"/>
          <p:nvPr/>
        </p:nvSpPr>
        <p:spPr>
          <a:xfrm>
            <a:off x="1783080" y="4663440"/>
            <a:ext cx="9784080" cy="1097280"/>
          </a:xfrm>
          <a:prstGeom prst="rect">
            <a:avLst/>
          </a:prstGeom>
          <a:noFill/>
        </p:spPr>
        <p:txBody>
          <a:bodyPr wrap="square" lIns="0" rIns="0" tIns="0" bIns="0" anchor="ctr">
            <a:spAutoFit/>
          </a:bodyPr>
          <a:lstStyle/>
          <a:p>
            <a:pPr algn="l">
              <a:lnSpc>
                <a:spcPct val="100000"/>
              </a:lnSpc>
              <a:spcAft>
                <a:spcPts val="0"/>
              </a:spcAft>
            </a:pPr>
            <a:r>
              <a:rPr sz="3600" b="1">
                <a:solidFill>
                  <a:srgbClr val="16181D"/>
                </a:solidFill>
                <a:latin typeface="Arial"/>
              </a:rPr>
              <a:t>Semakin jelas inputnya, semakin baik hasilnya.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18</a:t>
            </a:r>
          </a:p>
        </p:txBody>
      </p:sp>
      <p:sp>
        <p:nvSpPr>
          <p:cNvPr id="3" name="Oval 2"/>
          <p:cNvSpPr/>
          <p:nvPr/>
        </p:nvSpPr>
        <p:spPr>
          <a:xfrm>
            <a:off x="548640" y="1280160"/>
            <a:ext cx="1188720" cy="118872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16181D"/>
                </a:solidFill>
                <a:latin typeface="Arial"/>
              </a:rPr>
              <a:t>2</a:t>
            </a:r>
          </a:p>
        </p:txBody>
      </p:sp>
      <p:sp>
        <p:nvSpPr>
          <p:cNvPr id="4" name="TextBox 3"/>
          <p:cNvSpPr txBox="1"/>
          <p:nvPr/>
        </p:nvSpPr>
        <p:spPr>
          <a:xfrm>
            <a:off x="548640" y="2743200"/>
            <a:ext cx="10515600"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BAGIAN 2</a:t>
            </a:r>
          </a:p>
        </p:txBody>
      </p:sp>
      <p:sp>
        <p:nvSpPr>
          <p:cNvPr id="5" name="TextBox 4"/>
          <p:cNvSpPr txBox="1"/>
          <p:nvPr/>
        </p:nvSpPr>
        <p:spPr>
          <a:xfrm>
            <a:off x="548640" y="3200400"/>
            <a:ext cx="10789920" cy="1828800"/>
          </a:xfrm>
          <a:prstGeom prst="rect">
            <a:avLst/>
          </a:prstGeom>
          <a:noFill/>
        </p:spPr>
        <p:txBody>
          <a:bodyPr wrap="square" lIns="0" rIns="0" tIns="0" bIns="0" anchor="t">
            <a:spAutoFit/>
          </a:bodyPr>
          <a:lstStyle/>
          <a:p>
            <a:pPr algn="l">
              <a:lnSpc>
                <a:spcPct val="95000"/>
              </a:lnSpc>
              <a:spcAft>
                <a:spcPts val="0"/>
              </a:spcAft>
            </a:pPr>
            <a:r>
              <a:rPr sz="5400" b="1">
                <a:solidFill>
                  <a:srgbClr val="FFFFFF"/>
                </a:solidFill>
                <a:latin typeface="Arial"/>
              </a:rPr>
              <a:t>Praktik: dari brief ke reel</a:t>
            </a:r>
          </a:p>
        </p:txBody>
      </p:sp>
      <p:sp>
        <p:nvSpPr>
          <p:cNvPr id="6" name="TextBox 5"/>
          <p:cNvSpPr txBox="1"/>
          <p:nvPr/>
        </p:nvSpPr>
        <p:spPr>
          <a:xfrm>
            <a:off x="548640" y="4343400"/>
            <a:ext cx="9601200" cy="914400"/>
          </a:xfrm>
          <a:prstGeom prst="rect">
            <a:avLst/>
          </a:prstGeom>
          <a:noFill/>
        </p:spPr>
        <p:txBody>
          <a:bodyPr wrap="square" lIns="0" rIns="0" tIns="0" bIns="0" anchor="t">
            <a:spAutoFit/>
          </a:bodyPr>
          <a:lstStyle/>
          <a:p>
            <a:pPr algn="l">
              <a:lnSpc>
                <a:spcPct val="112000"/>
              </a:lnSpc>
              <a:spcAft>
                <a:spcPts val="0"/>
              </a:spcAft>
            </a:pPr>
            <a:r>
              <a:rPr sz="2400" b="0">
                <a:solidFill>
                  <a:srgbClr val="D3CEC5"/>
                </a:solidFill>
                <a:latin typeface="Calibri"/>
              </a:rPr>
              <a:t>Contoh reel ‘Tebak Harga’: tujuh tahap, tiga gerbang.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5A1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19</a:t>
            </a:r>
          </a:p>
        </p:txBody>
      </p:sp>
      <p:sp>
        <p:nvSpPr>
          <p:cNvPr id="3" name="TextBox 2"/>
          <p:cNvSpPr txBox="1"/>
          <p:nvPr/>
        </p:nvSpPr>
        <p:spPr>
          <a:xfrm>
            <a:off x="548640" y="822960"/>
            <a:ext cx="11094415" cy="365760"/>
          </a:xfrm>
          <a:prstGeom prst="rect">
            <a:avLst/>
          </a:prstGeom>
          <a:noFill/>
        </p:spPr>
        <p:txBody>
          <a:bodyPr wrap="square" lIns="0" rIns="0" tIns="0" bIns="0" anchor="t">
            <a:spAutoFit/>
          </a:bodyPr>
          <a:lstStyle/>
          <a:p>
            <a:pPr algn="l">
              <a:lnSpc>
                <a:spcPct val="112000"/>
              </a:lnSpc>
              <a:spcAft>
                <a:spcPts val="0"/>
              </a:spcAft>
            </a:pPr>
            <a:r>
              <a:rPr sz="2000" b="1">
                <a:solidFill>
                  <a:srgbClr val="16181D"/>
                </a:solidFill>
                <a:latin typeface="Arial"/>
              </a:rPr>
              <a:t>ATURAN EMAS</a:t>
            </a:r>
          </a:p>
        </p:txBody>
      </p:sp>
      <p:sp>
        <p:nvSpPr>
          <p:cNvPr id="4" name="TextBox 3"/>
          <p:cNvSpPr txBox="1"/>
          <p:nvPr/>
        </p:nvSpPr>
        <p:spPr>
          <a:xfrm>
            <a:off x="548640" y="1325880"/>
            <a:ext cx="11094415" cy="1737360"/>
          </a:xfrm>
          <a:prstGeom prst="rect">
            <a:avLst/>
          </a:prstGeom>
          <a:noFill/>
        </p:spPr>
        <p:txBody>
          <a:bodyPr wrap="square" lIns="0" rIns="0" tIns="0" bIns="0" anchor="t">
            <a:spAutoFit/>
          </a:bodyPr>
          <a:lstStyle/>
          <a:p>
            <a:pPr algn="l">
              <a:lnSpc>
                <a:spcPct val="95000"/>
              </a:lnSpc>
              <a:spcAft>
                <a:spcPts val="0"/>
              </a:spcAft>
            </a:pPr>
            <a:r>
              <a:rPr sz="6000" b="1">
                <a:solidFill>
                  <a:srgbClr val="16181D"/>
                </a:solidFill>
                <a:latin typeface="Arial"/>
              </a:rPr>
              <a:t>Gambar itu murah. Video itu mahal.</a:t>
            </a:r>
          </a:p>
        </p:txBody>
      </p:sp>
      <p:sp>
        <p:nvSpPr>
          <p:cNvPr id="5" name="TextBox 4"/>
          <p:cNvSpPr txBox="1"/>
          <p:nvPr/>
        </p:nvSpPr>
        <p:spPr>
          <a:xfrm>
            <a:off x="548640" y="3200400"/>
            <a:ext cx="4480560" cy="914400"/>
          </a:xfrm>
          <a:prstGeom prst="rect">
            <a:avLst/>
          </a:prstGeom>
          <a:noFill/>
        </p:spPr>
        <p:txBody>
          <a:bodyPr wrap="square" lIns="0" rIns="0" tIns="0" bIns="0" anchor="t">
            <a:spAutoFit/>
          </a:bodyPr>
          <a:lstStyle/>
          <a:p>
            <a:pPr algn="l">
              <a:lnSpc>
                <a:spcPct val="112000"/>
              </a:lnSpc>
              <a:spcAft>
                <a:spcPts val="0"/>
              </a:spcAft>
            </a:pPr>
            <a:r>
              <a:rPr sz="6000" b="1">
                <a:solidFill>
                  <a:srgbClr val="16181D"/>
                </a:solidFill>
                <a:latin typeface="Arial"/>
              </a:rPr>
              <a:t>10 kredit</a:t>
            </a:r>
          </a:p>
        </p:txBody>
      </p:sp>
      <p:sp>
        <p:nvSpPr>
          <p:cNvPr id="6" name="TextBox 5"/>
          <p:cNvSpPr txBox="1"/>
          <p:nvPr/>
        </p:nvSpPr>
        <p:spPr>
          <a:xfrm>
            <a:off x="548640" y="4114800"/>
            <a:ext cx="4480560" cy="457200"/>
          </a:xfrm>
          <a:prstGeom prst="rect">
            <a:avLst/>
          </a:prstGeom>
          <a:noFill/>
        </p:spPr>
        <p:txBody>
          <a:bodyPr wrap="square" lIns="0" rIns="0" tIns="0" bIns="0" anchor="t">
            <a:spAutoFit/>
          </a:bodyPr>
          <a:lstStyle/>
          <a:p>
            <a:pPr algn="l">
              <a:lnSpc>
                <a:spcPct val="112000"/>
              </a:lnSpc>
              <a:spcAft>
                <a:spcPts val="0"/>
              </a:spcAft>
            </a:pPr>
            <a:r>
              <a:rPr sz="2400" b="0">
                <a:solidFill>
                  <a:srgbClr val="16181D"/>
                </a:solidFill>
                <a:latin typeface="Calibri"/>
              </a:rPr>
              <a:t>per gambar</a:t>
            </a:r>
          </a:p>
        </p:txBody>
      </p:sp>
      <p:sp>
        <p:nvSpPr>
          <p:cNvPr id="7" name="TextBox 6"/>
          <p:cNvSpPr txBox="1"/>
          <p:nvPr/>
        </p:nvSpPr>
        <p:spPr>
          <a:xfrm>
            <a:off x="5303520" y="3200400"/>
            <a:ext cx="4480560" cy="914400"/>
          </a:xfrm>
          <a:prstGeom prst="rect">
            <a:avLst/>
          </a:prstGeom>
          <a:noFill/>
        </p:spPr>
        <p:txBody>
          <a:bodyPr wrap="square" lIns="0" rIns="0" tIns="0" bIns="0" anchor="t">
            <a:spAutoFit/>
          </a:bodyPr>
          <a:lstStyle/>
          <a:p>
            <a:pPr algn="l">
              <a:lnSpc>
                <a:spcPct val="112000"/>
              </a:lnSpc>
              <a:spcAft>
                <a:spcPts val="0"/>
              </a:spcAft>
            </a:pPr>
            <a:r>
              <a:rPr sz="6000" b="1">
                <a:solidFill>
                  <a:srgbClr val="16181D"/>
                </a:solidFill>
                <a:latin typeface="Arial"/>
              </a:rPr>
              <a:t>35 kredit</a:t>
            </a:r>
          </a:p>
        </p:txBody>
      </p:sp>
      <p:sp>
        <p:nvSpPr>
          <p:cNvPr id="8" name="TextBox 7"/>
          <p:cNvSpPr txBox="1"/>
          <p:nvPr/>
        </p:nvSpPr>
        <p:spPr>
          <a:xfrm>
            <a:off x="5303520" y="4114800"/>
            <a:ext cx="4480560" cy="457200"/>
          </a:xfrm>
          <a:prstGeom prst="rect">
            <a:avLst/>
          </a:prstGeom>
          <a:noFill/>
        </p:spPr>
        <p:txBody>
          <a:bodyPr wrap="square" lIns="0" rIns="0" tIns="0" bIns="0" anchor="t">
            <a:spAutoFit/>
          </a:bodyPr>
          <a:lstStyle/>
          <a:p>
            <a:pPr algn="l">
              <a:lnSpc>
                <a:spcPct val="112000"/>
              </a:lnSpc>
              <a:spcAft>
                <a:spcPts val="0"/>
              </a:spcAft>
            </a:pPr>
            <a:r>
              <a:rPr sz="2400" b="0">
                <a:solidFill>
                  <a:srgbClr val="16181D"/>
                </a:solidFill>
                <a:latin typeface="Calibri"/>
              </a:rPr>
              <a:t>per klip video 8 detik</a:t>
            </a:r>
          </a:p>
        </p:txBody>
      </p:sp>
      <p:sp>
        <p:nvSpPr>
          <p:cNvPr id="9" name="TextBox 8"/>
          <p:cNvSpPr txBox="1"/>
          <p:nvPr/>
        </p:nvSpPr>
        <p:spPr>
          <a:xfrm>
            <a:off x="548640" y="5074920"/>
            <a:ext cx="11094415" cy="914400"/>
          </a:xfrm>
          <a:prstGeom prst="rect">
            <a:avLst/>
          </a:prstGeom>
          <a:noFill/>
        </p:spPr>
        <p:txBody>
          <a:bodyPr wrap="square" lIns="0" rIns="0" tIns="0" bIns="0" anchor="t">
            <a:spAutoFit/>
          </a:bodyPr>
          <a:lstStyle/>
          <a:p>
            <a:pPr algn="l">
              <a:lnSpc>
                <a:spcPct val="112000"/>
              </a:lnSpc>
              <a:spcAft>
                <a:spcPts val="0"/>
              </a:spcAft>
            </a:pPr>
            <a:r>
              <a:rPr sz="2600" b="0">
                <a:solidFill>
                  <a:srgbClr val="16181D"/>
                </a:solidFill>
                <a:latin typeface="Calibri"/>
              </a:rPr>
              <a:t>Jadi seluruh reel disetujui sebagai gambar dulu. Baru setelah itu gambarnya dibuat bergerak.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20</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Tiga pemain, satu tim</a:t>
            </a:r>
          </a:p>
        </p:txBody>
      </p:sp>
      <p:sp>
        <p:nvSpPr>
          <p:cNvPr id="5" name="Rounded Rectangle 4"/>
          <p:cNvSpPr/>
          <p:nvPr/>
        </p:nvSpPr>
        <p:spPr>
          <a:xfrm>
            <a:off x="548640" y="1783080"/>
            <a:ext cx="3246120" cy="420624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1</a:t>
            </a:r>
          </a:p>
        </p:txBody>
      </p:sp>
      <p:sp>
        <p:nvSpPr>
          <p:cNvPr id="7" name="TextBox 6"/>
          <p:cNvSpPr txBox="1"/>
          <p:nvPr/>
        </p:nvSpPr>
        <p:spPr>
          <a:xfrm>
            <a:off x="868680" y="2926080"/>
            <a:ext cx="265176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Kamu</a:t>
            </a:r>
          </a:p>
        </p:txBody>
      </p:sp>
      <p:sp>
        <p:nvSpPr>
          <p:cNvPr id="8" name="TextBox 7"/>
          <p:cNvSpPr txBox="1"/>
          <p:nvPr/>
        </p:nvSpPr>
        <p:spPr>
          <a:xfrm>
            <a:off x="868680" y="3566160"/>
            <a:ext cx="2651760" cy="228600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Menulis brief, memilih hasil terbaik, dan menyetujui. Tidak perlu hafal perintah.</a:t>
            </a:r>
          </a:p>
        </p:txBody>
      </p:sp>
      <p:sp>
        <p:nvSpPr>
          <p:cNvPr id="9" name="Right Arrow 8"/>
          <p:cNvSpPr/>
          <p:nvPr/>
        </p:nvSpPr>
        <p:spPr>
          <a:xfrm>
            <a:off x="3840480" y="3730752"/>
            <a:ext cx="41148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97679" y="1783080"/>
            <a:ext cx="3246120" cy="420624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61771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2</a:t>
            </a:r>
          </a:p>
        </p:txBody>
      </p:sp>
      <p:sp>
        <p:nvSpPr>
          <p:cNvPr id="12" name="TextBox 11"/>
          <p:cNvSpPr txBox="1"/>
          <p:nvPr/>
        </p:nvSpPr>
        <p:spPr>
          <a:xfrm>
            <a:off x="4617719" y="2926080"/>
            <a:ext cx="265176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Agent AI</a:t>
            </a:r>
          </a:p>
        </p:txBody>
      </p:sp>
      <p:sp>
        <p:nvSpPr>
          <p:cNvPr id="13" name="TextBox 12"/>
          <p:cNvSpPr txBox="1"/>
          <p:nvPr/>
        </p:nvSpPr>
        <p:spPr>
          <a:xfrm>
            <a:off x="4617719" y="3566160"/>
            <a:ext cx="2651760" cy="228600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WorkBuddy + Expert AI Videographer, otaknya glm-5.3-flash. Menulis rencana dan prompt, menjalankan alat, lalu memeriksa.</a:t>
            </a:r>
          </a:p>
        </p:txBody>
      </p:sp>
      <p:sp>
        <p:nvSpPr>
          <p:cNvPr id="14" name="Right Arrow 13"/>
          <p:cNvSpPr/>
          <p:nvPr/>
        </p:nvSpPr>
        <p:spPr>
          <a:xfrm>
            <a:off x="7589519" y="3730752"/>
            <a:ext cx="41148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46719" y="1783080"/>
            <a:ext cx="3246120" cy="420624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36675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3</a:t>
            </a:r>
          </a:p>
        </p:txBody>
      </p:sp>
      <p:sp>
        <p:nvSpPr>
          <p:cNvPr id="17" name="TextBox 16"/>
          <p:cNvSpPr txBox="1"/>
          <p:nvPr/>
        </p:nvSpPr>
        <p:spPr>
          <a:xfrm>
            <a:off x="8366759" y="2926080"/>
            <a:ext cx="265176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Alat vg</a:t>
            </a:r>
          </a:p>
        </p:txBody>
      </p:sp>
      <p:sp>
        <p:nvSpPr>
          <p:cNvPr id="18" name="TextBox 17"/>
          <p:cNvSpPr txBox="1"/>
          <p:nvPr/>
        </p:nvSpPr>
        <p:spPr>
          <a:xfrm>
            <a:off x="8366759" y="3566160"/>
            <a:ext cx="2651760" cy="228600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Memanggil model, mencatat biaya, dan menolak video yang belum kamu setujui.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21</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Satu langkah sekali: vg next</a:t>
            </a:r>
          </a:p>
        </p:txBody>
      </p:sp>
      <p:sp>
        <p:nvSpPr>
          <p:cNvPr id="5" name="Rounded Rectangle 4"/>
          <p:cNvSpPr/>
          <p:nvPr/>
        </p:nvSpPr>
        <p:spPr>
          <a:xfrm>
            <a:off x="548640" y="1783080"/>
            <a:ext cx="6309360" cy="4526280"/>
          </a:xfrm>
          <a:prstGeom prst="roundRect">
            <a:avLst>
              <a:gd name="adj" fmla="val 6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5669280" cy="36576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CONTOH HASIL vg next</a:t>
            </a:r>
          </a:p>
        </p:txBody>
      </p:sp>
      <p:sp>
        <p:nvSpPr>
          <p:cNvPr id="7" name="TextBox 6"/>
          <p:cNvSpPr txBox="1"/>
          <p:nvPr/>
        </p:nvSpPr>
        <p:spPr>
          <a:xfrm>
            <a:off x="868680" y="2514600"/>
            <a:ext cx="5669280" cy="3657600"/>
          </a:xfrm>
          <a:prstGeom prst="rect">
            <a:avLst/>
          </a:prstGeom>
          <a:noFill/>
        </p:spPr>
        <p:txBody>
          <a:bodyPr wrap="square" lIns="0" rIns="0" tIns="0" bIns="0" anchor="t">
            <a:spAutoFit/>
          </a:bodyPr>
          <a:lstStyle/>
          <a:p>
            <a:pPr algn="l">
              <a:lnSpc>
                <a:spcPct val="110000"/>
              </a:lnSpc>
              <a:spcAft>
                <a:spcPts val="0"/>
              </a:spcAft>
            </a:pPr>
            <a:r>
              <a:rPr sz="1900" b="0">
                <a:solidFill>
                  <a:srgbClr val="FFFFFF"/>
                </a:solidFill>
                <a:latin typeface="Courier New"/>
              </a:rPr>
              <a:t>STAGE  look review</a:t>
            </a:r>
          </a:p>
          <a:p>
            <a:pPr algn="l">
              <a:lnSpc>
                <a:spcPct val="110000"/>
              </a:lnSpc>
              <a:spcAft>
                <a:spcPts val="0"/>
              </a:spcAft>
            </a:pPr>
            <a:r>
              <a:rPr sz="1900" b="0">
                <a:solidFill>
                  <a:srgbClr val="FFFFFF"/>
                </a:solidFill>
                <a:latin typeface="Courier New"/>
              </a:rPr>
              <a:t>RUN    vg review -p Aster --detach</a:t>
            </a:r>
          </a:p>
          <a:p>
            <a:pPr algn="l">
              <a:lnSpc>
                <a:spcPct val="110000"/>
              </a:lnSpc>
              <a:spcAft>
                <a:spcPts val="0"/>
              </a:spcAft>
            </a:pPr>
            <a:r>
              <a:rPr sz="1900" b="0">
                <a:solidFill>
                  <a:srgbClr val="FFFFFF"/>
                </a:solidFill>
                <a:latin typeface="Courier New"/>
              </a:rPr>
              <a:t>ASK    Kirim link. Minta klik</a:t>
            </a:r>
          </a:p>
          <a:p>
            <a:pPr algn="l">
              <a:lnSpc>
                <a:spcPct val="110000"/>
              </a:lnSpc>
              <a:spcAft>
                <a:spcPts val="0"/>
              </a:spcAft>
            </a:pPr>
            <a:r>
              <a:rPr sz="1900" b="0">
                <a:solidFill>
                  <a:srgbClr val="FFFFFF"/>
                </a:solidFill>
                <a:latin typeface="Courier New"/>
              </a:rPr>
              <a:t>       Approve look, atau tulis</a:t>
            </a:r>
          </a:p>
          <a:p>
            <a:pPr algn="l">
              <a:lnSpc>
                <a:spcPct val="110000"/>
              </a:lnSpc>
              <a:spcAft>
                <a:spcPts val="0"/>
              </a:spcAft>
            </a:pPr>
            <a:r>
              <a:rPr sz="1900" b="0">
                <a:solidFill>
                  <a:srgbClr val="FFFFFF"/>
                </a:solidFill>
                <a:latin typeface="Courier New"/>
              </a:rPr>
              <a:t>       catatan lalu klik Done.</a:t>
            </a:r>
          </a:p>
          <a:p>
            <a:pPr algn="l">
              <a:lnSpc>
                <a:spcPct val="110000"/>
              </a:lnSpc>
              <a:spcAft>
                <a:spcPts val="0"/>
              </a:spcAft>
            </a:pPr>
            <a:r>
              <a:rPr sz="1900" b="0">
                <a:solidFill>
                  <a:srgbClr val="FFFFFF"/>
                </a:solidFill>
                <a:latin typeface="Courier New"/>
              </a:rPr>
              <a:t>THEN   setelah dia bilang sudah:</a:t>
            </a:r>
          </a:p>
          <a:p>
            <a:pPr algn="l">
              <a:lnSpc>
                <a:spcPct val="110000"/>
              </a:lnSpc>
              <a:spcAft>
                <a:spcPts val="0"/>
              </a:spcAft>
            </a:pPr>
            <a:r>
              <a:rPr sz="1900" b="0">
                <a:solidFill>
                  <a:srgbClr val="FFFFFF"/>
                </a:solidFill>
                <a:latin typeface="Courier New"/>
              </a:rPr>
              <a:t>       vg next lagi</a:t>
            </a:r>
          </a:p>
        </p:txBody>
      </p:sp>
      <p:sp>
        <p:nvSpPr>
          <p:cNvPr id="8" name="TextBox 7"/>
          <p:cNvSpPr txBox="1"/>
          <p:nvPr/>
        </p:nvSpPr>
        <p:spPr>
          <a:xfrm>
            <a:off x="7132320" y="1828800"/>
            <a:ext cx="4507992" cy="4480560"/>
          </a:xfrm>
          <a:prstGeom prst="rect">
            <a:avLst/>
          </a:prstGeom>
          <a:noFill/>
        </p:spPr>
        <p:txBody>
          <a:bodyPr wrap="square" lIns="0" rIns="0" tIns="0" bIns="0" anchor="t">
            <a:spAutoFit/>
          </a:bodyPr>
          <a:lstStyle/>
          <a:p>
            <a:pPr algn="l">
              <a:lnSpc>
                <a:spcPct val="112000"/>
              </a:lnSpc>
              <a:spcAft>
                <a:spcPts val="1400"/>
              </a:spcAft>
            </a:pPr>
            <a:r>
              <a:rPr sz="2100" b="1">
                <a:solidFill>
                  <a:srgbClr val="3D424B"/>
                </a:solidFill>
                <a:latin typeface="Calibri"/>
              </a:rPr>
              <a:t>RUN</a:t>
            </a:r>
            <a:r>
              <a:rPr sz="2100" b="0">
                <a:solidFill>
                  <a:srgbClr val="3D424B"/>
                </a:solidFill>
                <a:latin typeface="Calibri"/>
              </a:rPr>
              <a:t>: jalankan perintah ini.</a:t>
            </a:r>
          </a:p>
          <a:p>
            <a:pPr algn="l">
              <a:lnSpc>
                <a:spcPct val="112000"/>
              </a:lnSpc>
              <a:spcAft>
                <a:spcPts val="1400"/>
              </a:spcAft>
            </a:pPr>
            <a:r>
              <a:rPr sz="2100" b="1">
                <a:solidFill>
                  <a:srgbClr val="3D424B"/>
                </a:solidFill>
                <a:latin typeface="Calibri"/>
              </a:rPr>
              <a:t>WRITE</a:t>
            </a:r>
            <a:r>
              <a:rPr sz="2100" b="0">
                <a:solidFill>
                  <a:srgbClr val="3D424B"/>
                </a:solidFill>
                <a:latin typeface="Calibri"/>
              </a:rPr>
              <a:t>: tulis file ini, baca skill-nya dulu.</a:t>
            </a:r>
          </a:p>
          <a:p>
            <a:pPr algn="l">
              <a:lnSpc>
                <a:spcPct val="112000"/>
              </a:lnSpc>
              <a:spcAft>
                <a:spcPts val="1400"/>
              </a:spcAft>
            </a:pPr>
            <a:r>
              <a:rPr sz="2100" b="1">
                <a:solidFill>
                  <a:srgbClr val="3D424B"/>
                </a:solidFill>
                <a:latin typeface="Calibri"/>
              </a:rPr>
              <a:t>ASK</a:t>
            </a:r>
            <a:r>
              <a:rPr sz="2100" b="0">
                <a:solidFill>
                  <a:srgbClr val="3D424B"/>
                </a:solidFill>
                <a:latin typeface="Calibri"/>
              </a:rPr>
              <a:t>: berhenti, tanya manusia, tunggu jawabannya.</a:t>
            </a:r>
          </a:p>
          <a:p>
            <a:pPr algn="l">
              <a:lnSpc>
                <a:spcPct val="112000"/>
              </a:lnSpc>
              <a:spcAft>
                <a:spcPts val="1400"/>
              </a:spcAft>
            </a:pPr>
            <a:r>
              <a:rPr sz="2100" b="1">
                <a:solidFill>
                  <a:srgbClr val="3D424B"/>
                </a:solidFill>
                <a:latin typeface="Calibri"/>
              </a:rPr>
              <a:t>DONE</a:t>
            </a:r>
            <a:r>
              <a:rPr sz="2100" b="0">
                <a:solidFill>
                  <a:srgbClr val="3D424B"/>
                </a:solidFill>
                <a:latin typeface="Calibri"/>
              </a:rPr>
              <a:t>: reel selesai.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22</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Alur kerja: 7 tahap, 3 gerbang</a:t>
            </a:r>
          </a:p>
        </p:txBody>
      </p:sp>
      <p:sp>
        <p:nvSpPr>
          <p:cNvPr id="5" name="Rounded Rectangle 4"/>
          <p:cNvSpPr/>
          <p:nvPr/>
        </p:nvSpPr>
        <p:spPr>
          <a:xfrm>
            <a:off x="548640"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1</a:t>
            </a:r>
          </a:p>
        </p:txBody>
      </p:sp>
      <p:sp>
        <p:nvSpPr>
          <p:cNvPr id="7" name="TextBox 6"/>
          <p:cNvSpPr txBox="1"/>
          <p:nvPr/>
        </p:nvSpPr>
        <p:spPr>
          <a:xfrm>
            <a:off x="7315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Brief dan shot list</a:t>
            </a:r>
          </a:p>
        </p:txBody>
      </p:sp>
      <p:sp>
        <p:nvSpPr>
          <p:cNvPr id="8" name="Rounded Rectangle 7"/>
          <p:cNvSpPr/>
          <p:nvPr/>
        </p:nvSpPr>
        <p:spPr>
          <a:xfrm>
            <a:off x="2148840" y="1783080"/>
            <a:ext cx="1463040" cy="310896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317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C2410C"/>
                </a:solidFill>
                <a:latin typeface="Arial"/>
              </a:rPr>
              <a:t>2</a:t>
            </a:r>
          </a:p>
        </p:txBody>
      </p:sp>
      <p:sp>
        <p:nvSpPr>
          <p:cNvPr id="10" name="TextBox 9"/>
          <p:cNvSpPr txBox="1"/>
          <p:nvPr/>
        </p:nvSpPr>
        <p:spPr>
          <a:xfrm>
            <a:off x="23317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Look</a:t>
            </a:r>
          </a:p>
        </p:txBody>
      </p:sp>
      <p:sp>
        <p:nvSpPr>
          <p:cNvPr id="11" name="Rounded Rectangle 10"/>
          <p:cNvSpPr/>
          <p:nvPr/>
        </p:nvSpPr>
        <p:spPr>
          <a:xfrm>
            <a:off x="2286000" y="4251960"/>
            <a:ext cx="1188720" cy="411480"/>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16181D"/>
                </a:solidFill>
                <a:latin typeface="Calibri"/>
              </a:rPr>
              <a:t>Gerbang 1</a:t>
            </a:r>
          </a:p>
        </p:txBody>
      </p:sp>
      <p:sp>
        <p:nvSpPr>
          <p:cNvPr id="12" name="Rounded Rectangle 11"/>
          <p:cNvSpPr/>
          <p:nvPr/>
        </p:nvSpPr>
        <p:spPr>
          <a:xfrm>
            <a:off x="3749039"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319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3</a:t>
            </a:r>
          </a:p>
        </p:txBody>
      </p:sp>
      <p:sp>
        <p:nvSpPr>
          <p:cNvPr id="14" name="TextBox 13"/>
          <p:cNvSpPr txBox="1"/>
          <p:nvPr/>
        </p:nvSpPr>
        <p:spPr>
          <a:xfrm>
            <a:off x="39319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Karakter dan frame</a:t>
            </a:r>
          </a:p>
        </p:txBody>
      </p:sp>
      <p:sp>
        <p:nvSpPr>
          <p:cNvPr id="15" name="Rounded Rectangle 14"/>
          <p:cNvSpPr/>
          <p:nvPr/>
        </p:nvSpPr>
        <p:spPr>
          <a:xfrm>
            <a:off x="5349240"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321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4</a:t>
            </a:r>
          </a:p>
        </p:txBody>
      </p:sp>
      <p:sp>
        <p:nvSpPr>
          <p:cNvPr id="17" name="TextBox 16"/>
          <p:cNvSpPr txBox="1"/>
          <p:nvPr/>
        </p:nvSpPr>
        <p:spPr>
          <a:xfrm>
            <a:off x="55321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Audio</a:t>
            </a:r>
          </a:p>
        </p:txBody>
      </p:sp>
      <p:sp>
        <p:nvSpPr>
          <p:cNvPr id="18" name="Rounded Rectangle 17"/>
          <p:cNvSpPr/>
          <p:nvPr/>
        </p:nvSpPr>
        <p:spPr>
          <a:xfrm>
            <a:off x="6949440" y="1783080"/>
            <a:ext cx="1463040" cy="310896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0"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C2410C"/>
                </a:solidFill>
                <a:latin typeface="Arial"/>
              </a:rPr>
              <a:t>5</a:t>
            </a:r>
          </a:p>
        </p:txBody>
      </p:sp>
      <p:sp>
        <p:nvSpPr>
          <p:cNvPr id="20" name="TextBox 19"/>
          <p:cNvSpPr txBox="1"/>
          <p:nvPr/>
        </p:nvSpPr>
        <p:spPr>
          <a:xfrm>
            <a:off x="7132320"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Animatic</a:t>
            </a:r>
          </a:p>
        </p:txBody>
      </p:sp>
      <p:sp>
        <p:nvSpPr>
          <p:cNvPr id="21" name="Rounded Rectangle 20"/>
          <p:cNvSpPr/>
          <p:nvPr/>
        </p:nvSpPr>
        <p:spPr>
          <a:xfrm>
            <a:off x="7086600" y="4251960"/>
            <a:ext cx="1188720" cy="411480"/>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16181D"/>
                </a:solidFill>
                <a:latin typeface="Calibri"/>
              </a:rPr>
              <a:t>Gerbang 2</a:t>
            </a:r>
          </a:p>
        </p:txBody>
      </p:sp>
      <p:sp>
        <p:nvSpPr>
          <p:cNvPr id="22" name="Rounded Rectangle 21"/>
          <p:cNvSpPr/>
          <p:nvPr/>
        </p:nvSpPr>
        <p:spPr>
          <a:xfrm>
            <a:off x="8549640" y="1783080"/>
            <a:ext cx="1463040" cy="3108960"/>
          </a:xfrm>
          <a:prstGeom prst="roundRect">
            <a:avLst>
              <a:gd name="adj" fmla="val 8000"/>
            </a:avLst>
          </a:prstGeom>
          <a:solidFill>
            <a:srgbClr val="FFFFFF"/>
          </a:solidFill>
          <a:ln w="12700">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32519"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C2410C"/>
                </a:solidFill>
                <a:latin typeface="Arial"/>
              </a:rPr>
              <a:t>6</a:t>
            </a:r>
          </a:p>
        </p:txBody>
      </p:sp>
      <p:sp>
        <p:nvSpPr>
          <p:cNvPr id="24" name="TextBox 23"/>
          <p:cNvSpPr txBox="1"/>
          <p:nvPr/>
        </p:nvSpPr>
        <p:spPr>
          <a:xfrm>
            <a:off x="8732519"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Video</a:t>
            </a:r>
          </a:p>
        </p:txBody>
      </p:sp>
      <p:sp>
        <p:nvSpPr>
          <p:cNvPr id="25" name="Rounded Rectangle 24"/>
          <p:cNvSpPr/>
          <p:nvPr/>
        </p:nvSpPr>
        <p:spPr>
          <a:xfrm>
            <a:off x="8686800" y="4251960"/>
            <a:ext cx="1188720" cy="411480"/>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a:lstStyle/>
          <a:p>
            <a:pPr algn="ctr"/>
            <a:r>
              <a:rPr sz="1500" b="1">
                <a:solidFill>
                  <a:srgbClr val="16181D"/>
                </a:solidFill>
                <a:latin typeface="Calibri"/>
              </a:rPr>
              <a:t>Gerbang 3</a:t>
            </a:r>
          </a:p>
        </p:txBody>
      </p:sp>
      <p:sp>
        <p:nvSpPr>
          <p:cNvPr id="26" name="Rounded Rectangle 25"/>
          <p:cNvSpPr/>
          <p:nvPr/>
        </p:nvSpPr>
        <p:spPr>
          <a:xfrm>
            <a:off x="10149840" y="1783080"/>
            <a:ext cx="1463040" cy="310896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32719" y="1965960"/>
            <a:ext cx="1188720" cy="822960"/>
          </a:xfrm>
          <a:prstGeom prst="rect">
            <a:avLst/>
          </a:prstGeom>
          <a:noFill/>
        </p:spPr>
        <p:txBody>
          <a:bodyPr wrap="square" lIns="0" rIns="0" tIns="0" bIns="0" anchor="t">
            <a:spAutoFit/>
          </a:bodyPr>
          <a:lstStyle/>
          <a:p>
            <a:pPr algn="l">
              <a:lnSpc>
                <a:spcPct val="112000"/>
              </a:lnSpc>
              <a:spcAft>
                <a:spcPts val="0"/>
              </a:spcAft>
            </a:pPr>
            <a:r>
              <a:rPr sz="4800" b="1">
                <a:solidFill>
                  <a:srgbClr val="16181D"/>
                </a:solidFill>
                <a:latin typeface="Arial"/>
              </a:rPr>
              <a:t>7</a:t>
            </a:r>
          </a:p>
        </p:txBody>
      </p:sp>
      <p:sp>
        <p:nvSpPr>
          <p:cNvPr id="28" name="TextBox 27"/>
          <p:cNvSpPr txBox="1"/>
          <p:nvPr/>
        </p:nvSpPr>
        <p:spPr>
          <a:xfrm>
            <a:off x="10332719" y="2834640"/>
            <a:ext cx="1143000" cy="1188720"/>
          </a:xfrm>
          <a:prstGeom prst="rect">
            <a:avLst/>
          </a:prstGeom>
          <a:noFill/>
        </p:spPr>
        <p:txBody>
          <a:bodyPr wrap="square" lIns="0" rIns="0" tIns="0" bIns="0" anchor="t">
            <a:spAutoFit/>
          </a:bodyPr>
          <a:lstStyle/>
          <a:p>
            <a:pPr algn="l">
              <a:lnSpc>
                <a:spcPct val="100000"/>
              </a:lnSpc>
              <a:spcAft>
                <a:spcPts val="0"/>
              </a:spcAft>
            </a:pPr>
            <a:r>
              <a:rPr sz="2000" b="1">
                <a:solidFill>
                  <a:srgbClr val="16181D"/>
                </a:solidFill>
                <a:latin typeface="Calibri"/>
              </a:rPr>
              <a:t>Edit final</a:t>
            </a:r>
          </a:p>
        </p:txBody>
      </p:sp>
      <p:sp>
        <p:nvSpPr>
          <p:cNvPr id="29" name="TextBox 28"/>
          <p:cNvSpPr txBox="1"/>
          <p:nvPr/>
        </p:nvSpPr>
        <p:spPr>
          <a:xfrm>
            <a:off x="548640" y="5257800"/>
            <a:ext cx="11094415" cy="914400"/>
          </a:xfrm>
          <a:prstGeom prst="rect">
            <a:avLst/>
          </a:prstGeom>
          <a:noFill/>
        </p:spPr>
        <p:txBody>
          <a:bodyPr wrap="square" lIns="0" rIns="0" tIns="0" bIns="0" anchor="t">
            <a:spAutoFit/>
          </a:bodyPr>
          <a:lstStyle/>
          <a:p>
            <a:pPr algn="l">
              <a:lnSpc>
                <a:spcPct val="112000"/>
              </a:lnSpc>
              <a:spcAft>
                <a:spcPts val="0"/>
              </a:spcAft>
            </a:pPr>
            <a:r>
              <a:rPr sz="2200" b="0">
                <a:solidFill>
                  <a:srgbClr val="16181D"/>
                </a:solidFill>
                <a:latin typeface="Calibri"/>
              </a:rPr>
              <a:t>Di setiap gerbang alat berhenti sampai </a:t>
            </a:r>
            <a:r>
              <a:rPr sz="2200" b="1">
                <a:solidFill>
                  <a:srgbClr val="16181D"/>
                </a:solidFill>
                <a:latin typeface="Calibri"/>
              </a:rPr>
              <a:t>kamu</a:t>
            </a:r>
            <a:r>
              <a:rPr sz="2200" b="0">
                <a:solidFill>
                  <a:srgbClr val="16181D"/>
                </a:solidFill>
                <a:latin typeface="Calibri"/>
              </a:rPr>
              <a:t> bilang setuju. Tanpa persetujuan, langkah berikutnya ditolak.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23</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FFFFFF"/>
                </a:solidFill>
                <a:latin typeface="Arial"/>
              </a:rPr>
              <a:t>Tiga gerbang yang menjaga uangmu</a:t>
            </a:r>
          </a:p>
        </p:txBody>
      </p:sp>
      <p:graphicFrame>
        <p:nvGraphicFramePr>
          <p:cNvPr id="5" name="Table 4"/>
          <p:cNvGraphicFramePr>
            <a:graphicFrameLocks noGrp="1"/>
          </p:cNvGraphicFramePr>
          <p:nvPr/>
        </p:nvGraphicFramePr>
        <p:xfrm>
          <a:off x="548640" y="1783080"/>
          <a:ext cx="11091672" cy="3108960"/>
        </p:xfrm>
        <a:graphic>
          <a:graphicData uri="http://schemas.openxmlformats.org/drawingml/2006/table">
            <a:tbl>
              <a:tblPr firstRow="1" bandRow="1">
                <a:tableStyleId>{5C22544A-7EE6-4342-B048-85BDC9FD1C3A}</a:tableStyleId>
              </a:tblPr>
              <a:tblGrid>
                <a:gridCol w="1920240"/>
                <a:gridCol w="3931920"/>
                <a:gridCol w="2468880"/>
                <a:gridCol w="2770632"/>
              </a:tblGrid>
              <a:tr h="777240">
                <a:tc>
                  <a:txBody>
                    <a:bodyPr wrap="square"/>
                    <a:lstStyle/>
                    <a:p>
                      <a:r>
                        <a:rPr sz="2000" b="1">
                          <a:solidFill>
                            <a:srgbClr val="16181D"/>
                          </a:solidFill>
                          <a:latin typeface="Calibri"/>
                        </a:rPr>
                        <a:t>Gerbang</a:t>
                      </a:r>
                    </a:p>
                  </a:txBody>
                  <a:tcPr marL="128016" marR="128016" marT="64008" marB="64008" anchor="ctr">
                    <a:solidFill>
                      <a:srgbClr val="FF5A1F"/>
                    </a:solidFill>
                  </a:tcPr>
                </a:tc>
                <a:tc>
                  <a:txBody>
                    <a:bodyPr wrap="square"/>
                    <a:lstStyle/>
                    <a:p>
                      <a:r>
                        <a:rPr sz="2000" b="1">
                          <a:solidFill>
                            <a:srgbClr val="16181D"/>
                          </a:solidFill>
                          <a:latin typeface="Calibri"/>
                        </a:rPr>
                        <a:t>Yang kamu periksa</a:t>
                      </a:r>
                    </a:p>
                  </a:txBody>
                  <a:tcPr marL="128016" marR="128016" marT="64008" marB="64008" anchor="ctr">
                    <a:solidFill>
                      <a:srgbClr val="FF5A1F"/>
                    </a:solidFill>
                  </a:tcPr>
                </a:tc>
                <a:tc>
                  <a:txBody>
                    <a:bodyPr wrap="square"/>
                    <a:lstStyle/>
                    <a:p>
                      <a:r>
                        <a:rPr sz="2000" b="1">
                          <a:solidFill>
                            <a:srgbClr val="16181D"/>
                          </a:solidFill>
                          <a:latin typeface="Calibri"/>
                        </a:rPr>
                        <a:t>Ditolak sebelum setuju</a:t>
                      </a:r>
                    </a:p>
                  </a:txBody>
                  <a:tcPr marL="128016" marR="128016" marT="64008" marB="64008" anchor="ctr">
                    <a:solidFill>
                      <a:srgbClr val="FF5A1F"/>
                    </a:solidFill>
                  </a:tcPr>
                </a:tc>
                <a:tc>
                  <a:txBody>
                    <a:bodyPr wrap="square"/>
                    <a:lstStyle/>
                    <a:p>
                      <a:r>
                        <a:rPr sz="2000" b="1">
                          <a:solidFill>
                            <a:srgbClr val="16181D"/>
                          </a:solidFill>
                          <a:latin typeface="Calibri"/>
                        </a:rPr>
                        <a:t>Cara setuju</a:t>
                      </a:r>
                    </a:p>
                  </a:txBody>
                  <a:tcPr marL="128016" marR="128016" marT="64008" marB="64008" anchor="ctr">
                    <a:solidFill>
                      <a:srgbClr val="FF5A1F"/>
                    </a:solidFill>
                  </a:tcPr>
                </a:tc>
              </a:tr>
              <a:tr h="777240">
                <a:tc>
                  <a:txBody>
                    <a:bodyPr wrap="square"/>
                    <a:lstStyle/>
                    <a:p>
                      <a:r>
                        <a:rPr sz="2000" b="0">
                          <a:solidFill>
                            <a:srgbClr val="FFFFFF"/>
                          </a:solidFill>
                          <a:latin typeface="Calibri"/>
                        </a:rPr>
                        <a:t>1 · Look</a:t>
                      </a:r>
                    </a:p>
                  </a:txBody>
                  <a:tcPr marL="128016" marR="128016" marT="64008" marB="64008" anchor="ctr">
                    <a:solidFill>
                      <a:srgbClr val="24272F"/>
                    </a:solidFill>
                  </a:tcPr>
                </a:tc>
                <a:tc>
                  <a:txBody>
                    <a:bodyPr wrap="square"/>
                    <a:lstStyle/>
                    <a:p>
                      <a:r>
                        <a:rPr sz="2000" b="0">
                          <a:solidFill>
                            <a:srgbClr val="FFFFFF"/>
                          </a:solidFill>
                          <a:latin typeface="Calibri"/>
                        </a:rPr>
                        <a:t>2–3 style frame: satu dunia, satu cahaya, satu grade</a:t>
                      </a:r>
                    </a:p>
                  </a:txBody>
                  <a:tcPr marL="128016" marR="128016" marT="64008" marB="64008" anchor="ctr">
                    <a:solidFill>
                      <a:srgbClr val="24272F"/>
                    </a:solidFill>
                  </a:tcPr>
                </a:tc>
                <a:tc>
                  <a:txBody>
                    <a:bodyPr wrap="square"/>
                    <a:lstStyle/>
                    <a:p>
                      <a:r>
                        <a:rPr sz="2000" b="0">
                          <a:solidFill>
                            <a:srgbClr val="FFFFFF"/>
                          </a:solidFill>
                          <a:latin typeface="Calibri"/>
                        </a:rPr>
                        <a:t>storyboard dan frame</a:t>
                      </a:r>
                    </a:p>
                  </a:txBody>
                  <a:tcPr marL="128016" marR="128016" marT="64008" marB="64008" anchor="ctr">
                    <a:solidFill>
                      <a:srgbClr val="24272F"/>
                    </a:solidFill>
                  </a:tcPr>
                </a:tc>
                <a:tc>
                  <a:txBody>
                    <a:bodyPr wrap="square"/>
                    <a:lstStyle/>
                    <a:p>
                      <a:r>
                        <a:rPr sz="2000" b="0">
                          <a:solidFill>
                            <a:srgbClr val="FFFFFF"/>
                          </a:solidFill>
                          <a:latin typeface="Calibri"/>
                        </a:rPr>
                        <a:t>klik Approve look</a:t>
                      </a:r>
                    </a:p>
                  </a:txBody>
                  <a:tcPr marL="128016" marR="128016" marT="64008" marB="64008" anchor="ctr">
                    <a:solidFill>
                      <a:srgbClr val="24272F"/>
                    </a:solidFill>
                  </a:tcPr>
                </a:tc>
              </a:tr>
              <a:tr h="777240">
                <a:tc>
                  <a:txBody>
                    <a:bodyPr wrap="square"/>
                    <a:lstStyle/>
                    <a:p>
                      <a:r>
                        <a:rPr sz="2000" b="0">
                          <a:solidFill>
                            <a:srgbClr val="FFFFFF"/>
                          </a:solidFill>
                          <a:latin typeface="Calibri"/>
                        </a:rPr>
                        <a:t>2 · Visual</a:t>
                      </a:r>
                    </a:p>
                  </a:txBody>
                  <a:tcPr marL="128016" marR="128016" marT="64008" marB="64008" anchor="ctr">
                    <a:solidFill>
                      <a:srgbClr val="16181D"/>
                    </a:solidFill>
                  </a:tcPr>
                </a:tc>
                <a:tc>
                  <a:txBody>
                    <a:bodyPr wrap="square"/>
                    <a:lstStyle/>
                    <a:p>
                      <a:r>
                        <a:rPr sz="2000" b="0">
                          <a:solidFill>
                            <a:srgbClr val="FFFFFF"/>
                          </a:solidFill>
                          <a:latin typeface="Calibri"/>
                        </a:rPr>
                        <a:t>seluruh reel sebagai gambar, dengan suara</a:t>
                      </a:r>
                    </a:p>
                  </a:txBody>
                  <a:tcPr marL="128016" marR="128016" marT="64008" marB="64008" anchor="ctr">
                    <a:solidFill>
                      <a:srgbClr val="16181D"/>
                    </a:solidFill>
                  </a:tcPr>
                </a:tc>
                <a:tc>
                  <a:txBody>
                    <a:bodyPr wrap="square"/>
                    <a:lstStyle/>
                    <a:p>
                      <a:r>
                        <a:rPr sz="2000" b="0">
                          <a:solidFill>
                            <a:srgbClr val="FFFFFF"/>
                          </a:solidFill>
                          <a:latin typeface="Calibri"/>
                        </a:rPr>
                        <a:t>semua video</a:t>
                      </a:r>
                    </a:p>
                  </a:txBody>
                  <a:tcPr marL="128016" marR="128016" marT="64008" marB="64008" anchor="ctr">
                    <a:solidFill>
                      <a:srgbClr val="16181D"/>
                    </a:solidFill>
                  </a:tcPr>
                </a:tc>
                <a:tc>
                  <a:txBody>
                    <a:bodyPr wrap="square"/>
                    <a:lstStyle/>
                    <a:p>
                      <a:r>
                        <a:rPr sz="2000" b="0">
                          <a:solidFill>
                            <a:srgbClr val="FFFFFF"/>
                          </a:solidFill>
                          <a:latin typeface="Calibri"/>
                        </a:rPr>
                        <a:t>klik Approve reel</a:t>
                      </a:r>
                    </a:p>
                  </a:txBody>
                  <a:tcPr marL="128016" marR="128016" marT="64008" marB="64008" anchor="ctr">
                    <a:solidFill>
                      <a:srgbClr val="16181D"/>
                    </a:solidFill>
                  </a:tcPr>
                </a:tc>
              </a:tr>
              <a:tr h="777240">
                <a:tc>
                  <a:txBody>
                    <a:bodyPr wrap="square"/>
                    <a:lstStyle/>
                    <a:p>
                      <a:r>
                        <a:rPr sz="2000" b="0">
                          <a:solidFill>
                            <a:srgbClr val="FFFFFF"/>
                          </a:solidFill>
                          <a:latin typeface="Calibri"/>
                        </a:rPr>
                        <a:t>3 · Video</a:t>
                      </a:r>
                    </a:p>
                  </a:txBody>
                  <a:tcPr marL="128016" marR="128016" marT="64008" marB="64008" anchor="ctr">
                    <a:solidFill>
                      <a:srgbClr val="24272F"/>
                    </a:solidFill>
                  </a:tcPr>
                </a:tc>
                <a:tc>
                  <a:txBody>
                    <a:bodyPr wrap="square"/>
                    <a:lstStyle/>
                    <a:p>
                      <a:r>
                        <a:rPr sz="2000" b="0">
                          <a:solidFill>
                            <a:srgbClr val="FFFFFF"/>
                          </a:solidFill>
                          <a:latin typeface="Calibri"/>
                        </a:rPr>
                        <a:t>biaya per klip, mulai dari 1 klip pilot</a:t>
                      </a:r>
                    </a:p>
                  </a:txBody>
                  <a:tcPr marL="128016" marR="128016" marT="64008" marB="64008" anchor="ctr">
                    <a:solidFill>
                      <a:srgbClr val="24272F"/>
                    </a:solidFill>
                  </a:tcPr>
                </a:tc>
                <a:tc>
                  <a:txBody>
                    <a:bodyPr wrap="square"/>
                    <a:lstStyle/>
                    <a:p>
                      <a:r>
                        <a:rPr sz="2000" b="0">
                          <a:solidFill>
                            <a:srgbClr val="FFFFFF"/>
                          </a:solidFill>
                          <a:latin typeface="Calibri"/>
                        </a:rPr>
                        <a:t>pengiriman klip</a:t>
                      </a:r>
                    </a:p>
                  </a:txBody>
                  <a:tcPr marL="128016" marR="128016" marT="64008" marB="64008" anchor="ctr">
                    <a:solidFill>
                      <a:srgbClr val="24272F"/>
                    </a:solidFill>
                  </a:tcPr>
                </a:tc>
                <a:tc>
                  <a:txBody>
                    <a:bodyPr wrap="square"/>
                    <a:lstStyle/>
                    <a:p>
                      <a:r>
                        <a:rPr sz="2000" b="0">
                          <a:solidFill>
                            <a:srgbClr val="FFFFFF"/>
                          </a:solidFill>
                          <a:latin typeface="Calibri"/>
                        </a:rPr>
                        <a:t>klik Approve per klip</a:t>
                      </a:r>
                    </a:p>
                  </a:txBody>
                  <a:tcPr marL="128016" marR="128016" marT="64008" marB="64008" anchor="ctr">
                    <a:solidFill>
                      <a:srgbClr val="24272F"/>
                    </a:solidFill>
                  </a:tcPr>
                </a:tc>
              </a:tr>
            </a:tbl>
          </a:graphicData>
        </a:graphic>
      </p:graphicFrame>
      <p:sp>
        <p:nvSpPr>
          <p:cNvPr id="6" name="TextBox 5"/>
          <p:cNvSpPr txBox="1"/>
          <p:nvPr/>
        </p:nvSpPr>
        <p:spPr>
          <a:xfrm>
            <a:off x="548640" y="5166360"/>
            <a:ext cx="11094415" cy="1097280"/>
          </a:xfrm>
          <a:prstGeom prst="rect">
            <a:avLst/>
          </a:prstGeom>
          <a:noFill/>
        </p:spPr>
        <p:txBody>
          <a:bodyPr wrap="square" lIns="0" rIns="0" tIns="0" bIns="0" anchor="t">
            <a:spAutoFit/>
          </a:bodyPr>
          <a:lstStyle/>
          <a:p>
            <a:pPr algn="l">
              <a:lnSpc>
                <a:spcPct val="112000"/>
              </a:lnSpc>
              <a:spcAft>
                <a:spcPts val="0"/>
              </a:spcAft>
            </a:pPr>
            <a:r>
              <a:rPr sz="2100" b="0">
                <a:solidFill>
                  <a:srgbClr val="D3CEC5"/>
                </a:solidFill>
                <a:latin typeface="Calibri"/>
              </a:rPr>
              <a:t>Di halaman review kamu ganti take, menulis catatan, dan klik Approve. Agent tidak bisa: perintah approve darinya selalu ditolak alat.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24</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Yang kamu butuhkan</a:t>
            </a:r>
          </a:p>
        </p:txBody>
      </p:sp>
      <p:sp>
        <p:nvSpPr>
          <p:cNvPr id="5" name="Rounded Rectangle 4"/>
          <p:cNvSpPr/>
          <p:nvPr/>
        </p:nvSpPr>
        <p:spPr>
          <a:xfrm>
            <a:off x="548640" y="1783080"/>
            <a:ext cx="3566160" cy="4389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Alat</a:t>
            </a:r>
          </a:p>
        </p:txBody>
      </p:sp>
      <p:sp>
        <p:nvSpPr>
          <p:cNvPr id="7" name="TextBox 6"/>
          <p:cNvSpPr txBox="1"/>
          <p:nvPr/>
        </p:nvSpPr>
        <p:spPr>
          <a:xfrm>
            <a:off x="868680" y="2743200"/>
            <a:ext cx="2971800" cy="3291840"/>
          </a:xfrm>
          <a:prstGeom prst="rect">
            <a:avLst/>
          </a:prstGeom>
          <a:noFill/>
        </p:spPr>
        <p:txBody>
          <a:bodyPr wrap="square" lIns="0" rIns="0" tIns="0" bIns="0" anchor="t">
            <a:spAutoFit/>
          </a:bodyPr>
          <a:lstStyle/>
          <a:p>
            <a:pPr algn="l" marL="310896" indent="-310896">
              <a:lnSpc>
                <a:spcPct val="112000"/>
              </a:lnSpc>
              <a:spcAft>
                <a:spcPts val="1200"/>
              </a:spcAft>
              <a:buFont typeface="Arial"/>
              <a:buChar char="•"/>
            </a:pPr>
            <a:r>
              <a:rPr sz="2100" b="0">
                <a:solidFill>
                  <a:srgbClr val="3D424B"/>
                </a:solidFill>
                <a:latin typeface="Calibri"/>
              </a:rPr>
              <a:t>Laptop Windows atau Mac</a:t>
            </a:r>
          </a:p>
          <a:p>
            <a:pPr algn="l" marL="310896" indent="-310896">
              <a:lnSpc>
                <a:spcPct val="112000"/>
              </a:lnSpc>
              <a:spcAft>
                <a:spcPts val="1200"/>
              </a:spcAft>
              <a:buFont typeface="Arial"/>
              <a:buChar char="•"/>
            </a:pPr>
            <a:r>
              <a:rPr sz="2100" b="0">
                <a:solidFill>
                  <a:srgbClr val="3D424B"/>
                </a:solidFill>
                <a:latin typeface="Calibri"/>
              </a:rPr>
              <a:t>WorkBuddy, dengan otak glm-5.3-flash di dalamnya</a:t>
            </a:r>
          </a:p>
          <a:p>
            <a:pPr algn="l" marL="310896" indent="-310896">
              <a:lnSpc>
                <a:spcPct val="112000"/>
              </a:lnSpc>
              <a:spcAft>
                <a:spcPts val="1200"/>
              </a:spcAft>
              <a:buFont typeface="Arial"/>
              <a:buChar char="•"/>
            </a:pPr>
            <a:r>
              <a:rPr sz="2100" b="0">
                <a:solidFill>
                  <a:srgbClr val="3D424B"/>
                </a:solidFill>
                <a:latin typeface="Calibri"/>
              </a:rPr>
              <a:t>Setup memasang sisanya</a:t>
            </a:r>
          </a:p>
        </p:txBody>
      </p:sp>
      <p:sp>
        <p:nvSpPr>
          <p:cNvPr id="8" name="Rounded Rectangle 7"/>
          <p:cNvSpPr/>
          <p:nvPr/>
        </p:nvSpPr>
        <p:spPr>
          <a:xfrm>
            <a:off x="4297679" y="1783080"/>
            <a:ext cx="3566160" cy="4389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19" y="20116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Akun</a:t>
            </a:r>
          </a:p>
        </p:txBody>
      </p:sp>
      <p:sp>
        <p:nvSpPr>
          <p:cNvPr id="10" name="TextBox 9"/>
          <p:cNvSpPr txBox="1"/>
          <p:nvPr/>
        </p:nvSpPr>
        <p:spPr>
          <a:xfrm>
            <a:off x="4617719" y="2743200"/>
            <a:ext cx="2971800" cy="3291840"/>
          </a:xfrm>
          <a:prstGeom prst="rect">
            <a:avLst/>
          </a:prstGeom>
          <a:noFill/>
        </p:spPr>
        <p:txBody>
          <a:bodyPr wrap="square" lIns="0" rIns="0" tIns="0" bIns="0" anchor="t">
            <a:spAutoFit/>
          </a:bodyPr>
          <a:lstStyle/>
          <a:p>
            <a:pPr algn="l" marL="310896" indent="-310896">
              <a:lnSpc>
                <a:spcPct val="112000"/>
              </a:lnSpc>
              <a:spcAft>
                <a:spcPts val="1200"/>
              </a:spcAft>
              <a:buFont typeface="Arial"/>
              <a:buChar char="•"/>
            </a:pPr>
            <a:r>
              <a:rPr sz="2100" b="0">
                <a:solidFill>
                  <a:srgbClr val="3D424B"/>
                </a:solidFill>
                <a:latin typeface="Calibri"/>
              </a:rPr>
              <a:t>kie.ai: gambar dan video (kredit)</a:t>
            </a:r>
          </a:p>
          <a:p>
            <a:pPr algn="l" marL="310896" indent="-310896">
              <a:lnSpc>
                <a:spcPct val="112000"/>
              </a:lnSpc>
              <a:spcAft>
                <a:spcPts val="1200"/>
              </a:spcAft>
              <a:buFont typeface="Arial"/>
              <a:buChar char="•"/>
            </a:pPr>
            <a:r>
              <a:rPr sz="2100" b="0">
                <a:solidFill>
                  <a:srgbClr val="3D424B"/>
                </a:solidFill>
                <a:latin typeface="Calibri"/>
              </a:rPr>
              <a:t>OpenRouter: suara dan musik</a:t>
            </a:r>
          </a:p>
        </p:txBody>
      </p:sp>
      <p:sp>
        <p:nvSpPr>
          <p:cNvPr id="11" name="Rounded Rectangle 10"/>
          <p:cNvSpPr/>
          <p:nvPr/>
        </p:nvSpPr>
        <p:spPr>
          <a:xfrm>
            <a:off x="8046719" y="1783080"/>
            <a:ext cx="3566160" cy="43891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59" y="20116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Biaya reel ini</a:t>
            </a:r>
          </a:p>
        </p:txBody>
      </p:sp>
      <p:sp>
        <p:nvSpPr>
          <p:cNvPr id="13" name="TextBox 12"/>
          <p:cNvSpPr txBox="1"/>
          <p:nvPr/>
        </p:nvSpPr>
        <p:spPr>
          <a:xfrm>
            <a:off x="8366759" y="2743200"/>
            <a:ext cx="2971800" cy="3291840"/>
          </a:xfrm>
          <a:prstGeom prst="rect">
            <a:avLst/>
          </a:prstGeom>
          <a:noFill/>
        </p:spPr>
        <p:txBody>
          <a:bodyPr wrap="square" lIns="0" rIns="0" tIns="0" bIns="0" anchor="t">
            <a:spAutoFit/>
          </a:bodyPr>
          <a:lstStyle/>
          <a:p>
            <a:pPr algn="l" marL="310896" indent="-310896">
              <a:lnSpc>
                <a:spcPct val="112000"/>
              </a:lnSpc>
              <a:spcAft>
                <a:spcPts val="1200"/>
              </a:spcAft>
              <a:buFont typeface="Arial"/>
              <a:buChar char="•"/>
            </a:pPr>
            <a:r>
              <a:rPr sz="2100" b="0">
                <a:solidFill>
                  <a:srgbClr val="3D424B"/>
                </a:solidFill>
                <a:latin typeface="Calibri"/>
              </a:rPr>
              <a:t>Gambar: ±70 kredit</a:t>
            </a:r>
          </a:p>
          <a:p>
            <a:pPr algn="l" marL="310896" indent="-310896">
              <a:lnSpc>
                <a:spcPct val="112000"/>
              </a:lnSpc>
              <a:spcAft>
                <a:spcPts val="1200"/>
              </a:spcAft>
              <a:buFont typeface="Arial"/>
              <a:buChar char="•"/>
            </a:pPr>
            <a:r>
              <a:rPr sz="2100" b="0">
                <a:solidFill>
                  <a:srgbClr val="3D424B"/>
                </a:solidFill>
                <a:latin typeface="Calibri"/>
              </a:rPr>
              <a:t>Video: 7 klip × 35 = 245 kredit</a:t>
            </a:r>
          </a:p>
          <a:p>
            <a:pPr algn="l" marL="310896" indent="-310896">
              <a:lnSpc>
                <a:spcPct val="112000"/>
              </a:lnSpc>
              <a:spcAft>
                <a:spcPts val="1200"/>
              </a:spcAft>
              <a:buFont typeface="Arial"/>
              <a:buChar char="•"/>
            </a:pPr>
            <a:r>
              <a:rPr sz="2100" b="0">
                <a:solidFill>
                  <a:srgbClr val="3D424B"/>
                </a:solidFill>
                <a:latin typeface="Calibri"/>
              </a:rPr>
              <a:t>Suara dan musik: &lt; US$0,50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25</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1 · Brief jadi shot list</a:t>
            </a:r>
          </a:p>
        </p:txBody>
      </p:sp>
      <p:graphicFrame>
        <p:nvGraphicFramePr>
          <p:cNvPr id="5" name="Table 4"/>
          <p:cNvGraphicFramePr>
            <a:graphicFrameLocks noGrp="1"/>
          </p:cNvGraphicFramePr>
          <p:nvPr/>
        </p:nvGraphicFramePr>
        <p:xfrm>
          <a:off x="548640" y="1783080"/>
          <a:ext cx="6583680" cy="4224528"/>
        </p:xfrm>
        <a:graphic>
          <a:graphicData uri="http://schemas.openxmlformats.org/drawingml/2006/table">
            <a:tbl>
              <a:tblPr firstRow="1" bandRow="1">
                <a:tableStyleId>{5C22544A-7EE6-4342-B048-85BDC9FD1C3A}</a:tableStyleId>
              </a:tblPr>
              <a:tblGrid>
                <a:gridCol w="1371600"/>
                <a:gridCol w="1920240"/>
                <a:gridCol w="3291840"/>
              </a:tblGrid>
              <a:tr h="603504">
                <a:tc>
                  <a:txBody>
                    <a:bodyPr wrap="square"/>
                    <a:lstStyle/>
                    <a:p>
                      <a:r>
                        <a:rPr sz="2000" b="1">
                          <a:solidFill>
                            <a:srgbClr val="16181D"/>
                          </a:solidFill>
                          <a:latin typeface="Calibri"/>
                        </a:rPr>
                        <a:t>Detik</a:t>
                      </a:r>
                    </a:p>
                  </a:txBody>
                  <a:tcPr marL="128016" marR="128016" marT="64008" marB="64008" anchor="ctr">
                    <a:solidFill>
                      <a:srgbClr val="FF5A1F"/>
                    </a:solidFill>
                  </a:tcPr>
                </a:tc>
                <a:tc>
                  <a:txBody>
                    <a:bodyPr wrap="square"/>
                    <a:lstStyle/>
                    <a:p>
                      <a:r>
                        <a:rPr sz="2000" b="1">
                          <a:solidFill>
                            <a:srgbClr val="16181D"/>
                          </a:solidFill>
                          <a:latin typeface="Calibri"/>
                        </a:rPr>
                        <a:t>Bagian</a:t>
                      </a:r>
                    </a:p>
                  </a:txBody>
                  <a:tcPr marL="128016" marR="128016" marT="64008" marB="64008" anchor="ctr">
                    <a:solidFill>
                      <a:srgbClr val="FF5A1F"/>
                    </a:solidFill>
                  </a:tcPr>
                </a:tc>
                <a:tc>
                  <a:txBody>
                    <a:bodyPr wrap="square"/>
                    <a:lstStyle/>
                    <a:p>
                      <a:r>
                        <a:rPr sz="2000" b="1">
                          <a:solidFill>
                            <a:srgbClr val="16181D"/>
                          </a:solidFill>
                          <a:latin typeface="Calibri"/>
                        </a:rPr>
                        <a:t>Isi</a:t>
                      </a:r>
                    </a:p>
                  </a:txBody>
                  <a:tcPr marL="128016" marR="128016" marT="64008" marB="64008" anchor="ctr">
                    <a:solidFill>
                      <a:srgbClr val="FF5A1F"/>
                    </a:solidFill>
                  </a:tcPr>
                </a:tc>
              </a:tr>
              <a:tr h="603504">
                <a:tc>
                  <a:txBody>
                    <a:bodyPr wrap="square"/>
                    <a:lstStyle/>
                    <a:p>
                      <a:r>
                        <a:rPr sz="2000" b="0">
                          <a:solidFill>
                            <a:srgbClr val="16181D"/>
                          </a:solidFill>
                          <a:latin typeface="Calibri"/>
                        </a:rPr>
                        <a:t>0–2</a:t>
                      </a:r>
                    </a:p>
                  </a:txBody>
                  <a:tcPr marL="128016" marR="128016" marT="64008" marB="64008" anchor="ctr">
                    <a:solidFill>
                      <a:srgbClr val="FFFFFF"/>
                    </a:solidFill>
                  </a:tcPr>
                </a:tc>
                <a:tc>
                  <a:txBody>
                    <a:bodyPr wrap="square"/>
                    <a:lstStyle/>
                    <a:p>
                      <a:r>
                        <a:rPr sz="2000" b="0">
                          <a:solidFill>
                            <a:srgbClr val="16181D"/>
                          </a:solidFill>
                          <a:latin typeface="Calibri"/>
                        </a:rPr>
                        <a:t>Hook</a:t>
                      </a:r>
                    </a:p>
                  </a:txBody>
                  <a:tcPr marL="128016" marR="128016" marT="64008" marB="64008" anchor="ctr">
                    <a:solidFill>
                      <a:srgbClr val="FFFFFF"/>
                    </a:solidFill>
                  </a:tcPr>
                </a:tc>
                <a:tc>
                  <a:txBody>
                    <a:bodyPr wrap="square"/>
                    <a:lstStyle/>
                    <a:p>
                      <a:r>
                        <a:rPr sz="2000" b="0">
                          <a:solidFill>
                            <a:srgbClr val="16181D"/>
                          </a:solidFill>
                          <a:latin typeface="Calibri"/>
                        </a:rPr>
                        <a:t>“Tebak harga rumah ini.”</a:t>
                      </a:r>
                    </a:p>
                  </a:txBody>
                  <a:tcPr marL="128016" marR="128016" marT="64008" marB="64008" anchor="ctr">
                    <a:solidFill>
                      <a:srgbClr val="FFFFFF"/>
                    </a:solidFill>
                  </a:tcPr>
                </a:tc>
              </a:tr>
              <a:tr h="603504">
                <a:tc>
                  <a:txBody>
                    <a:bodyPr wrap="square"/>
                    <a:lstStyle/>
                    <a:p>
                      <a:r>
                        <a:rPr sz="2000" b="0">
                          <a:solidFill>
                            <a:srgbClr val="16181D"/>
                          </a:solidFill>
                          <a:latin typeface="Calibri"/>
                        </a:rPr>
                        <a:t>2–9</a:t>
                      </a:r>
                    </a:p>
                  </a:txBody>
                  <a:tcPr marL="128016" marR="128016" marT="64008" marB="64008" anchor="ctr">
                    <a:solidFill>
                      <a:srgbClr val="F7F6F3"/>
                    </a:solidFill>
                  </a:tcPr>
                </a:tc>
                <a:tc>
                  <a:txBody>
                    <a:bodyPr wrap="square"/>
                    <a:lstStyle/>
                    <a:p>
                      <a:r>
                        <a:rPr sz="2000" b="0">
                          <a:solidFill>
                            <a:srgbClr val="16181D"/>
                          </a:solidFill>
                          <a:latin typeface="Calibri"/>
                        </a:rPr>
                        <a:t>Petunjuk 1–2</a:t>
                      </a:r>
                    </a:p>
                  </a:txBody>
                  <a:tcPr marL="128016" marR="128016" marT="64008" marB="64008" anchor="ctr">
                    <a:solidFill>
                      <a:srgbClr val="F7F6F3"/>
                    </a:solidFill>
                  </a:tcPr>
                </a:tc>
                <a:tc>
                  <a:txBody>
                    <a:bodyPr wrap="square"/>
                    <a:lstStyle/>
                    <a:p>
                      <a:r>
                        <a:rPr sz="2000" b="0">
                          <a:solidFill>
                            <a:srgbClr val="16181D"/>
                          </a:solidFill>
                          <a:latin typeface="Calibri"/>
                        </a:rPr>
                        <a:t>lokasi, jarak ke tol</a:t>
                      </a:r>
                    </a:p>
                  </a:txBody>
                  <a:tcPr marL="128016" marR="128016" marT="64008" marB="64008" anchor="ctr">
                    <a:solidFill>
                      <a:srgbClr val="F7F6F3"/>
                    </a:solidFill>
                  </a:tcPr>
                </a:tc>
              </a:tr>
              <a:tr h="603504">
                <a:tc>
                  <a:txBody>
                    <a:bodyPr wrap="square"/>
                    <a:lstStyle/>
                    <a:p>
                      <a:r>
                        <a:rPr sz="2000" b="0">
                          <a:solidFill>
                            <a:srgbClr val="16181D"/>
                          </a:solidFill>
                          <a:latin typeface="Calibri"/>
                        </a:rPr>
                        <a:t>9–14</a:t>
                      </a:r>
                    </a:p>
                  </a:txBody>
                  <a:tcPr marL="128016" marR="128016" marT="64008" marB="64008" anchor="ctr">
                    <a:solidFill>
                      <a:srgbClr val="FFFFFF"/>
                    </a:solidFill>
                  </a:tcPr>
                </a:tc>
                <a:tc>
                  <a:txBody>
                    <a:bodyPr wrap="square"/>
                    <a:lstStyle/>
                    <a:p>
                      <a:r>
                        <a:rPr sz="2000" b="0">
                          <a:solidFill>
                            <a:srgbClr val="16181D"/>
                          </a:solidFill>
                          <a:latin typeface="Calibri"/>
                        </a:rPr>
                        <a:t>Petunjuk 3</a:t>
                      </a:r>
                    </a:p>
                  </a:txBody>
                  <a:tcPr marL="128016" marR="128016" marT="64008" marB="64008" anchor="ctr">
                    <a:solidFill>
                      <a:srgbClr val="FFFFFF"/>
                    </a:solidFill>
                  </a:tcPr>
                </a:tc>
                <a:tc>
                  <a:txBody>
                    <a:bodyPr wrap="square"/>
                    <a:lstStyle/>
                    <a:p>
                      <a:r>
                        <a:rPr sz="2000" b="0">
                          <a:solidFill>
                            <a:srgbClr val="16181D"/>
                          </a:solidFill>
                          <a:latin typeface="Calibri"/>
                        </a:rPr>
                        <a:t>fitur rumah</a:t>
                      </a:r>
                    </a:p>
                  </a:txBody>
                  <a:tcPr marL="128016" marR="128016" marT="64008" marB="64008" anchor="ctr">
                    <a:solidFill>
                      <a:srgbClr val="FFFFFF"/>
                    </a:solidFill>
                  </a:tcPr>
                </a:tc>
              </a:tr>
              <a:tr h="603504">
                <a:tc>
                  <a:txBody>
                    <a:bodyPr wrap="square"/>
                    <a:lstStyle/>
                    <a:p>
                      <a:r>
                        <a:rPr sz="2000" b="0">
                          <a:solidFill>
                            <a:srgbClr val="16181D"/>
                          </a:solidFill>
                          <a:latin typeface="Calibri"/>
                        </a:rPr>
                        <a:t>14–21</a:t>
                      </a:r>
                    </a:p>
                  </a:txBody>
                  <a:tcPr marL="128016" marR="128016" marT="64008" marB="64008" anchor="ctr">
                    <a:solidFill>
                      <a:srgbClr val="F7F6F3"/>
                    </a:solidFill>
                  </a:tcPr>
                </a:tc>
                <a:tc>
                  <a:txBody>
                    <a:bodyPr wrap="square"/>
                    <a:lstStyle/>
                    <a:p>
                      <a:r>
                        <a:rPr sz="2000" b="0">
                          <a:solidFill>
                            <a:srgbClr val="16181D"/>
                          </a:solidFill>
                          <a:latin typeface="Calibri"/>
                        </a:rPr>
                        <a:t>Tunda</a:t>
                      </a:r>
                    </a:p>
                  </a:txBody>
                  <a:tcPr marL="128016" marR="128016" marT="64008" marB="64008" anchor="ctr">
                    <a:solidFill>
                      <a:srgbClr val="F7F6F3"/>
                    </a:solidFill>
                  </a:tcPr>
                </a:tc>
                <a:tc>
                  <a:txBody>
                    <a:bodyPr wrap="square"/>
                    <a:lstStyle/>
                    <a:p>
                      <a:r>
                        <a:rPr sz="2000" b="0">
                          <a:solidFill>
                            <a:srgbClr val="16181D"/>
                          </a:solidFill>
                          <a:latin typeface="Calibri"/>
                        </a:rPr>
                        <a:t>bonus dan bukti</a:t>
                      </a:r>
                    </a:p>
                  </a:txBody>
                  <a:tcPr marL="128016" marR="128016" marT="64008" marB="64008" anchor="ctr">
                    <a:solidFill>
                      <a:srgbClr val="F7F6F3"/>
                    </a:solidFill>
                  </a:tcPr>
                </a:tc>
              </a:tr>
              <a:tr h="603504">
                <a:tc>
                  <a:txBody>
                    <a:bodyPr wrap="square"/>
                    <a:lstStyle/>
                    <a:p>
                      <a:r>
                        <a:rPr sz="2000" b="0">
                          <a:solidFill>
                            <a:srgbClr val="16181D"/>
                          </a:solidFill>
                          <a:latin typeface="Calibri"/>
                        </a:rPr>
                        <a:t>21–24</a:t>
                      </a:r>
                    </a:p>
                  </a:txBody>
                  <a:tcPr marL="128016" marR="128016" marT="64008" marB="64008" anchor="ctr">
                    <a:solidFill>
                      <a:srgbClr val="FFFFFF"/>
                    </a:solidFill>
                  </a:tcPr>
                </a:tc>
                <a:tc>
                  <a:txBody>
                    <a:bodyPr wrap="square"/>
                    <a:lstStyle/>
                    <a:p>
                      <a:r>
                        <a:rPr sz="2000" b="0">
                          <a:solidFill>
                            <a:srgbClr val="16181D"/>
                          </a:solidFill>
                          <a:latin typeface="Calibri"/>
                        </a:rPr>
                        <a:t>Jawaban</a:t>
                      </a:r>
                    </a:p>
                  </a:txBody>
                  <a:tcPr marL="128016" marR="128016" marT="64008" marB="64008" anchor="ctr">
                    <a:solidFill>
                      <a:srgbClr val="FFFFFF"/>
                    </a:solidFill>
                  </a:tcPr>
                </a:tc>
                <a:tc>
                  <a:txBody>
                    <a:bodyPr wrap="square"/>
                    <a:lstStyle/>
                    <a:p>
                      <a:r>
                        <a:rPr sz="2000" b="0">
                          <a:solidFill>
                            <a:srgbClr val="16181D"/>
                          </a:solidFill>
                          <a:latin typeface="Calibri"/>
                        </a:rPr>
                        <a:t>harga, dengan flash</a:t>
                      </a:r>
                    </a:p>
                  </a:txBody>
                  <a:tcPr marL="128016" marR="128016" marT="64008" marB="64008" anchor="ctr">
                    <a:solidFill>
                      <a:srgbClr val="FFFFFF"/>
                    </a:solidFill>
                  </a:tcPr>
                </a:tc>
              </a:tr>
              <a:tr h="603504">
                <a:tc>
                  <a:txBody>
                    <a:bodyPr wrap="square"/>
                    <a:lstStyle/>
                    <a:p>
                      <a:r>
                        <a:rPr sz="2000" b="0">
                          <a:solidFill>
                            <a:srgbClr val="16181D"/>
                          </a:solidFill>
                          <a:latin typeface="Calibri"/>
                        </a:rPr>
                        <a:t>24–28</a:t>
                      </a:r>
                    </a:p>
                  </a:txBody>
                  <a:tcPr marL="128016" marR="128016" marT="64008" marB="64008" anchor="ctr">
                    <a:solidFill>
                      <a:srgbClr val="F7F6F3"/>
                    </a:solidFill>
                  </a:tcPr>
                </a:tc>
                <a:tc>
                  <a:txBody>
                    <a:bodyPr wrap="square"/>
                    <a:lstStyle/>
                    <a:p>
                      <a:r>
                        <a:rPr sz="2000" b="0">
                          <a:solidFill>
                            <a:srgbClr val="16181D"/>
                          </a:solidFill>
                          <a:latin typeface="Calibri"/>
                        </a:rPr>
                        <a:t>Ajakan</a:t>
                      </a:r>
                    </a:p>
                  </a:txBody>
                  <a:tcPr marL="128016" marR="128016" marT="64008" marB="64008" anchor="ctr">
                    <a:solidFill>
                      <a:srgbClr val="F7F6F3"/>
                    </a:solidFill>
                  </a:tcPr>
                </a:tc>
                <a:tc>
                  <a:txBody>
                    <a:bodyPr wrap="square"/>
                    <a:lstStyle/>
                    <a:p>
                      <a:r>
                        <a:rPr sz="2000" b="0">
                          <a:solidFill>
                            <a:srgbClr val="16181D"/>
                          </a:solidFill>
                          <a:latin typeface="Calibri"/>
                        </a:rPr>
                        <a:t>DM untuk lihat langsung</a:t>
                      </a:r>
                    </a:p>
                  </a:txBody>
                  <a:tcPr marL="128016" marR="128016" marT="64008" marB="64008" anchor="ctr">
                    <a:solidFill>
                      <a:srgbClr val="F7F6F3"/>
                    </a:solidFill>
                  </a:tcPr>
                </a:tc>
              </a:tr>
            </a:tbl>
          </a:graphicData>
        </a:graphic>
      </p:graphicFrame>
      <p:sp>
        <p:nvSpPr>
          <p:cNvPr id="6" name="Rounded Rectangle 5"/>
          <p:cNvSpPr/>
          <p:nvPr/>
        </p:nvSpPr>
        <p:spPr>
          <a:xfrm>
            <a:off x="7452360" y="1783080"/>
            <a:ext cx="4187952" cy="1298448"/>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26679" y="1783080"/>
            <a:ext cx="3703320" cy="1298448"/>
          </a:xfrm>
          <a:prstGeom prst="rect">
            <a:avLst/>
          </a:prstGeom>
          <a:noFill/>
        </p:spPr>
        <p:txBody>
          <a:bodyPr wrap="square" lIns="0" rIns="0" tIns="0" bIns="0" anchor="ctr">
            <a:spAutoFit/>
          </a:bodyPr>
          <a:lstStyle/>
          <a:p>
            <a:pPr algn="l">
              <a:lnSpc>
                <a:spcPct val="112000"/>
              </a:lnSpc>
              <a:spcAft>
                <a:spcPts val="400"/>
              </a:spcAft>
            </a:pPr>
            <a:r>
              <a:rPr sz="2000" b="1">
                <a:solidFill>
                  <a:srgbClr val="16181D"/>
                </a:solidFill>
                <a:latin typeface="Calibri"/>
              </a:rPr>
              <a:t>Satu ide per shot.</a:t>
            </a:r>
          </a:p>
          <a:p>
            <a:pPr algn="l">
              <a:lnSpc>
                <a:spcPct val="112000"/>
              </a:lnSpc>
              <a:spcAft>
                <a:spcPts val="400"/>
              </a:spcAft>
            </a:pPr>
            <a:r>
              <a:rPr sz="2000" b="0">
                <a:solidFill>
                  <a:srgbClr val="16181D"/>
                </a:solidFill>
                <a:latin typeface="Calibri"/>
              </a:rPr>
              <a:t>Dua aksi membingungkan model dan penonton.</a:t>
            </a:r>
          </a:p>
        </p:txBody>
      </p:sp>
      <p:sp>
        <p:nvSpPr>
          <p:cNvPr id="8" name="Rounded Rectangle 7"/>
          <p:cNvSpPr/>
          <p:nvPr/>
        </p:nvSpPr>
        <p:spPr>
          <a:xfrm>
            <a:off x="7452360" y="3246120"/>
            <a:ext cx="4187952" cy="1298448"/>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3246120"/>
            <a:ext cx="3703320" cy="1298448"/>
          </a:xfrm>
          <a:prstGeom prst="rect">
            <a:avLst/>
          </a:prstGeom>
          <a:noFill/>
        </p:spPr>
        <p:txBody>
          <a:bodyPr wrap="square" lIns="0" rIns="0" tIns="0" bIns="0" anchor="ctr">
            <a:spAutoFit/>
          </a:bodyPr>
          <a:lstStyle/>
          <a:p>
            <a:pPr algn="l">
              <a:lnSpc>
                <a:spcPct val="112000"/>
              </a:lnSpc>
              <a:spcAft>
                <a:spcPts val="400"/>
              </a:spcAft>
            </a:pPr>
            <a:r>
              <a:rPr sz="2000" b="1">
                <a:solidFill>
                  <a:srgbClr val="16181D"/>
                </a:solidFill>
                <a:latin typeface="Calibri"/>
              </a:rPr>
              <a:t>Hook di 2 detik pertama.</a:t>
            </a:r>
          </a:p>
          <a:p>
            <a:pPr algn="l">
              <a:lnSpc>
                <a:spcPct val="112000"/>
              </a:lnSpc>
              <a:spcAft>
                <a:spcPts val="400"/>
              </a:spcAft>
            </a:pPr>
            <a:r>
              <a:rPr sz="2000" b="0">
                <a:solidFill>
                  <a:srgbClr val="16181D"/>
                </a:solidFill>
                <a:latin typeface="Calibri"/>
              </a:rPr>
              <a:t>Kata pertama sebelum detik 0,8.</a:t>
            </a:r>
          </a:p>
        </p:txBody>
      </p:sp>
      <p:sp>
        <p:nvSpPr>
          <p:cNvPr id="10" name="Rounded Rectangle 9"/>
          <p:cNvSpPr/>
          <p:nvPr/>
        </p:nvSpPr>
        <p:spPr>
          <a:xfrm>
            <a:off x="7452360" y="4709160"/>
            <a:ext cx="4187952" cy="1298448"/>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26679" y="4709160"/>
            <a:ext cx="3703320" cy="1298448"/>
          </a:xfrm>
          <a:prstGeom prst="rect">
            <a:avLst/>
          </a:prstGeom>
          <a:noFill/>
        </p:spPr>
        <p:txBody>
          <a:bodyPr wrap="square" lIns="0" rIns="0" tIns="0" bIns="0" anchor="ctr">
            <a:spAutoFit/>
          </a:bodyPr>
          <a:lstStyle/>
          <a:p>
            <a:pPr algn="l">
              <a:lnSpc>
                <a:spcPct val="112000"/>
              </a:lnSpc>
              <a:spcAft>
                <a:spcPts val="400"/>
              </a:spcAft>
            </a:pPr>
            <a:r>
              <a:rPr sz="2000" b="1">
                <a:solidFill>
                  <a:srgbClr val="16181D"/>
                </a:solidFill>
                <a:latin typeface="Calibri"/>
              </a:rPr>
              <a:t>Janji harus ditepati.</a:t>
            </a:r>
          </a:p>
          <a:p>
            <a:pPr algn="l">
              <a:lnSpc>
                <a:spcPct val="112000"/>
              </a:lnSpc>
              <a:spcAft>
                <a:spcPts val="400"/>
              </a:spcAft>
            </a:pPr>
            <a:r>
              <a:rPr sz="2000" b="0">
                <a:solidFill>
                  <a:srgbClr val="16181D"/>
                </a:solidFill>
                <a:latin typeface="Calibri"/>
              </a:rPr>
              <a:t>“Tebak harga” harus dijawab.</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26</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2 · Look: satu dunia visual</a:t>
            </a:r>
          </a:p>
        </p:txBody>
      </p:sp>
      <p:pic>
        <p:nvPicPr>
          <p:cNvPr id="5" name="Picture 4" descr="Rani_Boulevard.jpg"/>
          <p:cNvPicPr>
            <a:picLocks noChangeAspect="1"/>
          </p:cNvPicPr>
          <p:nvPr/>
        </p:nvPicPr>
        <p:blipFill>
          <a:blip r:embed="rId3"/>
          <a:srcRect t="104" b="104"/>
          <a:stretch>
            <a:fillRect/>
          </a:stretch>
        </p:blipFill>
        <p:spPr>
          <a:xfrm>
            <a:off x="548640" y="1783080"/>
            <a:ext cx="2366010" cy="4206240"/>
          </a:xfrm>
          <a:prstGeom prst="roundRect">
            <a:avLst>
              <a:gd name="adj" fmla="val 7000"/>
            </a:avLst>
          </a:prstGeom>
        </p:spPr>
      </p:pic>
      <p:pic>
        <p:nvPicPr>
          <p:cNvPr id="6" name="Picture 5" descr="Area_Aerial.jpg"/>
          <p:cNvPicPr>
            <a:picLocks noChangeAspect="1"/>
          </p:cNvPicPr>
          <p:nvPr/>
        </p:nvPicPr>
        <p:blipFill>
          <a:blip r:embed="rId4"/>
          <a:srcRect t="104" b="104"/>
          <a:stretch>
            <a:fillRect/>
          </a:stretch>
        </p:blipFill>
        <p:spPr>
          <a:xfrm>
            <a:off x="3063240" y="1783080"/>
            <a:ext cx="2366010" cy="4206240"/>
          </a:xfrm>
          <a:prstGeom prst="roundRect">
            <a:avLst>
              <a:gd name="adj" fmla="val 7000"/>
            </a:avLst>
          </a:prstGeom>
        </p:spPr>
      </p:pic>
      <p:pic>
        <p:nvPicPr>
          <p:cNvPr id="7" name="Picture 6" descr="Rencana_MRT.jpg"/>
          <p:cNvPicPr>
            <a:picLocks noChangeAspect="1"/>
          </p:cNvPicPr>
          <p:nvPr/>
        </p:nvPicPr>
        <p:blipFill>
          <a:blip r:embed="rId5"/>
          <a:srcRect t="104" b="104"/>
          <a:stretch>
            <a:fillRect/>
          </a:stretch>
        </p:blipFill>
        <p:spPr>
          <a:xfrm>
            <a:off x="5577840" y="1783080"/>
            <a:ext cx="2366010" cy="4206240"/>
          </a:xfrm>
          <a:prstGeom prst="roundRect">
            <a:avLst>
              <a:gd name="adj" fmla="val 7000"/>
            </a:avLst>
          </a:prstGeom>
        </p:spPr>
      </p:pic>
      <p:sp>
        <p:nvSpPr>
          <p:cNvPr id="8" name="TextBox 7"/>
          <p:cNvSpPr txBox="1"/>
          <p:nvPr/>
        </p:nvSpPr>
        <p:spPr>
          <a:xfrm>
            <a:off x="8321040" y="1920240"/>
            <a:ext cx="3337560" cy="914400"/>
          </a:xfrm>
          <a:prstGeom prst="rect">
            <a:avLst/>
          </a:prstGeom>
          <a:noFill/>
        </p:spPr>
        <p:txBody>
          <a:bodyPr wrap="square" lIns="0" rIns="0" tIns="0" bIns="0" anchor="t">
            <a:spAutoFit/>
          </a:bodyPr>
          <a:lstStyle/>
          <a:p>
            <a:pPr algn="l">
              <a:lnSpc>
                <a:spcPct val="100000"/>
              </a:lnSpc>
              <a:spcAft>
                <a:spcPts val="0"/>
              </a:spcAft>
            </a:pPr>
            <a:r>
              <a:rPr sz="2800" b="1">
                <a:solidFill>
                  <a:srgbClr val="16181D"/>
                </a:solidFill>
                <a:latin typeface="Arial"/>
              </a:rPr>
              <a:t>Satu sore yang cerah</a:t>
            </a:r>
          </a:p>
        </p:txBody>
      </p:sp>
      <p:sp>
        <p:nvSpPr>
          <p:cNvPr id="9" name="TextBox 8"/>
          <p:cNvSpPr txBox="1"/>
          <p:nvPr/>
        </p:nvSpPr>
        <p:spPr>
          <a:xfrm>
            <a:off x="8321040" y="2926080"/>
            <a:ext cx="3337560" cy="3200400"/>
          </a:xfrm>
          <a:prstGeom prst="rect">
            <a:avLst/>
          </a:prstGeom>
          <a:noFill/>
        </p:spPr>
        <p:txBody>
          <a:bodyPr wrap="square" lIns="0" rIns="0" tIns="0" bIns="0" anchor="t">
            <a:spAutoFit/>
          </a:bodyPr>
          <a:lstStyle/>
          <a:p>
            <a:pPr algn="l">
              <a:lnSpc>
                <a:spcPct val="112000"/>
              </a:lnSpc>
              <a:spcAft>
                <a:spcPts val="1400"/>
              </a:spcAft>
            </a:pPr>
            <a:r>
              <a:rPr sz="2100" b="0">
                <a:solidFill>
                  <a:srgbClr val="3D424B"/>
                </a:solidFill>
                <a:latin typeface="Calibri"/>
              </a:rPr>
              <a:t>Matahari dari kiri, langit biru, satu grade warna.</a:t>
            </a:r>
          </a:p>
          <a:p>
            <a:pPr algn="l">
              <a:lnSpc>
                <a:spcPct val="112000"/>
              </a:lnSpc>
              <a:spcAft>
                <a:spcPts val="1400"/>
              </a:spcAft>
            </a:pPr>
            <a:r>
              <a:rPr sz="2100" b="0">
                <a:solidFill>
                  <a:srgbClr val="3D424B"/>
                </a:solidFill>
                <a:latin typeface="Calibri"/>
              </a:rPr>
              <a:t>Disetujui dulu di </a:t>
            </a:r>
            <a:r>
              <a:rPr sz="2100" b="1">
                <a:solidFill>
                  <a:srgbClr val="3D424B"/>
                </a:solidFill>
                <a:latin typeface="Calibri"/>
              </a:rPr>
              <a:t>Gerbang 1</a:t>
            </a:r>
            <a:r>
              <a:rPr sz="2100" b="0">
                <a:solidFill>
                  <a:srgbClr val="3D424B"/>
                </a:solidFill>
                <a:latin typeface="Calibri"/>
              </a:rPr>
              <a:t>, lalu jadi acuan semua gambar lain.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27</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3 · Wajah yang sama di setiap shot</a:t>
            </a:r>
          </a:p>
        </p:txBody>
      </p:sp>
      <p:pic>
        <p:nvPicPr>
          <p:cNvPr id="5" name="Picture 4" descr="Rani_Portrait_Ref.jpg"/>
          <p:cNvPicPr>
            <a:picLocks noChangeAspect="1"/>
          </p:cNvPicPr>
          <p:nvPr/>
        </p:nvPicPr>
        <p:blipFill>
          <a:blip r:embed="rId3"/>
          <a:srcRect l="18" r="18"/>
          <a:stretch>
            <a:fillRect/>
          </a:stretch>
        </p:blipFill>
        <p:spPr>
          <a:xfrm>
            <a:off x="868680" y="1783080"/>
            <a:ext cx="2468880" cy="3291840"/>
          </a:xfrm>
          <a:prstGeom prst="roundRect">
            <a:avLst>
              <a:gd name="adj" fmla="val 5000"/>
            </a:avLst>
          </a:prstGeom>
        </p:spPr>
      </p:pic>
      <p:sp>
        <p:nvSpPr>
          <p:cNvPr id="6" name="TextBox 5"/>
          <p:cNvSpPr txBox="1"/>
          <p:nvPr/>
        </p:nvSpPr>
        <p:spPr>
          <a:xfrm>
            <a:off x="868680" y="5138928"/>
            <a:ext cx="246888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Potret referensi</a:t>
            </a:r>
          </a:p>
        </p:txBody>
      </p:sp>
      <p:sp>
        <p:nvSpPr>
          <p:cNvPr id="7" name="Right Arrow 6"/>
          <p:cNvSpPr/>
          <p:nvPr/>
        </p:nvSpPr>
        <p:spPr>
          <a:xfrm>
            <a:off x="3657600" y="3273552"/>
            <a:ext cx="45720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Rani_Turnaround_Ref.jpg"/>
          <p:cNvPicPr>
            <a:picLocks noChangeAspect="1"/>
          </p:cNvPicPr>
          <p:nvPr/>
        </p:nvPicPr>
        <p:blipFill>
          <a:blip r:embed="rId4"/>
          <a:srcRect/>
          <a:stretch>
            <a:fillRect/>
          </a:stretch>
        </p:blipFill>
        <p:spPr>
          <a:xfrm>
            <a:off x="4434840" y="1783080"/>
            <a:ext cx="3291840" cy="3291840"/>
          </a:xfrm>
          <a:prstGeom prst="roundRect">
            <a:avLst>
              <a:gd name="adj" fmla="val 5000"/>
            </a:avLst>
          </a:prstGeom>
        </p:spPr>
      </p:pic>
      <p:sp>
        <p:nvSpPr>
          <p:cNvPr id="9" name="TextBox 8"/>
          <p:cNvSpPr txBox="1"/>
          <p:nvPr/>
        </p:nvSpPr>
        <p:spPr>
          <a:xfrm>
            <a:off x="4434840" y="5138928"/>
            <a:ext cx="3291840"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Lembar putar</a:t>
            </a:r>
          </a:p>
        </p:txBody>
      </p:sp>
      <p:sp>
        <p:nvSpPr>
          <p:cNvPr id="10" name="Right Arrow 9"/>
          <p:cNvSpPr/>
          <p:nvPr/>
        </p:nvSpPr>
        <p:spPr>
          <a:xfrm>
            <a:off x="8046720" y="3273552"/>
            <a:ext cx="457200" cy="310896"/>
          </a:xfrm>
          <a:prstGeom prst="rightArrow">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ani_Mobil.jpg"/>
          <p:cNvPicPr>
            <a:picLocks noChangeAspect="1"/>
          </p:cNvPicPr>
          <p:nvPr/>
        </p:nvPicPr>
        <p:blipFill>
          <a:blip r:embed="rId5"/>
          <a:srcRect t="159" b="295"/>
          <a:stretch>
            <a:fillRect/>
          </a:stretch>
        </p:blipFill>
        <p:spPr>
          <a:xfrm>
            <a:off x="8823960" y="1783080"/>
            <a:ext cx="1856231" cy="3291840"/>
          </a:xfrm>
          <a:prstGeom prst="roundRect">
            <a:avLst>
              <a:gd name="adj" fmla="val 5000"/>
            </a:avLst>
          </a:prstGeom>
        </p:spPr>
      </p:pic>
      <p:sp>
        <p:nvSpPr>
          <p:cNvPr id="12" name="TextBox 11"/>
          <p:cNvSpPr txBox="1"/>
          <p:nvPr/>
        </p:nvSpPr>
        <p:spPr>
          <a:xfrm>
            <a:off x="8823960" y="5138928"/>
            <a:ext cx="1856231" cy="365760"/>
          </a:xfrm>
          <a:prstGeom prst="rect">
            <a:avLst/>
          </a:prstGeom>
          <a:noFill/>
        </p:spPr>
        <p:txBody>
          <a:bodyPr wrap="square" lIns="0" rIns="0" tIns="0" bIns="0" anchor="t">
            <a:spAutoFit/>
          </a:bodyPr>
          <a:lstStyle/>
          <a:p>
            <a:pPr algn="ctr">
              <a:lnSpc>
                <a:spcPct val="112000"/>
              </a:lnSpc>
              <a:spcAft>
                <a:spcPts val="0"/>
              </a:spcAft>
            </a:pPr>
            <a:r>
              <a:rPr sz="1800" b="1">
                <a:solidFill>
                  <a:srgbClr val="16181D"/>
                </a:solidFill>
                <a:latin typeface="Calibri"/>
              </a:rPr>
              <a:t>Panel storyboard</a:t>
            </a:r>
          </a:p>
        </p:txBody>
      </p:sp>
      <p:sp>
        <p:nvSpPr>
          <p:cNvPr id="13" name="Rounded Rectangle 12"/>
          <p:cNvSpPr/>
          <p:nvPr/>
        </p:nvSpPr>
        <p:spPr>
          <a:xfrm>
            <a:off x="548640" y="5577840"/>
            <a:ext cx="11094415" cy="777240"/>
          </a:xfrm>
          <a:prstGeom prst="roundRect">
            <a:avLst>
              <a:gd name="adj" fmla="val 20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5577840"/>
            <a:ext cx="10454335" cy="777240"/>
          </a:xfrm>
          <a:prstGeom prst="rect">
            <a:avLst/>
          </a:prstGeom>
          <a:noFill/>
        </p:spPr>
        <p:txBody>
          <a:bodyPr wrap="square" lIns="0" rIns="0" tIns="0" bIns="0" anchor="ctr">
            <a:spAutoFit/>
          </a:bodyPr>
          <a:lstStyle/>
          <a:p>
            <a:pPr algn="l">
              <a:lnSpc>
                <a:spcPct val="112000"/>
              </a:lnSpc>
              <a:spcAft>
                <a:spcPts val="0"/>
              </a:spcAft>
            </a:pPr>
            <a:r>
              <a:rPr sz="1900" b="1">
                <a:solidFill>
                  <a:srgbClr val="16181D"/>
                </a:solidFill>
                <a:latin typeface="Calibri"/>
              </a:rPr>
              <a:t>Rumah yang dijual = foto asli dari klien.</a:t>
            </a:r>
            <a:r>
              <a:rPr sz="1900" b="0">
                <a:solidFill>
                  <a:srgbClr val="16181D"/>
                </a:solidFill>
                <a:latin typeface="Calibri"/>
              </a:rPr>
              <a:t> Di contoh ini rumahnya gambar AI karena proyeknya fiktif.</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28</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FFFFFF"/>
                </a:solidFill>
                <a:latin typeface="Arial"/>
              </a:rPr>
              <a:t>4 · Audio dulu, gambar mengikuti suara</a:t>
            </a:r>
          </a:p>
        </p:txBody>
      </p:sp>
      <p:sp>
        <p:nvSpPr>
          <p:cNvPr id="5" name="TextBox 4"/>
          <p:cNvSpPr txBox="1"/>
          <p:nvPr/>
        </p:nvSpPr>
        <p:spPr>
          <a:xfrm>
            <a:off x="548640" y="1828800"/>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Potongan</a:t>
            </a:r>
          </a:p>
        </p:txBody>
      </p:sp>
      <p:sp>
        <p:nvSpPr>
          <p:cNvPr id="6" name="Rounded Rectangle 5"/>
          <p:cNvSpPr/>
          <p:nvPr/>
        </p:nvSpPr>
        <p:spPr>
          <a:xfrm>
            <a:off x="2286000" y="1828800"/>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578608"/>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Narasi</a:t>
            </a:r>
          </a:p>
        </p:txBody>
      </p:sp>
      <p:sp>
        <p:nvSpPr>
          <p:cNvPr id="8" name="Rounded Rectangle 7"/>
          <p:cNvSpPr/>
          <p:nvPr/>
        </p:nvSpPr>
        <p:spPr>
          <a:xfrm>
            <a:off x="2286000" y="2578608"/>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328415"/>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Musik</a:t>
            </a:r>
          </a:p>
        </p:txBody>
      </p:sp>
      <p:sp>
        <p:nvSpPr>
          <p:cNvPr id="10" name="Rounded Rectangle 9"/>
          <p:cNvSpPr/>
          <p:nvPr/>
        </p:nvSpPr>
        <p:spPr>
          <a:xfrm>
            <a:off x="2286000" y="3328415"/>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078224"/>
            <a:ext cx="1645920" cy="548640"/>
          </a:xfrm>
          <a:prstGeom prst="rect">
            <a:avLst/>
          </a:prstGeom>
          <a:noFill/>
        </p:spPr>
        <p:txBody>
          <a:bodyPr wrap="square" lIns="0" rIns="0" tIns="0" bIns="0" anchor="ctr">
            <a:spAutoFit/>
          </a:bodyPr>
          <a:lstStyle/>
          <a:p>
            <a:pPr algn="l">
              <a:lnSpc>
                <a:spcPct val="112000"/>
              </a:lnSpc>
              <a:spcAft>
                <a:spcPts val="0"/>
              </a:spcAft>
            </a:pPr>
            <a:r>
              <a:rPr sz="2000" b="1">
                <a:solidFill>
                  <a:srgbClr val="FFFFFF"/>
                </a:solidFill>
                <a:latin typeface="Calibri"/>
              </a:rPr>
              <a:t>Efek</a:t>
            </a:r>
          </a:p>
        </p:txBody>
      </p:sp>
      <p:sp>
        <p:nvSpPr>
          <p:cNvPr id="12" name="Rounded Rectangle 11"/>
          <p:cNvSpPr/>
          <p:nvPr/>
        </p:nvSpPr>
        <p:spPr>
          <a:xfrm>
            <a:off x="2286000" y="4078224"/>
            <a:ext cx="9357055" cy="548640"/>
          </a:xfrm>
          <a:prstGeom prst="roundRect">
            <a:avLst>
              <a:gd name="adj" fmla="val 15000"/>
            </a:avLst>
          </a:prstGeom>
          <a:solidFill>
            <a:srgbClr val="2427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9491"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54052"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73049"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292045"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13075"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447510"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433343"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01704"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536138"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254626"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622225" y="1883664"/>
            <a:ext cx="36576"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06304" y="2688336"/>
            <a:ext cx="387649"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044589" y="2688336"/>
            <a:ext cx="213875"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519126" y="2688336"/>
            <a:ext cx="698437"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454831" y="2688336"/>
            <a:ext cx="631601"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360460" y="2688336"/>
            <a:ext cx="1420267"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084832" y="2688336"/>
            <a:ext cx="203850"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519267" y="2688336"/>
            <a:ext cx="751906"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511783" y="2688336"/>
            <a:ext cx="451143"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166777" y="2688336"/>
            <a:ext cx="243951"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577819" y="2688336"/>
            <a:ext cx="494587"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313016" y="2688336"/>
            <a:ext cx="213875"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0680615" y="2688336"/>
            <a:ext cx="407700" cy="329184"/>
          </a:xfrm>
          <a:prstGeom prst="roundRect">
            <a:avLst>
              <a:gd name="adj" fmla="val 20000"/>
            </a:avLst>
          </a:prstGeom>
          <a:solidFill>
            <a:srgbClr val="8FB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378770" y="3584448"/>
            <a:ext cx="6025275" cy="146304"/>
          </a:xfrm>
          <a:prstGeom prst="roundRect">
            <a:avLst>
              <a:gd name="adj" fmla="val 50000"/>
            </a:avLst>
          </a:prstGeom>
          <a:solidFill>
            <a:srgbClr val="7A7F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577819" y="3456432"/>
            <a:ext cx="1998399" cy="402336"/>
          </a:xfrm>
          <a:prstGeom prst="roundRect">
            <a:avLst>
              <a:gd name="adj" fmla="val 2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3314762" y="4261104"/>
            <a:ext cx="128016" cy="438912"/>
          </a:xfrm>
          <a:prstGeom prst="roundRect">
            <a:avLst>
              <a:gd name="adj" fmla="val 50000"/>
            </a:avLst>
          </a:prstGeom>
          <a:solidFill>
            <a:srgbClr val="D3C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233758" y="4261104"/>
            <a:ext cx="128016" cy="438912"/>
          </a:xfrm>
          <a:prstGeom prst="roundRect">
            <a:avLst>
              <a:gd name="adj" fmla="val 50000"/>
            </a:avLst>
          </a:prstGeom>
          <a:solidFill>
            <a:srgbClr val="D3C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308219" y="4261104"/>
            <a:ext cx="128016" cy="438912"/>
          </a:xfrm>
          <a:prstGeom prst="roundRect">
            <a:avLst>
              <a:gd name="adj" fmla="val 50000"/>
            </a:avLst>
          </a:prstGeom>
          <a:solidFill>
            <a:srgbClr val="D3CE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9513811" y="4261104"/>
            <a:ext cx="128016" cy="438912"/>
          </a:xfrm>
          <a:prstGeom prst="roundRect">
            <a:avLst>
              <a:gd name="adj" fmla="val 50000"/>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286000" y="4846320"/>
            <a:ext cx="914400" cy="320040"/>
          </a:xfrm>
          <a:prstGeom prst="rect">
            <a:avLst/>
          </a:prstGeom>
          <a:noFill/>
        </p:spPr>
        <p:txBody>
          <a:bodyPr wrap="square" lIns="0" rIns="0" tIns="0" bIns="0" anchor="t">
            <a:spAutoFit/>
          </a:bodyPr>
          <a:lstStyle/>
          <a:p>
            <a:pPr algn="l">
              <a:lnSpc>
                <a:spcPct val="112000"/>
              </a:lnSpc>
              <a:spcAft>
                <a:spcPts val="0"/>
              </a:spcAft>
            </a:pPr>
            <a:r>
              <a:rPr sz="1600" b="0">
                <a:solidFill>
                  <a:srgbClr val="D3CEC5"/>
                </a:solidFill>
                <a:latin typeface="Calibri"/>
              </a:rPr>
              <a:t>0 s</a:t>
            </a:r>
          </a:p>
        </p:txBody>
      </p:sp>
      <p:sp>
        <p:nvSpPr>
          <p:cNvPr id="43" name="TextBox 42"/>
          <p:cNvSpPr txBox="1"/>
          <p:nvPr/>
        </p:nvSpPr>
        <p:spPr>
          <a:xfrm>
            <a:off x="10728655" y="4846320"/>
            <a:ext cx="914400" cy="320040"/>
          </a:xfrm>
          <a:prstGeom prst="rect">
            <a:avLst/>
          </a:prstGeom>
          <a:noFill/>
        </p:spPr>
        <p:txBody>
          <a:bodyPr wrap="square" lIns="0" rIns="0" tIns="0" bIns="0" anchor="t">
            <a:spAutoFit/>
          </a:bodyPr>
          <a:lstStyle/>
          <a:p>
            <a:pPr algn="r">
              <a:lnSpc>
                <a:spcPct val="112000"/>
              </a:lnSpc>
              <a:spcAft>
                <a:spcPts val="0"/>
              </a:spcAft>
            </a:pPr>
            <a:r>
              <a:rPr sz="1600" b="0">
                <a:solidFill>
                  <a:srgbClr val="D3CEC5"/>
                </a:solidFill>
                <a:latin typeface="Calibri"/>
              </a:rPr>
              <a:t>28 s</a:t>
            </a:r>
          </a:p>
        </p:txBody>
      </p:sp>
      <p:sp>
        <p:nvSpPr>
          <p:cNvPr id="44" name="TextBox 43"/>
          <p:cNvSpPr txBox="1"/>
          <p:nvPr/>
        </p:nvSpPr>
        <p:spPr>
          <a:xfrm>
            <a:off x="6651739" y="4846320"/>
            <a:ext cx="3566160" cy="320040"/>
          </a:xfrm>
          <a:prstGeom prst="rect">
            <a:avLst/>
          </a:prstGeom>
          <a:noFill/>
        </p:spPr>
        <p:txBody>
          <a:bodyPr wrap="square" lIns="0" rIns="0" tIns="0" bIns="0" anchor="t">
            <a:spAutoFit/>
          </a:bodyPr>
          <a:lstStyle/>
          <a:p>
            <a:pPr algn="r">
              <a:lnSpc>
                <a:spcPct val="112000"/>
              </a:lnSpc>
              <a:spcAft>
                <a:spcPts val="0"/>
              </a:spcAft>
            </a:pPr>
            <a:r>
              <a:rPr sz="1600" b="1">
                <a:solidFill>
                  <a:srgbClr val="FF5A1F"/>
                </a:solidFill>
                <a:latin typeface="Calibri"/>
              </a:rPr>
              <a:t>21,8 s: flash, ding, drop</a:t>
            </a:r>
          </a:p>
        </p:txBody>
      </p:sp>
      <p:sp>
        <p:nvSpPr>
          <p:cNvPr id="45" name="TextBox 44"/>
          <p:cNvSpPr txBox="1"/>
          <p:nvPr/>
        </p:nvSpPr>
        <p:spPr>
          <a:xfrm>
            <a:off x="548640" y="5440680"/>
            <a:ext cx="11094415" cy="868680"/>
          </a:xfrm>
          <a:prstGeom prst="rect">
            <a:avLst/>
          </a:prstGeom>
          <a:noFill/>
        </p:spPr>
        <p:txBody>
          <a:bodyPr wrap="square" lIns="0" rIns="0" tIns="0" bIns="0" anchor="t">
            <a:spAutoFit/>
          </a:bodyPr>
          <a:lstStyle/>
          <a:p>
            <a:pPr algn="l">
              <a:lnSpc>
                <a:spcPct val="112000"/>
              </a:lnSpc>
              <a:spcAft>
                <a:spcPts val="0"/>
              </a:spcAft>
            </a:pPr>
            <a:r>
              <a:rPr sz="2100" b="0">
                <a:solidFill>
                  <a:srgbClr val="D3CEC5"/>
                </a:solidFill>
                <a:latin typeface="Calibri"/>
              </a:rPr>
              <a:t>Setiap gambar berganti tepat sebelum frasa baru. Perintah: </a:t>
            </a:r>
            <a:r>
              <a:rPr sz="2100" b="1">
                <a:solidFill>
                  <a:srgbClr val="D3CEC5"/>
                </a:solidFill>
                <a:latin typeface="Calibri"/>
              </a:rPr>
              <a:t>vg audio voice</a:t>
            </a:r>
            <a:r>
              <a:rPr sz="2100" b="0">
                <a:solidFill>
                  <a:srgbClr val="D3CEC5"/>
                </a:solidFill>
                <a:latin typeface="Calibri"/>
              </a:rPr>
              <a:t>, </a:t>
            </a:r>
            <a:r>
              <a:rPr sz="2100" b="1">
                <a:solidFill>
                  <a:srgbClr val="D3CEC5"/>
                </a:solidFill>
                <a:latin typeface="Calibri"/>
              </a:rPr>
              <a:t>music</a:t>
            </a:r>
            <a:r>
              <a:rPr sz="2100" b="0">
                <a:solidFill>
                  <a:srgbClr val="D3CEC5"/>
                </a:solidFill>
                <a:latin typeface="Calibri"/>
              </a:rPr>
              <a:t>, </a:t>
            </a:r>
            <a:r>
              <a:rPr sz="2100" b="1">
                <a:solidFill>
                  <a:srgbClr val="D3CEC5"/>
                </a:solidFill>
                <a:latin typeface="Calibri"/>
              </a:rPr>
              <a:t>sfx</a:t>
            </a:r>
            <a:r>
              <a:rPr sz="2100" b="0">
                <a:solidFill>
                  <a:srgbClr val="D3CEC5"/>
                </a:solidFill>
                <a:latin typeface="Calibri"/>
              </a:rPr>
              <a:t>, </a:t>
            </a:r>
            <a:r>
              <a:rPr sz="2100" b="1">
                <a:solidFill>
                  <a:srgbClr val="D3CEC5"/>
                </a:solidFill>
                <a:latin typeface="Calibri"/>
              </a:rPr>
              <a:t>curve</a:t>
            </a:r>
            <a:r>
              <a:rPr sz="2100" b="0">
                <a:solidFill>
                  <a:srgbClr val="D3CEC5"/>
                </a:solidFill>
                <a:latin typeface="Calibri"/>
              </a:rPr>
              <a: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29</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5 · Animatic: seluruh reel sebagai gambar</a:t>
            </a:r>
          </a:p>
        </p:txBody>
      </p:sp>
      <p:pic>
        <p:nvPicPr>
          <p:cNvPr id="5" name="Picture 4" descr="Frame_hook.jpg"/>
          <p:cNvPicPr>
            <a:picLocks noChangeAspect="1"/>
          </p:cNvPicPr>
          <p:nvPr/>
        </p:nvPicPr>
        <p:blipFill>
          <a:blip r:embed="rId3"/>
          <a:srcRect/>
          <a:stretch>
            <a:fillRect/>
          </a:stretch>
        </p:blipFill>
        <p:spPr>
          <a:xfrm>
            <a:off x="548640" y="1783080"/>
            <a:ext cx="1723072" cy="3063240"/>
          </a:xfrm>
          <a:prstGeom prst="roundRect">
            <a:avLst>
              <a:gd name="adj" fmla="val 7000"/>
            </a:avLst>
          </a:prstGeom>
        </p:spPr>
      </p:pic>
      <p:pic>
        <p:nvPicPr>
          <p:cNvPr id="6" name="Picture 5" descr="Frame_rumah.jpg"/>
          <p:cNvPicPr>
            <a:picLocks noChangeAspect="1"/>
          </p:cNvPicPr>
          <p:nvPr/>
        </p:nvPicPr>
        <p:blipFill>
          <a:blip r:embed="rId4"/>
          <a:srcRect/>
          <a:stretch>
            <a:fillRect/>
          </a:stretch>
        </p:blipFill>
        <p:spPr>
          <a:xfrm>
            <a:off x="2414016" y="1783080"/>
            <a:ext cx="1723072" cy="3063240"/>
          </a:xfrm>
          <a:prstGeom prst="roundRect">
            <a:avLst>
              <a:gd name="adj" fmla="val 7000"/>
            </a:avLst>
          </a:prstGeom>
        </p:spPr>
      </p:pic>
      <p:pic>
        <p:nvPicPr>
          <p:cNvPr id="7" name="Picture 6" descr="Frame_petunjuk1.jpg"/>
          <p:cNvPicPr>
            <a:picLocks noChangeAspect="1"/>
          </p:cNvPicPr>
          <p:nvPr/>
        </p:nvPicPr>
        <p:blipFill>
          <a:blip r:embed="rId5"/>
          <a:srcRect/>
          <a:stretch>
            <a:fillRect/>
          </a:stretch>
        </p:blipFill>
        <p:spPr>
          <a:xfrm>
            <a:off x="4279392" y="1783080"/>
            <a:ext cx="1723072" cy="3063240"/>
          </a:xfrm>
          <a:prstGeom prst="roundRect">
            <a:avLst>
              <a:gd name="adj" fmla="val 7000"/>
            </a:avLst>
          </a:prstGeom>
        </p:spPr>
      </p:pic>
      <p:pic>
        <p:nvPicPr>
          <p:cNvPr id="8" name="Picture 7" descr="Frame_peta.jpg"/>
          <p:cNvPicPr>
            <a:picLocks noChangeAspect="1"/>
          </p:cNvPicPr>
          <p:nvPr/>
        </p:nvPicPr>
        <p:blipFill>
          <a:blip r:embed="rId6"/>
          <a:srcRect/>
          <a:stretch>
            <a:fillRect/>
          </a:stretch>
        </p:blipFill>
        <p:spPr>
          <a:xfrm>
            <a:off x="6144768" y="1783080"/>
            <a:ext cx="1723072" cy="3063240"/>
          </a:xfrm>
          <a:prstGeom prst="roundRect">
            <a:avLst>
              <a:gd name="adj" fmla="val 7000"/>
            </a:avLst>
          </a:prstGeom>
        </p:spPr>
      </p:pic>
      <p:pic>
        <p:nvPicPr>
          <p:cNvPr id="9" name="Picture 8" descr="Frame_petunjuk3.jpg"/>
          <p:cNvPicPr>
            <a:picLocks noChangeAspect="1"/>
          </p:cNvPicPr>
          <p:nvPr/>
        </p:nvPicPr>
        <p:blipFill>
          <a:blip r:embed="rId7"/>
          <a:srcRect/>
          <a:stretch>
            <a:fillRect/>
          </a:stretch>
        </p:blipFill>
        <p:spPr>
          <a:xfrm>
            <a:off x="8010144" y="1783080"/>
            <a:ext cx="1723072" cy="3063240"/>
          </a:xfrm>
          <a:prstGeom prst="roundRect">
            <a:avLst>
              <a:gd name="adj" fmla="val 7000"/>
            </a:avLst>
          </a:prstGeom>
        </p:spPr>
      </p:pic>
      <p:pic>
        <p:nvPicPr>
          <p:cNvPr id="10" name="Picture 9" descr="Frame_harga.jpg"/>
          <p:cNvPicPr>
            <a:picLocks noChangeAspect="1"/>
          </p:cNvPicPr>
          <p:nvPr/>
        </p:nvPicPr>
        <p:blipFill>
          <a:blip r:embed="rId8"/>
          <a:srcRect/>
          <a:stretch>
            <a:fillRect/>
          </a:stretch>
        </p:blipFill>
        <p:spPr>
          <a:xfrm>
            <a:off x="9875519" y="1783080"/>
            <a:ext cx="1723072" cy="3063240"/>
          </a:xfrm>
          <a:prstGeom prst="roundRect">
            <a:avLst>
              <a:gd name="adj" fmla="val 7000"/>
            </a:avLst>
          </a:prstGeom>
        </p:spPr>
      </p:pic>
      <p:sp>
        <p:nvSpPr>
          <p:cNvPr id="11" name="TextBox 10"/>
          <p:cNvSpPr txBox="1"/>
          <p:nvPr/>
        </p:nvSpPr>
        <p:spPr>
          <a:xfrm>
            <a:off x="548640" y="5074920"/>
            <a:ext cx="11094415" cy="1188720"/>
          </a:xfrm>
          <a:prstGeom prst="rect">
            <a:avLst/>
          </a:prstGeom>
          <a:noFill/>
        </p:spPr>
        <p:txBody>
          <a:bodyPr wrap="square" lIns="0" rIns="0" tIns="0" bIns="0" anchor="t">
            <a:spAutoFit/>
          </a:bodyPr>
          <a:lstStyle/>
          <a:p>
            <a:pPr algn="l">
              <a:lnSpc>
                <a:spcPct val="112000"/>
              </a:lnSpc>
              <a:spcAft>
                <a:spcPts val="0"/>
              </a:spcAft>
            </a:pPr>
            <a:r>
              <a:rPr sz="2200" b="0">
                <a:solidFill>
                  <a:srgbClr val="16181D"/>
                </a:solidFill>
                <a:latin typeface="Calibri"/>
              </a:rPr>
              <a:t>Tonton seluruh reel sebelum ada video: satu dunia? janjinya ditepati? rumahnya cukup lama terlihat? Lalu </a:t>
            </a:r>
            <a:r>
              <a:rPr sz="2200" b="1">
                <a:solidFill>
                  <a:srgbClr val="16181D"/>
                </a:solidFill>
                <a:latin typeface="Calibri"/>
              </a:rPr>
              <a:t>Gerbang 2</a:t>
            </a:r>
            <a:r>
              <a:rPr sz="2200" b="0">
                <a:solidFill>
                  <a:srgbClr val="16181D"/>
                </a:solidFill>
                <a:latin typeface="Calibri"/>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30</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Transisi yang punya alasan</a:t>
            </a:r>
          </a:p>
        </p:txBody>
      </p:sp>
      <p:sp>
        <p:nvSpPr>
          <p:cNvPr id="5" name="Rounded Rectangle 4"/>
          <p:cNvSpPr/>
          <p:nvPr/>
        </p:nvSpPr>
        <p:spPr>
          <a:xfrm>
            <a:off x="548640" y="1783080"/>
            <a:ext cx="3566160" cy="39319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1</a:t>
            </a:r>
          </a:p>
        </p:txBody>
      </p:sp>
      <p:sp>
        <p:nvSpPr>
          <p:cNvPr id="7" name="TextBox 6"/>
          <p:cNvSpPr txBox="1"/>
          <p:nvPr/>
        </p:nvSpPr>
        <p:spPr>
          <a:xfrm>
            <a:off x="868680" y="29260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Potong keras</a:t>
            </a:r>
          </a:p>
        </p:txBody>
      </p:sp>
      <p:sp>
        <p:nvSpPr>
          <p:cNvPr id="8" name="TextBox 7"/>
          <p:cNvSpPr txBox="1"/>
          <p:nvPr/>
        </p:nvSpPr>
        <p:spPr>
          <a:xfrm>
            <a:off x="868680" y="3611880"/>
            <a:ext cx="2971800" cy="201168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Pilihan utama. Potong tepat sebelum frasa baru dimulai.</a:t>
            </a:r>
          </a:p>
        </p:txBody>
      </p:sp>
      <p:sp>
        <p:nvSpPr>
          <p:cNvPr id="9" name="Rounded Rectangle 8"/>
          <p:cNvSpPr/>
          <p:nvPr/>
        </p:nvSpPr>
        <p:spPr>
          <a:xfrm>
            <a:off x="4297679" y="1783080"/>
            <a:ext cx="3566160" cy="39319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61771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2</a:t>
            </a:r>
          </a:p>
        </p:txBody>
      </p:sp>
      <p:sp>
        <p:nvSpPr>
          <p:cNvPr id="11" name="TextBox 10"/>
          <p:cNvSpPr txBox="1"/>
          <p:nvPr/>
        </p:nvSpPr>
        <p:spPr>
          <a:xfrm>
            <a:off x="4617719" y="29260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Whip + whoosh</a:t>
            </a:r>
          </a:p>
        </p:txBody>
      </p:sp>
      <p:sp>
        <p:nvSpPr>
          <p:cNvPr id="12" name="TextBox 11"/>
          <p:cNvSpPr txBox="1"/>
          <p:nvPr/>
        </p:nvSpPr>
        <p:spPr>
          <a:xfrm>
            <a:off x="4617719" y="3611880"/>
            <a:ext cx="2971800" cy="201168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Untuk pindah tempat: kabur gerak di kedua sisi potongan.</a:t>
            </a:r>
          </a:p>
        </p:txBody>
      </p:sp>
      <p:sp>
        <p:nvSpPr>
          <p:cNvPr id="13" name="Rounded Rectangle 12"/>
          <p:cNvSpPr/>
          <p:nvPr/>
        </p:nvSpPr>
        <p:spPr>
          <a:xfrm>
            <a:off x="8046719" y="1783080"/>
            <a:ext cx="3566160" cy="3931920"/>
          </a:xfrm>
          <a:prstGeom prst="roundRect">
            <a:avLst>
              <a:gd name="adj" fmla="val 8000"/>
            </a:avLst>
          </a:prstGeom>
          <a:solidFill>
            <a:srgbClr val="F7F6F3"/>
          </a:solidFill>
          <a:ln w="12700">
            <a:solidFill>
              <a:srgbClr val="E3E0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366759" y="2057400"/>
            <a:ext cx="685800" cy="68580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16181D"/>
                </a:solidFill>
                <a:latin typeface="Arial"/>
              </a:rPr>
              <a:t>3</a:t>
            </a:r>
          </a:p>
        </p:txBody>
      </p:sp>
      <p:sp>
        <p:nvSpPr>
          <p:cNvPr id="15" name="TextBox 14"/>
          <p:cNvSpPr txBox="1"/>
          <p:nvPr/>
        </p:nvSpPr>
        <p:spPr>
          <a:xfrm>
            <a:off x="8366759" y="2926080"/>
            <a:ext cx="2926080" cy="548640"/>
          </a:xfrm>
          <a:prstGeom prst="rect">
            <a:avLst/>
          </a:prstGeom>
          <a:noFill/>
        </p:spPr>
        <p:txBody>
          <a:bodyPr wrap="square" lIns="0" rIns="0" tIns="0" bIns="0" anchor="t">
            <a:spAutoFit/>
          </a:bodyPr>
          <a:lstStyle/>
          <a:p>
            <a:pPr algn="l">
              <a:lnSpc>
                <a:spcPct val="112000"/>
              </a:lnSpc>
              <a:spcAft>
                <a:spcPts val="0"/>
              </a:spcAft>
            </a:pPr>
            <a:r>
              <a:rPr sz="2800" b="1">
                <a:solidFill>
                  <a:srgbClr val="16181D"/>
                </a:solidFill>
                <a:latin typeface="Arial"/>
              </a:rPr>
              <a:t>Flash + ding</a:t>
            </a:r>
          </a:p>
        </p:txBody>
      </p:sp>
      <p:sp>
        <p:nvSpPr>
          <p:cNvPr id="16" name="TextBox 15"/>
          <p:cNvSpPr txBox="1"/>
          <p:nvPr/>
        </p:nvSpPr>
        <p:spPr>
          <a:xfrm>
            <a:off x="8366759" y="3611880"/>
            <a:ext cx="2971800" cy="2011680"/>
          </a:xfrm>
          <a:prstGeom prst="rect">
            <a:avLst/>
          </a:prstGeom>
          <a:noFill/>
        </p:spPr>
        <p:txBody>
          <a:bodyPr wrap="square" lIns="0" rIns="0" tIns="0" bIns="0" anchor="t">
            <a:spAutoFit/>
          </a:bodyPr>
          <a:lstStyle/>
          <a:p>
            <a:pPr algn="l">
              <a:lnSpc>
                <a:spcPct val="112000"/>
              </a:lnSpc>
              <a:spcAft>
                <a:spcPts val="0"/>
              </a:spcAft>
            </a:pPr>
            <a:r>
              <a:rPr sz="2100" b="0">
                <a:solidFill>
                  <a:srgbClr val="3D424B"/>
                </a:solidFill>
                <a:latin typeface="Calibri"/>
              </a:rPr>
              <a:t>Hanya sekali: jawaban harga, bersama drop musik.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31</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6 · Baru sekarang gambarnya bergerak</a:t>
            </a:r>
          </a:p>
        </p:txBody>
      </p:sp>
      <p:sp>
        <p:nvSpPr>
          <p:cNvPr id="5" name="Rounded Rectangle 4"/>
          <p:cNvSpPr/>
          <p:nvPr/>
        </p:nvSpPr>
        <p:spPr>
          <a:xfrm>
            <a:off x="548640" y="1783080"/>
            <a:ext cx="6309360" cy="4526280"/>
          </a:xfrm>
          <a:prstGeom prst="roundRect">
            <a:avLst>
              <a:gd name="adj" fmla="val 6000"/>
            </a:avLst>
          </a:prstGeom>
          <a:solidFill>
            <a:srgbClr val="1618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5669280" cy="36576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CONTOH PROMPT VIDEO</a:t>
            </a:r>
          </a:p>
        </p:txBody>
      </p:sp>
      <p:sp>
        <p:nvSpPr>
          <p:cNvPr id="7" name="TextBox 6"/>
          <p:cNvSpPr txBox="1"/>
          <p:nvPr/>
        </p:nvSpPr>
        <p:spPr>
          <a:xfrm>
            <a:off x="868680" y="2514600"/>
            <a:ext cx="5669280" cy="3657600"/>
          </a:xfrm>
          <a:prstGeom prst="rect">
            <a:avLst/>
          </a:prstGeom>
          <a:noFill/>
        </p:spPr>
        <p:txBody>
          <a:bodyPr wrap="square" lIns="0" rIns="0" tIns="0" bIns="0" anchor="t">
            <a:spAutoFit/>
          </a:bodyPr>
          <a:lstStyle/>
          <a:p>
            <a:pPr algn="l">
              <a:lnSpc>
                <a:spcPct val="110000"/>
              </a:lnSpc>
              <a:spcAft>
                <a:spcPts val="0"/>
              </a:spcAft>
            </a:pPr>
            <a:r>
              <a:rPr sz="1900" b="0">
                <a:solidFill>
                  <a:srgbClr val="FFFFFF"/>
                </a:solidFill>
                <a:latin typeface="Courier New"/>
              </a:rPr>
              <a:t>Slow push-in of about half a metre over 6 seconds toward the front door, eye height 1.5 m, verticals straight; eases out and holds. Bright afternoon sun from the left. AUDIO: quiet street, birds. Nobody speaks. LOCKS: the house stays exactly as in the first frame.</a:t>
            </a:r>
          </a:p>
        </p:txBody>
      </p:sp>
      <p:graphicFrame>
        <p:nvGraphicFramePr>
          <p:cNvPr id="8" name="Table 7"/>
          <p:cNvGraphicFramePr>
            <a:graphicFrameLocks noGrp="1"/>
          </p:cNvGraphicFramePr>
          <p:nvPr/>
        </p:nvGraphicFramePr>
        <p:xfrm>
          <a:off x="7132320" y="1783080"/>
          <a:ext cx="4507992" cy="2267712"/>
        </p:xfrm>
        <a:graphic>
          <a:graphicData uri="http://schemas.openxmlformats.org/drawingml/2006/table">
            <a:tbl>
              <a:tblPr firstRow="1" bandRow="1">
                <a:tableStyleId>{5C22544A-7EE6-4342-B048-85BDC9FD1C3A}</a:tableStyleId>
              </a:tblPr>
              <a:tblGrid>
                <a:gridCol w="2834640"/>
                <a:gridCol w="1673352"/>
              </a:tblGrid>
              <a:tr h="566928">
                <a:tc>
                  <a:txBody>
                    <a:bodyPr wrap="square"/>
                    <a:lstStyle/>
                    <a:p>
                      <a:r>
                        <a:rPr sz="2000" b="1">
                          <a:solidFill>
                            <a:srgbClr val="16181D"/>
                          </a:solidFill>
                          <a:latin typeface="Calibri"/>
                        </a:rPr>
                        <a:t>Biaya video reel ini</a:t>
                      </a:r>
                    </a:p>
                  </a:txBody>
                  <a:tcPr marL="128016" marR="128016" marT="64008" marB="64008" anchor="ctr">
                    <a:solidFill>
                      <a:srgbClr val="FF5A1F"/>
                    </a:solidFill>
                  </a:tcPr>
                </a:tc>
                <a:tc>
                  <a:txBody>
                    <a:bodyPr wrap="square"/>
                    <a:lstStyle/>
                    <a:p>
                      <a:r>
                        <a:rPr sz="2000" b="1">
                          <a:solidFill>
                            <a:srgbClr val="16181D"/>
                          </a:solidFill>
                          <a:latin typeface="Calibri"/>
                        </a:rPr>
                        <a:t>Kredit</a:t>
                      </a:r>
                    </a:p>
                  </a:txBody>
                  <a:tcPr marL="128016" marR="128016" marT="64008" marB="64008" anchor="ctr">
                    <a:solidFill>
                      <a:srgbClr val="FF5A1F"/>
                    </a:solidFill>
                  </a:tcPr>
                </a:tc>
              </a:tr>
              <a:tr h="566928">
                <a:tc>
                  <a:txBody>
                    <a:bodyPr wrap="square"/>
                    <a:lstStyle/>
                    <a:p>
                      <a:r>
                        <a:rPr sz="2000" b="0">
                          <a:solidFill>
                            <a:srgbClr val="16181D"/>
                          </a:solidFill>
                          <a:latin typeface="Calibri"/>
                        </a:rPr>
                        <a:t>1 klip pilot</a:t>
                      </a:r>
                    </a:p>
                  </a:txBody>
                  <a:tcPr marL="128016" marR="128016" marT="64008" marB="64008" anchor="ctr">
                    <a:solidFill>
                      <a:srgbClr val="FFFFFF"/>
                    </a:solidFill>
                  </a:tcPr>
                </a:tc>
                <a:tc>
                  <a:txBody>
                    <a:bodyPr wrap="square"/>
                    <a:lstStyle/>
                    <a:p>
                      <a:r>
                        <a:rPr sz="2000" b="0">
                          <a:solidFill>
                            <a:srgbClr val="16181D"/>
                          </a:solidFill>
                          <a:latin typeface="Calibri"/>
                        </a:rPr>
                        <a:t>35</a:t>
                      </a:r>
                    </a:p>
                  </a:txBody>
                  <a:tcPr marL="128016" marR="128016" marT="64008" marB="64008" anchor="ctr">
                    <a:solidFill>
                      <a:srgbClr val="FFFFFF"/>
                    </a:solidFill>
                  </a:tcPr>
                </a:tc>
              </a:tr>
              <a:tr h="566928">
                <a:tc>
                  <a:txBody>
                    <a:bodyPr wrap="square"/>
                    <a:lstStyle/>
                    <a:p>
                      <a:r>
                        <a:rPr sz="2000" b="0">
                          <a:solidFill>
                            <a:srgbClr val="16181D"/>
                          </a:solidFill>
                          <a:latin typeface="Calibri"/>
                        </a:rPr>
                        <a:t>6 klip berikutnya</a:t>
                      </a:r>
                    </a:p>
                  </a:txBody>
                  <a:tcPr marL="128016" marR="128016" marT="64008" marB="64008" anchor="ctr">
                    <a:solidFill>
                      <a:srgbClr val="F7F6F3"/>
                    </a:solidFill>
                  </a:tcPr>
                </a:tc>
                <a:tc>
                  <a:txBody>
                    <a:bodyPr wrap="square"/>
                    <a:lstStyle/>
                    <a:p>
                      <a:r>
                        <a:rPr sz="2000" b="0">
                          <a:solidFill>
                            <a:srgbClr val="16181D"/>
                          </a:solidFill>
                          <a:latin typeface="Calibri"/>
                        </a:rPr>
                        <a:t>210</a:t>
                      </a:r>
                    </a:p>
                  </a:txBody>
                  <a:tcPr marL="128016" marR="128016" marT="64008" marB="64008" anchor="ctr">
                    <a:solidFill>
                      <a:srgbClr val="F7F6F3"/>
                    </a:solidFill>
                  </a:tcPr>
                </a:tc>
              </a:tr>
              <a:tr h="566928">
                <a:tc>
                  <a:txBody>
                    <a:bodyPr wrap="square"/>
                    <a:lstStyle/>
                    <a:p>
                      <a:r>
                        <a:rPr sz="2000" b="1">
                          <a:solidFill>
                            <a:srgbClr val="16181D"/>
                          </a:solidFill>
                          <a:latin typeface="Calibri"/>
                        </a:rPr>
                        <a:t>Total</a:t>
                      </a:r>
                    </a:p>
                  </a:txBody>
                  <a:tcPr marL="128016" marR="128016" marT="64008" marB="64008" anchor="ctr">
                    <a:solidFill>
                      <a:srgbClr val="FFFFFF"/>
                    </a:solidFill>
                  </a:tcPr>
                </a:tc>
                <a:tc>
                  <a:txBody>
                    <a:bodyPr wrap="square"/>
                    <a:lstStyle/>
                    <a:p>
                      <a:r>
                        <a:rPr sz="2000" b="1">
                          <a:solidFill>
                            <a:srgbClr val="16181D"/>
                          </a:solidFill>
                          <a:latin typeface="Calibri"/>
                        </a:rPr>
                        <a:t>245</a:t>
                      </a:r>
                    </a:p>
                  </a:txBody>
                  <a:tcPr marL="128016" marR="128016" marT="64008" marB="64008" anchor="ctr">
                    <a:solidFill>
                      <a:srgbClr val="FFFFFF"/>
                    </a:solidFill>
                  </a:tcPr>
                </a:tc>
              </a:tr>
            </a:tbl>
          </a:graphicData>
        </a:graphic>
      </p:graphicFrame>
      <p:sp>
        <p:nvSpPr>
          <p:cNvPr id="9" name="Rounded Rectangle 8"/>
          <p:cNvSpPr/>
          <p:nvPr/>
        </p:nvSpPr>
        <p:spPr>
          <a:xfrm>
            <a:off x="7132320" y="4343400"/>
            <a:ext cx="4507992" cy="1965960"/>
          </a:xfrm>
          <a:prstGeom prst="roundRect">
            <a:avLst>
              <a:gd name="adj" fmla="val 10000"/>
            </a:avLst>
          </a:prstGeom>
          <a:solidFill>
            <a:srgbClr val="FFF1EA"/>
          </a:solidFill>
          <a:ln w="12700">
            <a:solidFill>
              <a:srgbClr val="F6C9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640" y="4343400"/>
            <a:ext cx="3977639" cy="1965960"/>
          </a:xfrm>
          <a:prstGeom prst="rect">
            <a:avLst/>
          </a:prstGeom>
          <a:noFill/>
        </p:spPr>
        <p:txBody>
          <a:bodyPr wrap="square" lIns="0" rIns="0" tIns="0" bIns="0" anchor="ctr">
            <a:spAutoFit/>
          </a:bodyPr>
          <a:lstStyle/>
          <a:p>
            <a:pPr algn="l">
              <a:lnSpc>
                <a:spcPct val="112000"/>
              </a:lnSpc>
              <a:spcAft>
                <a:spcPts val="0"/>
              </a:spcAft>
            </a:pPr>
            <a:r>
              <a:rPr sz="2100" b="1">
                <a:solidFill>
                  <a:srgbClr val="16181D"/>
                </a:solidFill>
                <a:latin typeface="Calibri"/>
              </a:rPr>
              <a:t>Gerbang 3:</a:t>
            </a:r>
            <a:r>
              <a:rPr sz="2100" b="0">
                <a:solidFill>
                  <a:srgbClr val="16181D"/>
                </a:solidFill>
                <a:latin typeface="Calibri"/>
              </a:rPr>
              <a:t> klik Approve di bagian Video, biayanya terlihat. Mulai dari satu klip pilot.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32</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7 · Edit final, lalu cek sebelum kirim</a:t>
            </a:r>
          </a:p>
        </p:txBody>
      </p:sp>
      <p:sp>
        <p:nvSpPr>
          <p:cNvPr id="5" name="Oval 4"/>
          <p:cNvSpPr/>
          <p:nvPr/>
        </p:nvSpPr>
        <p:spPr>
          <a:xfrm>
            <a:off x="548640" y="190195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6" name="TextBox 5"/>
          <p:cNvSpPr txBox="1"/>
          <p:nvPr/>
        </p:nvSpPr>
        <p:spPr>
          <a:xfrm>
            <a:off x="1325880" y="182880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Caption tidak pernah mendahului kata yang diucapkan</a:t>
            </a:r>
          </a:p>
        </p:txBody>
      </p:sp>
      <p:sp>
        <p:nvSpPr>
          <p:cNvPr id="7" name="Oval 6"/>
          <p:cNvSpPr/>
          <p:nvPr/>
        </p:nvSpPr>
        <p:spPr>
          <a:xfrm>
            <a:off x="6172200" y="190195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8" name="TextBox 7"/>
          <p:cNvSpPr txBox="1"/>
          <p:nvPr/>
        </p:nvSpPr>
        <p:spPr>
          <a:xfrm>
            <a:off x="6949440" y="182880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Tidak ada gambar beku: jumlah frame = durasi × 30</a:t>
            </a:r>
          </a:p>
        </p:txBody>
      </p:sp>
      <p:sp>
        <p:nvSpPr>
          <p:cNvPr id="9" name="Oval 8"/>
          <p:cNvSpPr/>
          <p:nvPr/>
        </p:nvSpPr>
        <p:spPr>
          <a:xfrm>
            <a:off x="548640" y="331927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0" name="TextBox 9"/>
          <p:cNvSpPr txBox="1"/>
          <p:nvPr/>
        </p:nvSpPr>
        <p:spPr>
          <a:xfrm>
            <a:off x="1325880" y="324612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Suara jelas di atas musik, sekitar −14 LUFS</a:t>
            </a:r>
          </a:p>
        </p:txBody>
      </p:sp>
      <p:sp>
        <p:nvSpPr>
          <p:cNvPr id="11" name="Oval 10"/>
          <p:cNvSpPr/>
          <p:nvPr/>
        </p:nvSpPr>
        <p:spPr>
          <a:xfrm>
            <a:off x="6172200" y="331927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2" name="TextBox 11"/>
          <p:cNvSpPr txBox="1"/>
          <p:nvPr/>
        </p:nvSpPr>
        <p:spPr>
          <a:xfrm>
            <a:off x="6949440" y="324612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Ada label ‘ILUSTRASI RENCANA’ dan ‘S&amp;K berlaku’</a:t>
            </a:r>
          </a:p>
        </p:txBody>
      </p:sp>
      <p:sp>
        <p:nvSpPr>
          <p:cNvPr id="13" name="Oval 12"/>
          <p:cNvSpPr/>
          <p:nvPr/>
        </p:nvSpPr>
        <p:spPr>
          <a:xfrm>
            <a:off x="548640" y="473659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4" name="TextBox 13"/>
          <p:cNvSpPr txBox="1"/>
          <p:nvPr/>
        </p:nvSpPr>
        <p:spPr>
          <a:xfrm>
            <a:off x="1325880" y="466344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Teks tidak menutupi wajah</a:t>
            </a:r>
          </a:p>
        </p:txBody>
      </p:sp>
      <p:sp>
        <p:nvSpPr>
          <p:cNvPr id="15" name="Oval 14"/>
          <p:cNvSpPr/>
          <p:nvPr/>
        </p:nvSpPr>
        <p:spPr>
          <a:xfrm>
            <a:off x="6172200" y="4736592"/>
            <a:ext cx="548640" cy="548640"/>
          </a:xfrm>
          <a:prstGeom prst="ellipse">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16181D"/>
                </a:solidFill>
                <a:latin typeface="Arial"/>
              </a:rPr>
              <a:t>✓</a:t>
            </a:r>
          </a:p>
        </p:txBody>
      </p:sp>
      <p:sp>
        <p:nvSpPr>
          <p:cNvPr id="16" name="TextBox 15"/>
          <p:cNvSpPr txBox="1"/>
          <p:nvPr/>
        </p:nvSpPr>
        <p:spPr>
          <a:xfrm>
            <a:off x="6949440" y="4663440"/>
            <a:ext cx="4663440" cy="731520"/>
          </a:xfrm>
          <a:prstGeom prst="rect">
            <a:avLst/>
          </a:prstGeom>
          <a:noFill/>
        </p:spPr>
        <p:txBody>
          <a:bodyPr wrap="square" lIns="0" rIns="0" tIns="0" bIns="0" anchor="ctr">
            <a:spAutoFit/>
          </a:bodyPr>
          <a:lstStyle/>
          <a:p>
            <a:pPr algn="l">
              <a:lnSpc>
                <a:spcPct val="112000"/>
              </a:lnSpc>
              <a:spcAft>
                <a:spcPts val="0"/>
              </a:spcAft>
            </a:pPr>
            <a:r>
              <a:rPr sz="2200" b="0">
                <a:solidFill>
                  <a:srgbClr val="16181D"/>
                </a:solidFill>
                <a:latin typeface="Calibri"/>
              </a:rPr>
              <a:t>File berversi, misalnya Proyek_v1.0.mp4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33</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FF5A1F"/>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FFFFFF"/>
                </a:solidFill>
                <a:latin typeface="Arial"/>
              </a:rPr>
              <a:t>Kesalahan kami, dan aturannya</a:t>
            </a:r>
          </a:p>
        </p:txBody>
      </p:sp>
      <p:graphicFrame>
        <p:nvGraphicFramePr>
          <p:cNvPr id="5" name="Table 4"/>
          <p:cNvGraphicFramePr>
            <a:graphicFrameLocks noGrp="1"/>
          </p:cNvGraphicFramePr>
          <p:nvPr/>
        </p:nvGraphicFramePr>
        <p:xfrm>
          <a:off x="548640" y="1783080"/>
          <a:ext cx="11091672" cy="4169664"/>
        </p:xfrm>
        <a:graphic>
          <a:graphicData uri="http://schemas.openxmlformats.org/drawingml/2006/table">
            <a:tbl>
              <a:tblPr firstRow="1" bandRow="1">
                <a:tableStyleId>{5C22544A-7EE6-4342-B048-85BDC9FD1C3A}</a:tableStyleId>
              </a:tblPr>
              <a:tblGrid>
                <a:gridCol w="4023360"/>
                <a:gridCol w="2834640"/>
                <a:gridCol w="4233672"/>
              </a:tblGrid>
              <a:tr h="694944">
                <a:tc>
                  <a:txBody>
                    <a:bodyPr wrap="square"/>
                    <a:lstStyle/>
                    <a:p>
                      <a:r>
                        <a:rPr sz="1900" b="1">
                          <a:solidFill>
                            <a:srgbClr val="16181D"/>
                          </a:solidFill>
                          <a:latin typeface="Calibri"/>
                        </a:rPr>
                        <a:t>Yang terjadi</a:t>
                      </a:r>
                    </a:p>
                  </a:txBody>
                  <a:tcPr marL="128016" marR="128016" marT="64008" marB="64008" anchor="ctr">
                    <a:solidFill>
                      <a:srgbClr val="FF5A1F"/>
                    </a:solidFill>
                  </a:tcPr>
                </a:tc>
                <a:tc>
                  <a:txBody>
                    <a:bodyPr wrap="square"/>
                    <a:lstStyle/>
                    <a:p>
                      <a:r>
                        <a:rPr sz="1900" b="1">
                          <a:solidFill>
                            <a:srgbClr val="16181D"/>
                          </a:solidFill>
                          <a:latin typeface="Calibri"/>
                        </a:rPr>
                        <a:t>Kenapa</a:t>
                      </a:r>
                    </a:p>
                  </a:txBody>
                  <a:tcPr marL="128016" marR="128016" marT="64008" marB="64008" anchor="ctr">
                    <a:solidFill>
                      <a:srgbClr val="FF5A1F"/>
                    </a:solidFill>
                  </a:tcPr>
                </a:tc>
                <a:tc>
                  <a:txBody>
                    <a:bodyPr wrap="square"/>
                    <a:lstStyle/>
                    <a:p>
                      <a:r>
                        <a:rPr sz="1900" b="1">
                          <a:solidFill>
                            <a:srgbClr val="16181D"/>
                          </a:solidFill>
                          <a:latin typeface="Calibri"/>
                        </a:rPr>
                        <a:t>Aturannya sekarang</a:t>
                      </a:r>
                    </a:p>
                  </a:txBody>
                  <a:tcPr marL="128016" marR="128016" marT="64008" marB="64008" anchor="ctr">
                    <a:solidFill>
                      <a:srgbClr val="FF5A1F"/>
                    </a:solidFill>
                  </a:tcPr>
                </a:tc>
              </a:tr>
              <a:tr h="694944">
                <a:tc>
                  <a:txBody>
                    <a:bodyPr wrap="square"/>
                    <a:lstStyle/>
                    <a:p>
                      <a:r>
                        <a:rPr sz="1900" b="0">
                          <a:solidFill>
                            <a:srgbClr val="FFFFFF"/>
                          </a:solidFill>
                          <a:latin typeface="Calibri"/>
                        </a:rPr>
                        <a:t>Tiap shot beda cahaya dan warna</a:t>
                      </a:r>
                    </a:p>
                  </a:txBody>
                  <a:tcPr marL="128016" marR="128016" marT="64008" marB="64008" anchor="ctr">
                    <a:solidFill>
                      <a:srgbClr val="24272F"/>
                    </a:solidFill>
                  </a:tcPr>
                </a:tc>
                <a:tc>
                  <a:txBody>
                    <a:bodyPr wrap="square"/>
                    <a:lstStyle/>
                    <a:p>
                      <a:r>
                        <a:rPr sz="1900" b="0">
                          <a:solidFill>
                            <a:srgbClr val="FFFFFF"/>
                          </a:solidFill>
                          <a:latin typeface="Calibri"/>
                        </a:rPr>
                        <a:t>dicek satu per satu</a:t>
                      </a:r>
                    </a:p>
                  </a:txBody>
                  <a:tcPr marL="128016" marR="128016" marT="64008" marB="64008" anchor="ctr">
                    <a:solidFill>
                      <a:srgbClr val="24272F"/>
                    </a:solidFill>
                  </a:tcPr>
                </a:tc>
                <a:tc>
                  <a:txBody>
                    <a:bodyPr wrap="square"/>
                    <a:lstStyle/>
                    <a:p>
                      <a:r>
                        <a:rPr sz="1900" b="0">
                          <a:solidFill>
                            <a:srgbClr val="FFFFFF"/>
                          </a:solidFill>
                          <a:latin typeface="Calibri"/>
                        </a:rPr>
                        <a:t>look disetujui dulu, reel direview utuh</a:t>
                      </a:r>
                    </a:p>
                  </a:txBody>
                  <a:tcPr marL="128016" marR="128016" marT="64008" marB="64008" anchor="ctr">
                    <a:solidFill>
                      <a:srgbClr val="24272F"/>
                    </a:solidFill>
                  </a:tcPr>
                </a:tc>
              </a:tr>
              <a:tr h="694944">
                <a:tc>
                  <a:txBody>
                    <a:bodyPr wrap="square"/>
                    <a:lstStyle/>
                    <a:p>
                      <a:r>
                        <a:rPr sz="1900" b="0">
                          <a:solidFill>
                            <a:srgbClr val="FFFFFF"/>
                          </a:solidFill>
                          <a:latin typeface="Calibri"/>
                        </a:rPr>
                        <a:t>Hook berjanji, akhir tidak menepati</a:t>
                      </a:r>
                    </a:p>
                  </a:txBody>
                  <a:tcPr marL="128016" marR="128016" marT="64008" marB="64008" anchor="ctr">
                    <a:solidFill>
                      <a:srgbClr val="16181D"/>
                    </a:solidFill>
                  </a:tcPr>
                </a:tc>
                <a:tc>
                  <a:txBody>
                    <a:bodyPr wrap="square"/>
                    <a:lstStyle/>
                    <a:p>
                      <a:r>
                        <a:rPr sz="1900" b="0">
                          <a:solidFill>
                            <a:srgbClr val="FFFFFF"/>
                          </a:solidFill>
                          <a:latin typeface="Calibri"/>
                        </a:rPr>
                        <a:t>tidak ada yang mengecek</a:t>
                      </a:r>
                    </a:p>
                  </a:txBody>
                  <a:tcPr marL="128016" marR="128016" marT="64008" marB="64008" anchor="ctr">
                    <a:solidFill>
                      <a:srgbClr val="16181D"/>
                    </a:solidFill>
                  </a:tcPr>
                </a:tc>
                <a:tc>
                  <a:txBody>
                    <a:bodyPr wrap="square"/>
                    <a:lstStyle/>
                    <a:p>
                      <a:r>
                        <a:rPr sz="1900" b="0">
                          <a:solidFill>
                            <a:srgbClr val="FFFFFF"/>
                          </a:solidFill>
                          <a:latin typeface="Calibri"/>
                        </a:rPr>
                        <a:t>shot list mencatat janji dan penepatnya</a:t>
                      </a:r>
                    </a:p>
                  </a:txBody>
                  <a:tcPr marL="128016" marR="128016" marT="64008" marB="64008" anchor="ctr">
                    <a:solidFill>
                      <a:srgbClr val="16181D"/>
                    </a:solidFill>
                  </a:tcPr>
                </a:tc>
              </a:tr>
              <a:tr h="694944">
                <a:tc>
                  <a:txBody>
                    <a:bodyPr wrap="square"/>
                    <a:lstStyle/>
                    <a:p>
                      <a:r>
                        <a:rPr sz="1900" b="0">
                          <a:solidFill>
                            <a:srgbClr val="FFFFFF"/>
                          </a:solidFill>
                          <a:latin typeface="Calibri"/>
                        </a:rPr>
                        <a:t>Suara TTS ditempel di atas bibir AI</a:t>
                      </a:r>
                    </a:p>
                  </a:txBody>
                  <a:tcPr marL="128016" marR="128016" marT="64008" marB="64008" anchor="ctr">
                    <a:solidFill>
                      <a:srgbClr val="24272F"/>
                    </a:solidFill>
                  </a:tcPr>
                </a:tc>
                <a:tc>
                  <a:txBody>
                    <a:bodyPr wrap="square"/>
                    <a:lstStyle/>
                    <a:p>
                      <a:r>
                        <a:rPr sz="1900" b="0">
                          <a:solidFill>
                            <a:srgbClr val="FFFFFF"/>
                          </a:solidFill>
                          <a:latin typeface="Calibri"/>
                        </a:rPr>
                        <a:t>dubbing</a:t>
                      </a:r>
                    </a:p>
                  </a:txBody>
                  <a:tcPr marL="128016" marR="128016" marT="64008" marB="64008" anchor="ctr">
                    <a:solidFill>
                      <a:srgbClr val="24272F"/>
                    </a:solidFill>
                  </a:tcPr>
                </a:tc>
                <a:tc>
                  <a:txBody>
                    <a:bodyPr wrap="square"/>
                    <a:lstStyle/>
                    <a:p>
                      <a:r>
                        <a:rPr sz="1900" b="0">
                          <a:solidFill>
                            <a:srgbClr val="FFFFFF"/>
                          </a:solidFill>
                          <a:latin typeface="Calibri"/>
                        </a:rPr>
                        <a:t>narasi voice-over, mulut tertutup</a:t>
                      </a:r>
                    </a:p>
                  </a:txBody>
                  <a:tcPr marL="128016" marR="128016" marT="64008" marB="64008" anchor="ctr">
                    <a:solidFill>
                      <a:srgbClr val="24272F"/>
                    </a:solidFill>
                  </a:tcPr>
                </a:tc>
              </a:tr>
              <a:tr h="694944">
                <a:tc>
                  <a:txBody>
                    <a:bodyPr wrap="square"/>
                    <a:lstStyle/>
                    <a:p>
                      <a:r>
                        <a:rPr sz="1900" b="0">
                          <a:solidFill>
                            <a:srgbClr val="FFFFFF"/>
                          </a:solidFill>
                          <a:latin typeface="Calibri"/>
                        </a:rPr>
                        <a:t>Harga muncul sebelum diucapkan</a:t>
                      </a:r>
                    </a:p>
                  </a:txBody>
                  <a:tcPr marL="128016" marR="128016" marT="64008" marB="64008" anchor="ctr">
                    <a:solidFill>
                      <a:srgbClr val="16181D"/>
                    </a:solidFill>
                  </a:tcPr>
                </a:tc>
                <a:tc>
                  <a:txBody>
                    <a:bodyPr wrap="square"/>
                    <a:lstStyle/>
                    <a:p>
                      <a:r>
                        <a:rPr sz="1900" b="0">
                          <a:solidFill>
                            <a:srgbClr val="FFFFFF"/>
                          </a:solidFill>
                          <a:latin typeface="Calibri"/>
                        </a:rPr>
                        <a:t>caption digabung 3 kata</a:t>
                      </a:r>
                    </a:p>
                  </a:txBody>
                  <a:tcPr marL="128016" marR="128016" marT="64008" marB="64008" anchor="ctr">
                    <a:solidFill>
                      <a:srgbClr val="16181D"/>
                    </a:solidFill>
                  </a:tcPr>
                </a:tc>
                <a:tc>
                  <a:txBody>
                    <a:bodyPr wrap="square"/>
                    <a:lstStyle/>
                    <a:p>
                      <a:r>
                        <a:rPr sz="1900" b="0">
                          <a:solidFill>
                            <a:srgbClr val="FFFFFF"/>
                          </a:solidFill>
                          <a:latin typeface="Calibri"/>
                        </a:rPr>
                        <a:t>caption berhenti di tanda jeda</a:t>
                      </a:r>
                    </a:p>
                  </a:txBody>
                  <a:tcPr marL="128016" marR="128016" marT="64008" marB="64008" anchor="ctr">
                    <a:solidFill>
                      <a:srgbClr val="16181D"/>
                    </a:solidFill>
                  </a:tcPr>
                </a:tc>
              </a:tr>
              <a:tr h="694944">
                <a:tc>
                  <a:txBody>
                    <a:bodyPr wrap="square"/>
                    <a:lstStyle/>
                    <a:p>
                      <a:r>
                        <a:rPr sz="1900" b="0">
                          <a:solidFill>
                            <a:srgbClr val="FFFFFF"/>
                          </a:solidFill>
                          <a:latin typeface="Calibri"/>
                        </a:rPr>
                        <a:t>Animatic membeku 2,5 detik</a:t>
                      </a:r>
                    </a:p>
                  </a:txBody>
                  <a:tcPr marL="128016" marR="128016" marT="64008" marB="64008" anchor="ctr">
                    <a:solidFill>
                      <a:srgbClr val="24272F"/>
                    </a:solidFill>
                  </a:tcPr>
                </a:tc>
                <a:tc>
                  <a:txBody>
                    <a:bodyPr wrap="square"/>
                    <a:lstStyle/>
                    <a:p>
                      <a:r>
                        <a:rPr sz="1900" b="0">
                          <a:solidFill>
                            <a:srgbClr val="FFFFFF"/>
                          </a:solidFill>
                          <a:latin typeface="Calibri"/>
                        </a:rPr>
                        <a:t>bug saat render</a:t>
                      </a:r>
                    </a:p>
                  </a:txBody>
                  <a:tcPr marL="128016" marR="128016" marT="64008" marB="64008" anchor="ctr">
                    <a:solidFill>
                      <a:srgbClr val="24272F"/>
                    </a:solidFill>
                  </a:tcPr>
                </a:tc>
                <a:tc>
                  <a:txBody>
                    <a:bodyPr wrap="square"/>
                    <a:lstStyle/>
                    <a:p>
                      <a:r>
                        <a:rPr sz="1900" b="0">
                          <a:solidFill>
                            <a:srgbClr val="FFFFFF"/>
                          </a:solidFill>
                          <a:latin typeface="Calibri"/>
                        </a:rPr>
                        <a:t>setiap render dicek jumlah frame-nya</a:t>
                      </a:r>
                    </a:p>
                  </a:txBody>
                  <a:tcPr marL="128016" marR="128016" marT="64008" marB="64008" anchor="ctr">
                    <a:solidFill>
                      <a:srgbClr val="24272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6B7079"/>
                </a:solidFill>
                <a:latin typeface="Calibri"/>
              </a:rPr>
              <a:t>34</a:t>
            </a:r>
          </a:p>
        </p:txBody>
      </p:sp>
      <p:sp>
        <p:nvSpPr>
          <p:cNvPr id="3" name="TextBox 2"/>
          <p:cNvSpPr txBox="1"/>
          <p:nvPr/>
        </p:nvSpPr>
        <p:spPr>
          <a:xfrm>
            <a:off x="548640" y="384048"/>
            <a:ext cx="11094415" cy="320040"/>
          </a:xfrm>
          <a:prstGeom prst="rect">
            <a:avLst/>
          </a:prstGeom>
          <a:noFill/>
        </p:spPr>
        <p:txBody>
          <a:bodyPr wrap="square" lIns="0" rIns="0" tIns="0" bIns="0" anchor="t">
            <a:spAutoFit/>
          </a:bodyPr>
          <a:lstStyle/>
          <a:p>
            <a:pPr algn="l">
              <a:lnSpc>
                <a:spcPct val="112000"/>
              </a:lnSpc>
              <a:spcAft>
                <a:spcPts val="0"/>
              </a:spcAft>
            </a:pPr>
            <a:r>
              <a:rPr sz="1600" b="1">
                <a:solidFill>
                  <a:srgbClr val="C2410C"/>
                </a:solidFill>
                <a:latin typeface="Arial"/>
              </a:rPr>
              <a:t>BAGIAN 2 · PRAKTIK</a:t>
            </a:r>
          </a:p>
        </p:txBody>
      </p:sp>
      <p:sp>
        <p:nvSpPr>
          <p:cNvPr id="4" name="TextBox 3"/>
          <p:cNvSpPr txBox="1"/>
          <p:nvPr/>
        </p:nvSpPr>
        <p:spPr>
          <a:xfrm>
            <a:off x="548640" y="713232"/>
            <a:ext cx="11094415" cy="914400"/>
          </a:xfrm>
          <a:prstGeom prst="rect">
            <a:avLst/>
          </a:prstGeom>
          <a:noFill/>
        </p:spPr>
        <p:txBody>
          <a:bodyPr wrap="square" lIns="0" rIns="0" tIns="0" bIns="0" anchor="t">
            <a:spAutoFit/>
          </a:bodyPr>
          <a:lstStyle/>
          <a:p>
            <a:pPr algn="l">
              <a:lnSpc>
                <a:spcPct val="100000"/>
              </a:lnSpc>
              <a:spcAft>
                <a:spcPts val="0"/>
              </a:spcAft>
            </a:pPr>
            <a:r>
              <a:rPr sz="4000" b="1">
                <a:solidFill>
                  <a:srgbClr val="16181D"/>
                </a:solidFill>
                <a:latin typeface="Arial"/>
              </a:rPr>
              <a:t>Latihan pertamamu</a:t>
            </a:r>
          </a:p>
        </p:txBody>
      </p:sp>
      <p:sp>
        <p:nvSpPr>
          <p:cNvPr id="5" name="TextBox 4"/>
          <p:cNvSpPr txBox="1"/>
          <p:nvPr/>
        </p:nvSpPr>
        <p:spPr>
          <a:xfrm>
            <a:off x="548640" y="1828800"/>
            <a:ext cx="11094415" cy="4389120"/>
          </a:xfrm>
          <a:prstGeom prst="rect">
            <a:avLst/>
          </a:prstGeom>
          <a:noFill/>
        </p:spPr>
        <p:txBody>
          <a:bodyPr wrap="square" lIns="0" rIns="0" tIns="0" bIns="0" anchor="t">
            <a:spAutoFit/>
          </a:bodyPr>
          <a:lstStyle/>
          <a:p>
            <a:pPr algn="l" marL="310896" indent="-310896">
              <a:lnSpc>
                <a:spcPct val="112000"/>
              </a:lnSpc>
              <a:spcAft>
                <a:spcPts val="1600"/>
              </a:spcAft>
              <a:buFont typeface="Arial"/>
              <a:buAutoNum type="arabicPeriod"/>
            </a:pPr>
            <a:r>
              <a:rPr sz="2400" b="0">
                <a:solidFill>
                  <a:srgbClr val="16181D"/>
                </a:solidFill>
                <a:latin typeface="Calibri"/>
              </a:rPr>
              <a:t>Daftar </a:t>
            </a:r>
            <a:r>
              <a:rPr sz="2400" b="1">
                <a:solidFill>
                  <a:srgbClr val="16181D"/>
                </a:solidFill>
                <a:latin typeface="Calibri"/>
              </a:rPr>
              <a:t>WorkBuddy</a:t>
            </a:r>
            <a:r>
              <a:rPr sz="2400" b="0">
                <a:solidFill>
                  <a:srgbClr val="16181D"/>
                </a:solidFill>
                <a:latin typeface="Calibri"/>
              </a:rPr>
              <a:t> lewat link undangan, pasang, pilih model </a:t>
            </a:r>
            <a:r>
              <a:rPr sz="2400" b="1">
                <a:solidFill>
                  <a:srgbClr val="16181D"/>
                </a:solidFill>
                <a:latin typeface="Calibri"/>
              </a:rPr>
              <a:t>glm-5.3-flash</a:t>
            </a:r>
            <a:r>
              <a:rPr sz="2400" b="0">
                <a:solidFill>
                  <a:srgbClr val="16181D"/>
                </a:solidFill>
                <a:latin typeface="Calibri"/>
              </a:rPr>
              <a:t>.</a:t>
            </a:r>
          </a:p>
          <a:p>
            <a:pPr algn="l" marL="310896" indent="-310896">
              <a:lnSpc>
                <a:spcPct val="112000"/>
              </a:lnSpc>
              <a:spcAft>
                <a:spcPts val="1600"/>
              </a:spcAft>
              <a:buFont typeface="Arial"/>
              <a:buAutoNum type="arabicPeriod"/>
            </a:pPr>
            <a:r>
              <a:rPr sz="2400" b="0">
                <a:solidFill>
                  <a:srgbClr val="16181D"/>
                </a:solidFill>
                <a:latin typeface="Calibri"/>
              </a:rPr>
              <a:t>Kirim satu pesan dari </a:t>
            </a:r>
            <a:r>
              <a:rPr sz="2400" b="1">
                <a:solidFill>
                  <a:srgbClr val="16181D"/>
                </a:solidFill>
                <a:latin typeface="Calibri"/>
              </a:rPr>
              <a:t>Panduan WorkBuddy</a:t>
            </a:r>
            <a:r>
              <a:rPr sz="2400" b="0">
                <a:solidFill>
                  <a:srgbClr val="16181D"/>
                </a:solidFill>
                <a:latin typeface="Calibri"/>
              </a:rPr>
              <a:t>: AI-nya memasang semuanya.</a:t>
            </a:r>
          </a:p>
          <a:p>
            <a:pPr algn="l" marL="310896" indent="-310896">
              <a:lnSpc>
                <a:spcPct val="112000"/>
              </a:lnSpc>
              <a:spcAft>
                <a:spcPts val="1600"/>
              </a:spcAft>
              <a:buFont typeface="Arial"/>
              <a:buAutoNum type="arabicPeriod"/>
            </a:pPr>
            <a:r>
              <a:rPr sz="2400" b="0">
                <a:solidFill>
                  <a:srgbClr val="16181D"/>
                </a:solidFill>
                <a:latin typeface="Calibri"/>
              </a:rPr>
              <a:t>Tempel kunci kie.ai di </a:t>
            </a:r>
            <a:r>
              <a:rPr sz="2400" b="1">
                <a:solidFill>
                  <a:srgbClr val="16181D"/>
                </a:solidFill>
                <a:latin typeface="Calibri"/>
              </a:rPr>
              <a:t>halaman setup</a:t>
            </a:r>
            <a:r>
              <a:rPr sz="2400" b="0">
                <a:solidFill>
                  <a:srgbClr val="16181D"/>
                </a:solidFill>
                <a:latin typeface="Calibri"/>
              </a:rPr>
              <a:t>, klik Simpan.</a:t>
            </a:r>
          </a:p>
          <a:p>
            <a:pPr algn="l" marL="310896" indent="-310896">
              <a:lnSpc>
                <a:spcPct val="112000"/>
              </a:lnSpc>
              <a:spcAft>
                <a:spcPts val="1600"/>
              </a:spcAft>
              <a:buFont typeface="Arial"/>
              <a:buAutoNum type="arabicPeriod"/>
            </a:pPr>
            <a:r>
              <a:rPr sz="2400" b="0">
                <a:solidFill>
                  <a:srgbClr val="16181D"/>
                </a:solidFill>
                <a:latin typeface="Calibri"/>
              </a:rPr>
              <a:t>Pilih Expert </a:t>
            </a:r>
            <a:r>
              <a:rPr sz="2400" b="1">
                <a:solidFill>
                  <a:srgbClr val="16181D"/>
                </a:solidFill>
                <a:latin typeface="Calibri"/>
              </a:rPr>
              <a:t>AI Videographer</a:t>
            </a:r>
            <a:r>
              <a:rPr sz="2400" b="0">
                <a:solidFill>
                  <a:srgbClr val="16181D"/>
                </a:solidFill>
                <a:latin typeface="Calibri"/>
              </a:rPr>
              <a:t>, klik “Buat video baru”, jawab lima pertanyaannya.</a:t>
            </a:r>
          </a:p>
          <a:p>
            <a:pPr algn="l" marL="310896" indent="-310896">
              <a:lnSpc>
                <a:spcPct val="112000"/>
              </a:lnSpc>
              <a:spcAft>
                <a:spcPts val="1600"/>
              </a:spcAft>
              <a:buFont typeface="Arial"/>
              <a:buAutoNum type="arabicPeriod"/>
            </a:pPr>
            <a:r>
              <a:rPr sz="2400" b="0">
                <a:solidFill>
                  <a:srgbClr val="16181D"/>
                </a:solidFill>
                <a:latin typeface="Calibri"/>
              </a:rPr>
              <a:t>Klik di tiga gerbang: look, reel, satu klip pilot.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TextBox 1"/>
          <p:cNvSpPr txBox="1"/>
          <p:nvPr/>
        </p:nvSpPr>
        <p:spPr>
          <a:xfrm>
            <a:off x="10728655" y="6400800"/>
            <a:ext cx="914400" cy="274320"/>
          </a:xfrm>
          <a:prstGeom prst="rect">
            <a:avLst/>
          </a:prstGeom>
          <a:noFill/>
        </p:spPr>
        <p:txBody>
          <a:bodyPr wrap="square" lIns="0" rIns="0" tIns="0" bIns="0" anchor="t">
            <a:spAutoFit/>
          </a:bodyPr>
          <a:lstStyle/>
          <a:p>
            <a:pPr algn="r">
              <a:lnSpc>
                <a:spcPct val="112000"/>
              </a:lnSpc>
              <a:spcAft>
                <a:spcPts val="0"/>
              </a:spcAft>
            </a:pPr>
            <a:r>
              <a:rPr sz="1400" b="0">
                <a:solidFill>
                  <a:srgbClr val="D3CEC5"/>
                </a:solidFill>
                <a:latin typeface="Calibri"/>
              </a:rPr>
              <a:t>35</a:t>
            </a:r>
          </a:p>
        </p:txBody>
      </p:sp>
      <p:sp>
        <p:nvSpPr>
          <p:cNvPr id="3" name="TextBox 2"/>
          <p:cNvSpPr txBox="1"/>
          <p:nvPr/>
        </p:nvSpPr>
        <p:spPr>
          <a:xfrm>
            <a:off x="548640" y="1371600"/>
            <a:ext cx="11094415" cy="365760"/>
          </a:xfrm>
          <a:prstGeom prst="rect">
            <a:avLst/>
          </a:prstGeom>
          <a:noFill/>
        </p:spPr>
        <p:txBody>
          <a:bodyPr wrap="square" lIns="0" rIns="0" tIns="0" bIns="0" anchor="t">
            <a:spAutoFit/>
          </a:bodyPr>
          <a:lstStyle/>
          <a:p>
            <a:pPr algn="l">
              <a:lnSpc>
                <a:spcPct val="112000"/>
              </a:lnSpc>
              <a:spcAft>
                <a:spcPts val="0"/>
              </a:spcAft>
            </a:pPr>
            <a:r>
              <a:rPr sz="2000" b="1">
                <a:solidFill>
                  <a:srgbClr val="FF5A1F"/>
                </a:solidFill>
                <a:latin typeface="Arial"/>
              </a:rPr>
              <a:t>SATU HAL UNTUK DIINGAT</a:t>
            </a:r>
          </a:p>
        </p:txBody>
      </p:sp>
      <p:sp>
        <p:nvSpPr>
          <p:cNvPr id="4" name="TextBox 3"/>
          <p:cNvSpPr txBox="1"/>
          <p:nvPr/>
        </p:nvSpPr>
        <p:spPr>
          <a:xfrm>
            <a:off x="548640" y="1920240"/>
            <a:ext cx="11094415" cy="2560320"/>
          </a:xfrm>
          <a:prstGeom prst="rect">
            <a:avLst/>
          </a:prstGeom>
          <a:noFill/>
        </p:spPr>
        <p:txBody>
          <a:bodyPr wrap="square" lIns="0" rIns="0" tIns="0" bIns="0" anchor="t">
            <a:spAutoFit/>
          </a:bodyPr>
          <a:lstStyle/>
          <a:p>
            <a:pPr algn="l">
              <a:lnSpc>
                <a:spcPct val="95000"/>
              </a:lnSpc>
              <a:spcAft>
                <a:spcPts val="0"/>
              </a:spcAft>
            </a:pPr>
            <a:r>
              <a:rPr sz="6000" b="1">
                <a:solidFill>
                  <a:srgbClr val="FFFFFF"/>
                </a:solidFill>
                <a:latin typeface="Arial"/>
              </a:rPr>
              <a:t>Gambar dulu. Suara dulu. Gerak terakhir.</a:t>
            </a:r>
          </a:p>
        </p:txBody>
      </p:sp>
      <p:sp>
        <p:nvSpPr>
          <p:cNvPr id="5" name="TextBox 4"/>
          <p:cNvSpPr txBox="1"/>
          <p:nvPr/>
        </p:nvSpPr>
        <p:spPr>
          <a:xfrm>
            <a:off x="548640" y="4754880"/>
            <a:ext cx="11094415" cy="914400"/>
          </a:xfrm>
          <a:prstGeom prst="rect">
            <a:avLst/>
          </a:prstGeom>
          <a:noFill/>
        </p:spPr>
        <p:txBody>
          <a:bodyPr wrap="square" lIns="0" rIns="0" tIns="0" bIns="0" anchor="t">
            <a:spAutoFit/>
          </a:bodyPr>
          <a:lstStyle/>
          <a:p>
            <a:pPr algn="l">
              <a:lnSpc>
                <a:spcPct val="112000"/>
              </a:lnSpc>
              <a:spcAft>
                <a:spcPts val="0"/>
              </a:spcAft>
            </a:pPr>
            <a:r>
              <a:rPr sz="2400" b="0">
                <a:solidFill>
                  <a:srgbClr val="D3CEC5"/>
                </a:solidFill>
                <a:latin typeface="Calibri"/>
              </a:rPr>
              <a:t>Pertanyaan? Semua bahan kelas: github.com/tansilandre/ai-videographer-kelas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