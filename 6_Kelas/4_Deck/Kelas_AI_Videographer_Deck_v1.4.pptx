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Kenalan dulu. Saya Andre Tansil. Delapan tahun lebih saya bekerja di software, business analysis dan product: mulai sebagai developer, lalu memimpin tim engineering, lalu product manager. Sekarang saya Senior Business Analyst di ROOTCLOUD dan memimpin komunitas AICLUB.ID Tangerang Selatan. Alat yang kita pakai hari ini, AI Videographer, saya bangun sendiri untuk membuat reel properti dengan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Di kelas ini agent-nya WorkBuddy dengan Expert AI Videographer; ia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Otak Expert adalah model yang cepat dan murah. Supaya tidak tersesat, ia tidak menghafal urutan kerja: setiap kali ia menjalankan vg next, yang menulis satu langkah berikutnya. Di gerbang, vg next menyuruhnya berhenti dan bertanya ke kamu.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adalah klik manusia di halaman review (VG_APPROVAL_MODE=page). Perintah approve dari agent selalu ditolak alat.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WorkBuddy memandu pemasangan dalam tiga langkah: AI di WorkBuddy yang memasang sisanya. Mac dibutuhkan karena renderer caption dan grafis memakai Swift.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github.com/tansilandre/ai-videographer-kelas: Panduan WorkBuddy, pelajaran, studi kasus Tebak Harga, dan brief latihan. Kunci API selalu ditempel di halaman setup, tidak pernah di chat.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3.jpg"/><Relationship Id="rId4" Type="http://schemas.openxmlformats.org/officeDocument/2006/relationships/image" Target="../media/image17.jpg"/><Relationship Id="rId5"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3.jpg"/><Relationship Id="rId8"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PENGAJAR</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Kenalan dulu</a:t>
            </a:r>
          </a:p>
        </p:txBody>
      </p:sp>
      <p:pic>
        <p:nvPicPr>
          <p:cNvPr id="5" name="Picture 4" descr="Andre_Tansil.jpg"/>
          <p:cNvPicPr>
            <a:picLocks noChangeAspect="1"/>
          </p:cNvPicPr>
          <p:nvPr/>
        </p:nvPicPr>
        <p:blipFill>
          <a:blip r:embed="rId3"/>
          <a:srcRect l="8586" r="8586"/>
          <a:stretch>
            <a:fillRect/>
          </a:stretch>
        </p:blipFill>
        <p:spPr>
          <a:xfrm>
            <a:off x="548640" y="1783080"/>
            <a:ext cx="3749039" cy="4526280"/>
          </a:xfrm>
          <a:prstGeom prst="roundRect">
            <a:avLst>
              <a:gd name="adj" fmla="val 6000"/>
            </a:avLst>
          </a:prstGeom>
        </p:spPr>
      </p:pic>
      <p:sp>
        <p:nvSpPr>
          <p:cNvPr id="6" name="TextBox 5"/>
          <p:cNvSpPr txBox="1"/>
          <p:nvPr/>
        </p:nvSpPr>
        <p:spPr>
          <a:xfrm>
            <a:off x="4846320" y="1783080"/>
            <a:ext cx="6766560" cy="731520"/>
          </a:xfrm>
          <a:prstGeom prst="rect">
            <a:avLst/>
          </a:prstGeom>
          <a:noFill/>
        </p:spPr>
        <p:txBody>
          <a:bodyPr wrap="square" lIns="0" rIns="0" tIns="0" bIns="0" anchor="t">
            <a:spAutoFit/>
          </a:bodyPr>
          <a:lstStyle/>
          <a:p>
            <a:pPr algn="l">
              <a:lnSpc>
                <a:spcPct val="112000"/>
              </a:lnSpc>
              <a:spcAft>
                <a:spcPts val="0"/>
              </a:spcAft>
            </a:pPr>
            <a:r>
              <a:rPr sz="4000" b="1">
                <a:solidFill>
                  <a:srgbClr val="16181D"/>
                </a:solidFill>
                <a:latin typeface="Arial"/>
              </a:rPr>
              <a:t>Andre Tansil</a:t>
            </a:r>
          </a:p>
        </p:txBody>
      </p:sp>
      <p:sp>
        <p:nvSpPr>
          <p:cNvPr id="7" name="TextBox 6"/>
          <p:cNvSpPr txBox="1"/>
          <p:nvPr/>
        </p:nvSpPr>
        <p:spPr>
          <a:xfrm>
            <a:off x="4846320" y="2560320"/>
            <a:ext cx="6766560" cy="457200"/>
          </a:xfrm>
          <a:prstGeom prst="rect">
            <a:avLst/>
          </a:prstGeom>
          <a:noFill/>
        </p:spPr>
        <p:txBody>
          <a:bodyPr wrap="square" lIns="0" rIns="0" tIns="0" bIns="0" anchor="t">
            <a:spAutoFit/>
          </a:bodyPr>
          <a:lstStyle/>
          <a:p>
            <a:pPr algn="l">
              <a:lnSpc>
                <a:spcPct val="112000"/>
              </a:lnSpc>
              <a:spcAft>
                <a:spcPts val="0"/>
              </a:spcAft>
            </a:pPr>
            <a:r>
              <a:rPr sz="2200" b="1">
                <a:solidFill>
                  <a:srgbClr val="C2410C"/>
                </a:solidFill>
                <a:latin typeface="Calibri"/>
              </a:rPr>
              <a:t>AI Specialist · AI Automation Builder</a:t>
            </a:r>
          </a:p>
        </p:txBody>
      </p:sp>
      <p:sp>
        <p:nvSpPr>
          <p:cNvPr id="8" name="TextBox 7"/>
          <p:cNvSpPr txBox="1"/>
          <p:nvPr/>
        </p:nvSpPr>
        <p:spPr>
          <a:xfrm>
            <a:off x="4846320" y="3108960"/>
            <a:ext cx="6766560" cy="2743200"/>
          </a:xfrm>
          <a:prstGeom prst="rect">
            <a:avLst/>
          </a:prstGeom>
          <a:noFill/>
        </p:spPr>
        <p:txBody>
          <a:bodyPr wrap="square" lIns="0" rIns="0" tIns="0" bIns="0" anchor="t">
            <a:spAutoFit/>
          </a:bodyPr>
          <a:lstStyle/>
          <a:p>
            <a:pPr algn="l" marL="310896" indent="-310896">
              <a:lnSpc>
                <a:spcPct val="112000"/>
              </a:lnSpc>
              <a:spcAft>
                <a:spcPts val="600"/>
              </a:spcAft>
              <a:buFont typeface="Arial"/>
              <a:buChar char="•"/>
            </a:pPr>
            <a:r>
              <a:rPr sz="1900" b="0">
                <a:solidFill>
                  <a:srgbClr val="3D424B"/>
                </a:solidFill>
                <a:latin typeface="Calibri"/>
              </a:rPr>
              <a:t>8+ tahun di software, business analysis dan product: dari developer sampai product manager</a:t>
            </a:r>
          </a:p>
          <a:p>
            <a:pPr algn="l" marL="310896" indent="-310896">
              <a:lnSpc>
                <a:spcPct val="112000"/>
              </a:lnSpc>
              <a:spcAft>
                <a:spcPts val="600"/>
              </a:spcAft>
              <a:buFont typeface="Arial"/>
              <a:buChar char="•"/>
            </a:pPr>
            <a:r>
              <a:rPr sz="1900" b="0">
                <a:solidFill>
                  <a:srgbClr val="3D424B"/>
                </a:solidFill>
                <a:latin typeface="Calibri"/>
              </a:rPr>
              <a:t>Senior Business Analyst di </a:t>
            </a:r>
            <a:r>
              <a:rPr sz="1900" b="1">
                <a:solidFill>
                  <a:srgbClr val="3D424B"/>
                </a:solidFill>
                <a:latin typeface="Calibri"/>
              </a:rPr>
              <a:t>ROOTCLOUD</a:t>
            </a:r>
          </a:p>
          <a:p>
            <a:pPr algn="l" marL="310896" indent="-310896">
              <a:lnSpc>
                <a:spcPct val="112000"/>
              </a:lnSpc>
              <a:spcAft>
                <a:spcPts val="600"/>
              </a:spcAft>
              <a:buFont typeface="Arial"/>
              <a:buChar char="•"/>
            </a:pPr>
            <a:r>
              <a:rPr sz="1900" b="0">
                <a:solidFill>
                  <a:srgbClr val="3D424B"/>
                </a:solidFill>
                <a:latin typeface="Calibri"/>
              </a:rPr>
              <a:t>Teknik Telekomunikasi </a:t>
            </a:r>
            <a:r>
              <a:rPr sz="1900" b="1">
                <a:solidFill>
                  <a:srgbClr val="3D424B"/>
                </a:solidFill>
                <a:latin typeface="Calibri"/>
              </a:rPr>
              <a:t>ITB</a:t>
            </a:r>
            <a:r>
              <a:rPr sz="1900" b="0">
                <a:solidFill>
                  <a:srgbClr val="3D424B"/>
                </a:solidFill>
                <a:latin typeface="Calibri"/>
              </a:rPr>
              <a:t>, S2 di </a:t>
            </a:r>
            <a:r>
              <a:rPr sz="1900" b="1">
                <a:solidFill>
                  <a:srgbClr val="3D424B"/>
                </a:solidFill>
                <a:latin typeface="Calibri"/>
              </a:rPr>
              <a:t>SeoulTech</a:t>
            </a:r>
            <a:r>
              <a:rPr sz="1900" b="0">
                <a:solidFill>
                  <a:srgbClr val="3D424B"/>
                </a:solidFill>
                <a:latin typeface="Calibri"/>
              </a:rPr>
              <a:t> Korea: riset machine learning</a:t>
            </a:r>
          </a:p>
          <a:p>
            <a:pPr algn="l" marL="310896" indent="-310896">
              <a:lnSpc>
                <a:spcPct val="112000"/>
              </a:lnSpc>
              <a:spcAft>
                <a:spcPts val="600"/>
              </a:spcAft>
              <a:buFont typeface="Arial"/>
              <a:buChar char="•"/>
            </a:pPr>
            <a:r>
              <a:rPr sz="1900" b="0">
                <a:solidFill>
                  <a:srgbClr val="3D424B"/>
                </a:solidFill>
                <a:latin typeface="Calibri"/>
              </a:rPr>
              <a:t>Community Lead </a:t>
            </a:r>
            <a:r>
              <a:rPr sz="1900" b="1">
                <a:solidFill>
                  <a:srgbClr val="3D424B"/>
                </a:solidFill>
                <a:latin typeface="Calibri"/>
              </a:rPr>
              <a:t>AICLUB.ID</a:t>
            </a:r>
            <a:r>
              <a:rPr sz="1900" b="0">
                <a:solidFill>
                  <a:srgbClr val="3D424B"/>
                </a:solidFill>
                <a:latin typeface="Calibri"/>
              </a:rPr>
              <a:t> Tangerang Selatan</a:t>
            </a:r>
          </a:p>
          <a:p>
            <a:pPr algn="l" marL="310896" indent="-310896">
              <a:lnSpc>
                <a:spcPct val="112000"/>
              </a:lnSpc>
              <a:spcAft>
                <a:spcPts val="600"/>
              </a:spcAft>
              <a:buFont typeface="Arial"/>
              <a:buChar char="•"/>
            </a:pPr>
            <a:r>
              <a:rPr sz="1900" b="0">
                <a:solidFill>
                  <a:srgbClr val="3D424B"/>
                </a:solidFill>
                <a:latin typeface="Calibri"/>
              </a:rPr>
              <a:t>Pembuat </a:t>
            </a:r>
            <a:r>
              <a:rPr sz="1900" b="1">
                <a:solidFill>
                  <a:srgbClr val="3D424B"/>
                </a:solidFill>
                <a:latin typeface="Calibri"/>
              </a:rPr>
              <a:t>AI Videographer</a:t>
            </a:r>
            <a:r>
              <a:rPr sz="1900" b="0">
                <a:solidFill>
                  <a:srgbClr val="3D424B"/>
                </a:solidFill>
                <a:latin typeface="Calibri"/>
              </a:rPr>
              <a:t>, alat yang kita pakai hari ini</a:t>
            </a:r>
          </a:p>
        </p:txBody>
      </p:sp>
      <p:sp>
        <p:nvSpPr>
          <p:cNvPr id="9" name="TextBox 8"/>
          <p:cNvSpPr txBox="1"/>
          <p:nvPr/>
        </p:nvSpPr>
        <p:spPr>
          <a:xfrm>
            <a:off x="4846320" y="6016752"/>
            <a:ext cx="676656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linkedin.com/in/andretansil  ·  Instagram @andretansil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4</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5</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Agent-nya </a:t>
            </a:r>
            <a:r>
              <a:rPr sz="2100" b="1">
                <a:solidFill>
                  <a:srgbClr val="3D424B"/>
                </a:solidFill>
                <a:latin typeface="Calibri"/>
              </a:rPr>
              <a:t>WorkBuddy</a:t>
            </a:r>
            <a:r>
              <a:rPr sz="2100" b="0">
                <a:solidFill>
                  <a:srgbClr val="3D424B"/>
                </a:solidFill>
                <a:latin typeface="Calibri"/>
              </a:rPr>
              <a:t> dengan Expert </a:t>
            </a:r>
            <a:r>
              <a:rPr sz="2100" b="1">
                <a:solidFill>
                  <a:srgbClr val="3D424B"/>
                </a:solidFill>
                <a:latin typeface="Calibri"/>
              </a:rPr>
              <a:t>AI Videographer</a:t>
            </a:r>
            <a:r>
              <a:rPr sz="2100" b="0">
                <a:solidFill>
                  <a:srgbClr val="3D424B"/>
                </a:solidFill>
                <a:latin typeface="Calibri"/>
              </a:rPr>
              <a:t>. Ia membaca </a:t>
            </a:r>
            <a:r>
              <a:rPr sz="2100" b="1">
                <a:solidFill>
                  <a:srgbClr val="3D424B"/>
                </a:solidFill>
                <a:latin typeface="Calibri"/>
              </a:rPr>
              <a:t>skill</a:t>
            </a:r>
            <a:r>
              <a:rPr sz="2100" b="0">
                <a:solidFill>
                  <a:srgbClr val="3D424B"/>
                </a:solidFill>
                <a:latin typeface="Calibri"/>
              </a:rPr>
              <a:t>: file instruksi cara kerja kita.</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17</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18</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WorkBuddy + Expert AI Videographer, otaknya glm-5.3-flash.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langkah sekali: vg next</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HASIL vg next</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STAGE  look review</a:t>
            </a:r>
          </a:p>
          <a:p>
            <a:pPr algn="l">
              <a:lnSpc>
                <a:spcPct val="110000"/>
              </a:lnSpc>
              <a:spcAft>
                <a:spcPts val="0"/>
              </a:spcAft>
            </a:pPr>
            <a:r>
              <a:rPr sz="1900" b="0">
                <a:solidFill>
                  <a:srgbClr val="FFFFFF"/>
                </a:solidFill>
                <a:latin typeface="Courier New"/>
              </a:rPr>
              <a:t>RUN    vg review -p Aster --detach</a:t>
            </a:r>
          </a:p>
          <a:p>
            <a:pPr algn="l">
              <a:lnSpc>
                <a:spcPct val="110000"/>
              </a:lnSpc>
              <a:spcAft>
                <a:spcPts val="0"/>
              </a:spcAft>
            </a:pPr>
            <a:r>
              <a:rPr sz="1900" b="0">
                <a:solidFill>
                  <a:srgbClr val="FFFFFF"/>
                </a:solidFill>
                <a:latin typeface="Courier New"/>
              </a:rPr>
              <a:t>ASK    Kirim link. Minta klik</a:t>
            </a:r>
          </a:p>
          <a:p>
            <a:pPr algn="l">
              <a:lnSpc>
                <a:spcPct val="110000"/>
              </a:lnSpc>
              <a:spcAft>
                <a:spcPts val="0"/>
              </a:spcAft>
            </a:pPr>
            <a:r>
              <a:rPr sz="1900" b="0">
                <a:solidFill>
                  <a:srgbClr val="FFFFFF"/>
                </a:solidFill>
                <a:latin typeface="Courier New"/>
              </a:rPr>
              <a:t>       Approve look, atau tulis</a:t>
            </a:r>
          </a:p>
          <a:p>
            <a:pPr algn="l">
              <a:lnSpc>
                <a:spcPct val="110000"/>
              </a:lnSpc>
              <a:spcAft>
                <a:spcPts val="0"/>
              </a:spcAft>
            </a:pPr>
            <a:r>
              <a:rPr sz="1900" b="0">
                <a:solidFill>
                  <a:srgbClr val="FFFFFF"/>
                </a:solidFill>
                <a:latin typeface="Courier New"/>
              </a:rPr>
              <a:t>       catatan lalu klik Done.</a:t>
            </a:r>
          </a:p>
          <a:p>
            <a:pPr algn="l">
              <a:lnSpc>
                <a:spcPct val="110000"/>
              </a:lnSpc>
              <a:spcAft>
                <a:spcPts val="0"/>
              </a:spcAft>
            </a:pPr>
            <a:r>
              <a:rPr sz="1900" b="0">
                <a:solidFill>
                  <a:srgbClr val="FFFFFF"/>
                </a:solidFill>
                <a:latin typeface="Courier New"/>
              </a:rPr>
              <a:t>THEN   setelah dia bilang sudah:</a:t>
            </a:r>
          </a:p>
          <a:p>
            <a:pPr algn="l">
              <a:lnSpc>
                <a:spcPct val="110000"/>
              </a:lnSpc>
              <a:spcAft>
                <a:spcPts val="0"/>
              </a:spcAft>
            </a:pPr>
            <a:r>
              <a:rPr sz="1900" b="0">
                <a:solidFill>
                  <a:srgbClr val="FFFFFF"/>
                </a:solidFill>
                <a:latin typeface="Courier New"/>
              </a:rPr>
              <a:t>       vg next lagi</a:t>
            </a:r>
          </a:p>
        </p:txBody>
      </p:sp>
      <p:sp>
        <p:nvSpPr>
          <p:cNvPr id="8" name="TextBox 7"/>
          <p:cNvSpPr txBox="1"/>
          <p:nvPr/>
        </p:nvSpPr>
        <p:spPr>
          <a:xfrm>
            <a:off x="7132320" y="1828800"/>
            <a:ext cx="4507992" cy="4480560"/>
          </a:xfrm>
          <a:prstGeom prst="rect">
            <a:avLst/>
          </a:prstGeom>
          <a:noFill/>
        </p:spPr>
        <p:txBody>
          <a:bodyPr wrap="square" lIns="0" rIns="0" tIns="0" bIns="0" anchor="t">
            <a:spAutoFit/>
          </a:bodyPr>
          <a:lstStyle/>
          <a:p>
            <a:pPr algn="l">
              <a:lnSpc>
                <a:spcPct val="112000"/>
              </a:lnSpc>
              <a:spcAft>
                <a:spcPts val="1400"/>
              </a:spcAft>
            </a:pPr>
            <a:r>
              <a:rPr sz="2100" b="1">
                <a:solidFill>
                  <a:srgbClr val="3D424B"/>
                </a:solidFill>
                <a:latin typeface="Calibri"/>
              </a:rPr>
              <a:t>RUN</a:t>
            </a:r>
            <a:r>
              <a:rPr sz="2100" b="0">
                <a:solidFill>
                  <a:srgbClr val="3D424B"/>
                </a:solidFill>
                <a:latin typeface="Calibri"/>
              </a:rPr>
              <a:t>: jalankan perintah ini.</a:t>
            </a:r>
          </a:p>
          <a:p>
            <a:pPr algn="l">
              <a:lnSpc>
                <a:spcPct val="112000"/>
              </a:lnSpc>
              <a:spcAft>
                <a:spcPts val="1400"/>
              </a:spcAft>
            </a:pPr>
            <a:r>
              <a:rPr sz="2100" b="1">
                <a:solidFill>
                  <a:srgbClr val="3D424B"/>
                </a:solidFill>
                <a:latin typeface="Calibri"/>
              </a:rPr>
              <a:t>WRITE</a:t>
            </a:r>
            <a:r>
              <a:rPr sz="2100" b="0">
                <a:solidFill>
                  <a:srgbClr val="3D424B"/>
                </a:solidFill>
                <a:latin typeface="Calibri"/>
              </a:rPr>
              <a:t>: tulis file ini, baca skill-nya dulu.</a:t>
            </a:r>
          </a:p>
          <a:p>
            <a:pPr algn="l">
              <a:lnSpc>
                <a:spcPct val="112000"/>
              </a:lnSpc>
              <a:spcAft>
                <a:spcPts val="1400"/>
              </a:spcAft>
            </a:pPr>
            <a:r>
              <a:rPr sz="2100" b="1">
                <a:solidFill>
                  <a:srgbClr val="3D424B"/>
                </a:solidFill>
                <a:latin typeface="Calibri"/>
              </a:rPr>
              <a:t>ASK</a:t>
            </a:r>
            <a:r>
              <a:rPr sz="2100" b="0">
                <a:solidFill>
                  <a:srgbClr val="3D424B"/>
                </a:solidFill>
                <a:latin typeface="Calibri"/>
              </a:rPr>
              <a:t>: berhenti, tanya manusia, tunggu jawabannya.</a:t>
            </a:r>
          </a:p>
          <a:p>
            <a:pPr algn="l">
              <a:lnSpc>
                <a:spcPct val="112000"/>
              </a:lnSpc>
              <a:spcAft>
                <a:spcPts val="1400"/>
              </a:spcAft>
            </a:pPr>
            <a:r>
              <a:rPr sz="2100" b="1">
                <a:solidFill>
                  <a:srgbClr val="3D424B"/>
                </a:solidFill>
                <a:latin typeface="Calibri"/>
              </a:rPr>
              <a:t>DONE</a:t>
            </a:r>
            <a:r>
              <a:rPr sz="2100" b="0">
                <a:solidFill>
                  <a:srgbClr val="3D424B"/>
                </a:solidFill>
                <a:latin typeface="Calibri"/>
              </a:rPr>
              <a:t>: reel selesai.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Cara setuju</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klik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klik Approve reel</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klik Approve per klip</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menulis catatan, dan klik Approve. Agent tidak bisa: perintah approve darinya selalu ditolak alat.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Mac</a:t>
            </a:r>
          </a:p>
          <a:p>
            <a:pPr algn="l" marL="310896" indent="-310896">
              <a:lnSpc>
                <a:spcPct val="112000"/>
              </a:lnSpc>
              <a:spcAft>
                <a:spcPts val="1200"/>
              </a:spcAft>
              <a:buFont typeface="Arial"/>
              <a:buChar char="•"/>
            </a:pPr>
            <a:r>
              <a:rPr sz="2100" b="0">
                <a:solidFill>
                  <a:srgbClr val="3D424B"/>
                </a:solidFill>
                <a:latin typeface="Calibri"/>
              </a:rPr>
              <a:t>WorkBuddy, dengan otak glm-5.3-flash di dalamnya</a:t>
            </a:r>
          </a:p>
          <a:p>
            <a:pPr algn="l" marL="310896" indent="-310896">
              <a:lnSpc>
                <a:spcPct val="112000"/>
              </a:lnSpc>
              <a:spcAft>
                <a:spcPts val="1200"/>
              </a:spcAft>
              <a:buFont typeface="Arial"/>
              <a:buChar char="•"/>
            </a:pPr>
            <a:r>
              <a:rPr sz="2100" b="0">
                <a:solidFill>
                  <a:srgbClr val="3D424B"/>
                </a:solidFill>
                <a:latin typeface="Calibri"/>
              </a:rPr>
              <a:t>setup.sh memasang sisanya</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klik Approve di bagian Video, biayanya terlihat. Mulai dari satu klip pilot.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Pasang </a:t>
            </a:r>
            <a:r>
              <a:rPr sz="2400" b="1">
                <a:solidFill>
                  <a:srgbClr val="16181D"/>
                </a:solidFill>
                <a:latin typeface="Calibri"/>
              </a:rPr>
              <a:t>WorkBuddy</a:t>
            </a:r>
            <a:r>
              <a:rPr sz="2400" b="0">
                <a:solidFill>
                  <a:srgbClr val="16181D"/>
                </a:solidFill>
                <a:latin typeface="Calibri"/>
              </a:rPr>
              <a:t>, pilih model </a:t>
            </a:r>
            <a:r>
              <a:rPr sz="2400" b="1">
                <a:solidFill>
                  <a:srgbClr val="16181D"/>
                </a:solidFill>
                <a:latin typeface="Calibri"/>
              </a:rPr>
              <a:t>glm-5.3-flash</a:t>
            </a:r>
            <a:r>
              <a:rPr sz="2400" b="0">
                <a:solidFill>
                  <a:srgbClr val="16181D"/>
                </a:solidFill>
                <a:latin typeface="Calibri"/>
              </a:rPr>
              <a:t>.</a:t>
            </a:r>
          </a:p>
          <a:p>
            <a:pPr algn="l" marL="310896" indent="-310896">
              <a:lnSpc>
                <a:spcPct val="112000"/>
              </a:lnSpc>
              <a:spcAft>
                <a:spcPts val="1600"/>
              </a:spcAft>
              <a:buFont typeface="Arial"/>
              <a:buAutoNum type="arabicPeriod"/>
            </a:pPr>
            <a:r>
              <a:rPr sz="2400" b="0">
                <a:solidFill>
                  <a:srgbClr val="16181D"/>
                </a:solidFill>
                <a:latin typeface="Calibri"/>
              </a:rPr>
              <a:t>Kirim satu pesan dari </a:t>
            </a:r>
            <a:r>
              <a:rPr sz="2400" b="1">
                <a:solidFill>
                  <a:srgbClr val="16181D"/>
                </a:solidFill>
                <a:latin typeface="Calibri"/>
              </a:rPr>
              <a:t>Panduan WorkBuddy</a:t>
            </a:r>
            <a:r>
              <a:rPr sz="2400" b="0">
                <a:solidFill>
                  <a:srgbClr val="16181D"/>
                </a:solidFill>
                <a:latin typeface="Calibri"/>
              </a:rPr>
              <a:t>: AI-nya memasang semuanya.</a:t>
            </a:r>
          </a:p>
          <a:p>
            <a:pPr algn="l" marL="310896" indent="-310896">
              <a:lnSpc>
                <a:spcPct val="112000"/>
              </a:lnSpc>
              <a:spcAft>
                <a:spcPts val="1600"/>
              </a:spcAft>
              <a:buFont typeface="Arial"/>
              <a:buAutoNum type="arabicPeriod"/>
            </a:pPr>
            <a:r>
              <a:rPr sz="2400" b="0">
                <a:solidFill>
                  <a:srgbClr val="16181D"/>
                </a:solidFill>
                <a:latin typeface="Calibri"/>
              </a:rPr>
              <a:t>Tempel kunci kie.ai di </a:t>
            </a:r>
            <a:r>
              <a:rPr sz="2400" b="1">
                <a:solidFill>
                  <a:srgbClr val="16181D"/>
                </a:solidFill>
                <a:latin typeface="Calibri"/>
              </a:rPr>
              <a:t>halaman setup</a:t>
            </a:r>
            <a:r>
              <a:rPr sz="2400" b="0">
                <a:solidFill>
                  <a:srgbClr val="16181D"/>
                </a:solidFill>
                <a:latin typeface="Calibri"/>
              </a:rPr>
              <a:t>, klik Simpan.</a:t>
            </a:r>
          </a:p>
          <a:p>
            <a:pPr algn="l" marL="310896" indent="-310896">
              <a:lnSpc>
                <a:spcPct val="112000"/>
              </a:lnSpc>
              <a:spcAft>
                <a:spcPts val="1600"/>
              </a:spcAft>
              <a:buFont typeface="Arial"/>
              <a:buAutoNum type="arabicPeriod"/>
            </a:pPr>
            <a:r>
              <a:rPr sz="2400" b="0">
                <a:solidFill>
                  <a:srgbClr val="16181D"/>
                </a:solidFill>
                <a:latin typeface="Calibri"/>
              </a:rPr>
              <a:t>Pilih Expert </a:t>
            </a:r>
            <a:r>
              <a:rPr sz="2400" b="1">
                <a:solidFill>
                  <a:srgbClr val="16181D"/>
                </a:solidFill>
                <a:latin typeface="Calibri"/>
              </a:rPr>
              <a:t>AI Videographer</a:t>
            </a:r>
            <a:r>
              <a:rPr sz="2400" b="0">
                <a:solidFill>
                  <a:srgbClr val="16181D"/>
                </a:solidFill>
                <a:latin typeface="Calibri"/>
              </a:rPr>
              <a:t>, klik “Buat video baru”, jawab lima pertanyaannya.</a:t>
            </a:r>
          </a:p>
          <a:p>
            <a:pPr algn="l" marL="310896" indent="-310896">
              <a:lnSpc>
                <a:spcPct val="112000"/>
              </a:lnSpc>
              <a:spcAft>
                <a:spcPts val="1600"/>
              </a:spcAft>
              <a:buFont typeface="Arial"/>
              <a:buAutoNum type="arabicPeriod"/>
            </a:pPr>
            <a:r>
              <a:rPr sz="2400" b="0">
                <a:solidFill>
                  <a:srgbClr val="16181D"/>
                </a:solidFill>
                <a:latin typeface="Calibri"/>
              </a:rPr>
              <a:t>Klik di tiga gerbang: look, reel, satu klip pilot.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35</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